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3"/>
    <p:restoredTop sz="94610"/>
  </p:normalViewPr>
  <p:slideViewPr>
    <p:cSldViewPr snapToGrid="0" snapToObjects="1">
      <p:cViewPr varScale="1">
        <p:scale>
          <a:sx n="167" d="100"/>
          <a:sy n="167" d="100"/>
        </p:scale>
        <p:origin x="2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726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Hi everyone, I'm Chai. Before anything else: hands up if you have an idea for an app, a website, or a small tool that you wish existed. [pause] Keep your hand up if the reason it doesn't exist is that you can't code, or you couldn't find someone to code it for you. [pause] Look around. That's most of the room.
In the next hour that reason goes away. Not because you'll become an engineer in sixty minutes. Because you'll watch one get built from nothing in ten minutes, you'll leave knowing exactly how to do it yourself tonight, and you'll know where the landmines are.
NOTE: The strip at the bottom shows the seven parts of the talk; the current one is highlighted. The dashed QR is the anonymous question form; replace it once the form exists.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SAY: Two things about me matter for today.
One, I'm a real engineer, the old-fashioned kind. I got into this in Secondary 2 after watching the TV show Silicon Valley, and I taught myself to build websites from library books. Since then I've interned at GovTech and Taskade, I served two years as a cyber defence platoon commander, and right now at Reactor I build the platform the team uses to run programmes and keep track of alumni. Databases, tests, security rules. The unglamorous stuff.
Two, and this is why I'm standing here: for about the last year, most of the code I ship was not typed by me. It was written by AI coding agents that I direct, review, and correct. My daily tools are OpenAI's Codex and Claude Code. The project my team submitted to LifeHack two weeks ago went from an empty folder to a deployed product with 37 automated tests in under a week, and I typed a small fraction of it. [CHAI: adjust to whatever is honestly true for Woven.]
I've also done more than ninety hackathons, which mostly means I've built a lot of things fast and watched a lot of them break. So I'm not a tourist and I'm not selling anything. I'll show you what works and what blows up, because I've stepped on most of these landmines already.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Here's the whole hour, in order, and the strip at the bottom of every slide will show you where we are. First, what vibe coding actually is. Second, how to do it: tools, the loop, and prompts that work. Third, you see it: two prompts compared, then I build something live in front of you. Fourth, where it breaks. Fifth, when it starts to matter and what changes. Then homework, and thirty minutes that are yours: ask me anything, or ask me to build anything. If you'd rather not raise your hand, the QR code in the corner takes questions anonymously.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SAY: Vibe coding: describe what you want, AI drafts the software, you run it, react to it, and refine it. Programming in natural language. You don't write logic line by line.
The phrase is about eighteen months old. Andrej Karpathy, a co-founder of OpenAI, tweeted in February 2025 about "fully giving in to the vibes": say stuff, run stuff, accept all, and it mostly works. He was half joking. Nine months later Collins Dictionary made it word of the year.
It stuck because it named something real. For the whole history of software the bottleneck was: can you write the code? Now it's: can you describe what you want clearly, and can you tell whether you got it? Those are skills most of you already have from writing briefs, running events, and pitching.
FACT-CHECK: the quote is verbatim from the 2 Feb 2025 tweet; "say stuff, run stuff" is a paraphrase, spoken not shown as a quote.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If that still feels abstract, here's the analogy I like best. Vibe coding is hiring a personal shopper. You give a brief: a relaxed outfit for a hot afternoon. They pick a first combination. You give feedback: lighter colours, less formal. They handle sizing, brands, what's in stock. In software it's the same three beats: your brief, the AI's first draft, your feedback. The AI handles syntax and libraries. But your taste and the final call never leave the room. Hold on to that. It's the whole second half of this talk.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Why now, and not in 2023 when everyone already had ChatGPT? Three things. The models can hold a whole task in their head now. They got hands: a coding agent runs your code, sees the error, opens a browser to check the page, and fixes it. And cost: a prototype that used to be a two-week freelancer job is now an afternoon and a few dollars.
The number to remember: in Y Combinator's Winter 2025 batch, a quarter of the startups said about 95 percent of their code was written by AI. Funded companies. Over a year ago.
FACT-CHECK: Jared Friedman, YC, March 2025.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One idea to carry through the rest of the hour. Vibe coding isn't one thing. It's a dial. On the left you explore a working idea: describe, accept, refine by hand. Perfect for prototypes, personal tools, learning. On the right you deliver software you can stand behind: specify, build, review, verify, record. People call that vibe engineering, and it's required for anything with real users, money, or personal data.
Both ends are legitimate. The mistake, and every horror story shares it, is doing left-side work on a right-side problem. Today we live on the left. We'll come back to the right side near the end.
NOTE: Simon Willison's line if useful: if you reviewed and understood the code, it isn't vibe coding anymore.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Choose by how much code you want to see. Never want to see code: the top row, browser only, it builds and publishes. Want to see it and poke at it: the AI editors. Engineer: the agents, which live in your terminal or a desktop app, can touch everything, and will happily delete everything too. That's my daily stack. The logos will be different in six months. The skills won't.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SAY: Every tool, every project, the same five moves. Describe: who it's for and the outcome, and ask for the plan before the code, because fixing a sentence is cheaper than fixing a feature. Generate one small runnable slice. Inspect: run it and actually look at it, on your real phone. Refine one specific mismatch at a time, and paste the exact error. Checkpoint: save a version you can return to. Then round again.
And the rule of three, which will save you hours of your life: if the same bug survives three attempts, stop. Go back to your last checkpoint and describe the problem a different way. The model has dug itself into a hole and every extra attempt digs deeper. Reverting isn't failure. It's the pro move.
Now, the part most people get wrong: the describe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seconds.
SAY: Here's a prompt that looks perfectly reasonable. Build a landing page for a meditation app using React and Tailwind, make it look nice and modern, add some animations. Ask yourselves: who is it for? What does the button do? What does nice mean? What counts as done? None of that is wrong. It just hands every decision to the model. In a moment you'll see exactly what that produces.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seconds.
SAY: A quick cheat sheet before we fix that prompt. "Nice" gives the model nothing, because nice means something different to everyone. Name the feeling, the motion, the tone, the style, and add a reference the model knows. "Calm, cream and sage, generous space, gentle motion, like a Muji store" gets you a very specific page on the first try.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SAY: Same app, specified. Purpose: who it's for. Design: the words from the last slide. Behaviour: what the buttons actually do, a 60-second breathing timer with start, pause, reset, and a completion message. Constraints: the stack, mobile, keyboard, reduced motion, and what to leave out. And verify: how you'll check it worked.
Brief it like a very fast, very literal intern who has read the whole internet but has never met you. Five parts. The last one is the part everybody skips, and it's the part that saves you. If you can't write the verify line, you're not ready to prompt yet.
NOTE: the full prompt is in the workshop repo README (vibe-coding-workshop). This slide is the condensed teaching version.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seconds.
SAY: Two kinds of follow-up. On the left, changing how it feels: one headline, serif heading, slower motion, and crucially, say what to keep. On the right, fixing what broke, where people waste hours. Paste the exact error. Ask for three possible causes before you ask for a fix. Ask it to add a test that would have caught the bug. And when it's stuck, revert and try a different approach. One dimension at a time. Say what you see versus what you expected. "It doesn't work" gets you nowhere.
Right. Enough theory. Let's see what those two prompts actually produced.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SAY: Here's what those two prompts produced. Same tool, same model, fresh projects.
A, the vague prompt: honestly, it looks great. That's the trap. Click the buttons and nothing happens; they're placeholders. And look at the social proof: "700k+ people breathing a little easier". It made that up. Nobody asked for a number, so the model invented one. That is what "confidently wrong" looks like, and we'll come back to it.
B, the specific prompt: less flashy, and every requested thing works. Both buttons open a sixty-second breathing timer with start, pause, reset, and a completion message. Mobile stacks correctly. Keyboard works.
Which one would you rather show a real user? And which one could you actually check?
LIVE: both are deployed. Open them if the room wants to click around: https://vibe-coding-workshop-bad.vercel.app and https://vibe-coding-workshop-good.vercel.app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The project is fixed; the room supplies the details.
OPENER: Now the same five moves, live, on something everyone in this room has organised or been to: a dinner. Two things from you: what's the dinner for, and what's one question the RSVP form should ask that I wouldn't think of?
RUN SHEET
0:00-1:00 Take the two details. Repeat them back.
1:00-2:30 Write the prompt live in the five parts from slide 12: purpose, design, behaviour, constraints, verify. Type it on the projector, narrate each line. Do not paste a pre-written prompt.
2:30-4:00 Send it. Narrate what it's doing. "This is the moment where you'd normally be waiting a week for a developer."
4:00-6:00 Open the result, click through. Something will be off. Name it precisely out loud, then type exactly that. That is the loop, live.
6:00-7:30 Publish. QR on screen. "Everyone RSVP from your phone right now."
7:30-9:00 Open the admin view, show entries arriving with the audience's names. Let it land.
9:00-10:00 Stop on time, even mid-idea. Keep the project open for Q&amp;A.
BACKUP: tonight's screen recording plus tonight's published URL if Wi-Fi or the tool dies. Check credits: live build 6-10 messages, Q&amp;A build requests another 10-20.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Let's be honest about what just happened. I never touched code. I described, I looked, I checked: the row appeared, it worked on a real phone, the confirmation said the right thing, the count was right. Run the checks. Don't accept the sentence "done, this works".
I also skipped a lot on purpose. No login, nothing stops a bot from spamming the form, and I haven't thought about where your email addresses are stored or who can see them. For today that's fine. For a dinner for forty friends, still fine. For four hundred sign-ups collecting personal data, not fine. Remember the dial. Which brings us to where this breaks.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SAY: Five traps. I've hit three of them personally.
One. It is confidently wrong. You saw it invent "700k people". It will also tell you "done, the form saves correctly" and the form does not. Never accept the sentence. Check the screen.
Two. Secrets. Never paste a password, an API key, or a customer list into a prompt. And builder tools create a database for you, and a scary number of vibe-coded apps ship with that database readable by anyone on the internet.
Three. It can destroy things. In July 2025 a well-known SaaS investor was building on Replit, and the agent deleted his production database during a code freeze, after explicit instructions not to change anything, then admitted it. Replit's CEO apologised publicly. These tools have hands, and hands can break things.
Four. The 80 percent cliff. The first 80 percent is an afternoon now. The last 20 percent, edge cases, payments, permissions, is where it gets hard, and if nobody understands the code, that's where the project dies.
Five. You still own it. In March 2025 a founder posted that his SaaS was entirely vibe-coded. Within days people bypassed his subscriptions and ran up his API bill, and he couldn't fix it because he didn't know how it worked. He shut it down. The AI wrote the code. He owned the consequences.
FACT-CHECK: Jason Lemkin / Replit, July 2025. @leojr94_ on X, March 2025.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seconds.
SAY: The traps had stories. Here's the checklist version, five review questions you can ask of any output. Does that API, package, or number actually exist? Do the code, the explanation, and the requirements agree? Does it repeat work or leave behaviour unclear? Who could the wording exclude? And does a fix for one case quietly break three others? In code the two you meet every day are invented facts and overgeneralisation. Run the questions. Don't accept a generated claim about them.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None of these traps need you to become an engineer. They need six habits. Checkpoint after every win. Make it write tests and make it run them. Make it show you a screenshot rather than a promise. Ask this exact question before you publish: is anything here exposed to the internet that shouldn't be, check the database rules. Keep your prototype away from real customer data. And when it starts touching real users, money, or personal data, get one engineer to spend one hour on login, payments, and data access. Cheapest insurance you'll ever buy.
The human must be in the loop. Prompting is the new syntax. Checking is the new job.
Which is exactly the right side of the dial. Let's go there.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Remember the dial from Act 2. Here's the right side, spelled out. Vibe coding explores a working idea: the AI generates a draft, you prompt and refine, it's good when it looks right, and the context lives in the chat. Vibe engineering delivers software you can stand behind: the AI works within a defined task like a team member, the workflow is specify, build, review, verify, record, quality is shown by tests and previews, and the decisions stay with the project in an instructions file, notes, and git. Same loop. More reading, more checking, and the decisions written down. This is where I work all day.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seconds. Skip if running long.
SAY: What that looks like for one feature. A human specifies the problem and the acceptance checks. The agent implements, code and tests, in a small diff. A human reviews the changes and the behaviour. Evidence: tests and a preview, and the agent never grades its own work, something else checks. Then record: the code, the reasoning, and the operating notes, so the next iteration starts with context. At my desk that's plan first, small diffs, tests as the contract, an instructions file with the house rules, and a separate check before anything merges. It's the same loop you saw in the live build, with more reading.
CREDIT: some slides adapted from Damian Gordon, "Introduction to Vibe Coding and Vibe Engineering" (SlideShare), and from the vibe-coding-workshop repo (Still meditation page, two prompts).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We don't have build time today, so here's your homework, tonight, while this is fresh. Thirty minutes. One ugly thing that works. Three levels, pick the one that scares you slightly. Level 1 needs nothing but the chatbot you already have. Level 2 is a builder: a landing page with a real waitlist, or run both "Still" prompts yourself and compare. Level 3 is for the coders. The five-part prompt and the loop are on the worksheet at that QR.
Then, for the founders: put it in front of ten real people this week. A working ugly prototype beats a beautiful deck every time. Keep every prompt and every plan the tool wrote. That pile is your spec, and it's what you hand to an engineer when the product starts holding other people's data or money.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One idea to take home. The bottleneck used to be writing code. Now it's knowing what you want and checking that you got it. You've been practising those two skills your whole life.
And be clear about what the AI still doesn't do. It doesn't decide what's worth building. It doesn't know your users. It doesn't have taste. And it doesn't take responsibility when things go wrong. Those four are your job, and they're the whole job.
So: ship something ugly this week, show it to someone, and fix what they complain about.
That's the teaching half. The next thirty minutes are yours. Ask me anything. Or ask me to build anything, right here on the project we just made. Who's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minutes. This half is the event.
SETUP: Duplicate the demo project before Q&amp;A so build requests can't wreck the version the room RSVP'd to. Two tabs on the projector: the builder and the published page. Organiser or volunteer reads written questions from the form.
TWO LANES, INTERLEAVED
Answer lane: conceptual questions, 90 seconds or less.
Build lane: anything shaped like "can it do X?" Say "let's find out", write the five-part follow-up out loud, send it, take the next question while it builds, come back to the result in 2-3 minutes.
ACCEPT GLADLY: plus-one toggle · live RSVP count · export to CSV · translate to Vietnamese · "which session" dropdown · restyle to a brand the room names · simple admin password (call out it's a step right on the dial).
DECLINE OUT LOUD, ONE SENTENCE EACH:
Payments: real money is right-side work; Stripe hosted checkout, reviewed before a single real payment.
Full login: doable in 15 min and exactly where trap two lives; show first step only if time.
Confirmation emails: needs an email service and an API key; never paste keys in front of an audience.
Scraping another company's site: legally and ethically not my call on a projector.
SEEDED QUESTIONS (give to the organiser): 1 Is this going to replace developers? 2 I'm not technical, what's the first thing to learn? 3 How much does it cost per month? 4 What's the worst thing that has happened to you doing this? 5 Show us the serious version you use at work.
FILLERS: The engineer lane (6-8 min): same project in Codex/Claude Code, plan, edit one line, build, run tests, commit. Break it live (3 min): empty form, 20 duplicates, then the database-rules question. Open the two "Still" pages and let the room click the buttons (2 min). Walk the dial to production using slide 20 (3 min).
TIMING: at 25 minutes, "two more questions". Close: "Ship something ugly this week. Everything from today is at that QR, and I actually reply on LinkedIn and GitHub."
Full prepared answers: SCRIPT.md, "Q&amp;A prep" section.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4"/>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C8F236"/>
                </a:solidFill>
                <a:latin typeface="Courier New" pitchFamily="34" charset="0"/>
                <a:ea typeface="Courier New" pitchFamily="34" charset="-122"/>
                <a:cs typeface="Courier New" pitchFamily="34" charset="-120"/>
              </a:rPr>
              <a:t>REACTOR SCHOOL · 13 SEPTEMBER 2026</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9CA3AF"/>
                </a:solidFill>
                <a:latin typeface="Courier New" pitchFamily="34" charset="0"/>
                <a:ea typeface="Courier New" pitchFamily="34" charset="-122"/>
                <a:cs typeface="Courier New" pitchFamily="34" charset="-120"/>
              </a:rPr>
              <a:t>01 / 24</a:t>
            </a:r>
            <a:endParaRPr lang="en-US" sz="900" dirty="0"/>
          </a:p>
        </p:txBody>
      </p:sp>
      <p:sp>
        <p:nvSpPr>
          <p:cNvPr id="4" name="Text 2"/>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b="1" dirty="0">
                <a:solidFill>
                  <a:srgbClr val="C8F236"/>
                </a:solidFill>
                <a:latin typeface="Courier New" pitchFamily="34" charset="0"/>
                <a:ea typeface="Courier New" pitchFamily="34" charset="-122"/>
                <a:cs typeface="Courier New" pitchFamily="34" charset="-120"/>
              </a:rPr>
              <a:t>1 Why</a:t>
            </a:r>
            <a:endParaRPr lang="en-US" sz="750" dirty="0"/>
          </a:p>
        </p:txBody>
      </p:sp>
      <p:sp>
        <p:nvSpPr>
          <p:cNvPr id="5" name="Shape 3"/>
          <p:cNvSpPr/>
          <p:nvPr/>
        </p:nvSpPr>
        <p:spPr>
          <a:xfrm>
            <a:off x="1790395"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4 See it</a:t>
            </a:r>
            <a:endParaRPr lang="en-US" sz="750" dirty="0"/>
          </a:p>
        </p:txBody>
      </p:sp>
      <p:sp>
        <p:nvSpPr>
          <p:cNvPr id="9" name="Text 7"/>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5 Where it breaks</a:t>
            </a:r>
            <a:endParaRPr lang="en-US" sz="750" dirty="0"/>
          </a:p>
        </p:txBody>
      </p:sp>
      <p:sp>
        <p:nvSpPr>
          <p:cNvPr id="10" name="Text 8"/>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6 When it matters</a:t>
            </a:r>
            <a:endParaRPr lang="en-US" sz="750" dirty="0"/>
          </a:p>
        </p:txBody>
      </p:sp>
      <p:sp>
        <p:nvSpPr>
          <p:cNvPr id="11" name="Text 9"/>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7 Close</a:t>
            </a:r>
            <a:endParaRPr lang="en-US" sz="750" dirty="0"/>
          </a:p>
        </p:txBody>
      </p:sp>
      <p:sp>
        <p:nvSpPr>
          <p:cNvPr id="12" name="Shape 10"/>
          <p:cNvSpPr/>
          <p:nvPr/>
        </p:nvSpPr>
        <p:spPr>
          <a:xfrm>
            <a:off x="8028432" y="4389120"/>
            <a:ext cx="566928" cy="566928"/>
          </a:xfrm>
          <a:prstGeom prst="roundRect">
            <a:avLst>
              <a:gd name="adj" fmla="val 6452"/>
            </a:avLst>
          </a:prstGeom>
          <a:solidFill>
            <a:srgbClr val="FFFFFF"/>
          </a:solidFill>
          <a:ln w="9525">
            <a:solidFill>
              <a:srgbClr val="FFFFFF"/>
            </a:solidFill>
            <a:prstDash val="solid"/>
          </a:ln>
        </p:spPr>
        <p:txBody>
          <a:bodyPr/>
          <a:lstStyle/>
          <a:p>
            <a:endParaRPr lang="en-US"/>
          </a:p>
        </p:txBody>
      </p:sp>
      <p:pic>
        <p:nvPicPr>
          <p:cNvPr id="13"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4" name="Text 11"/>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9CA3AF"/>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9CA3AF"/>
                </a:solidFill>
                <a:latin typeface="Calibri" pitchFamily="34" charset="0"/>
                <a:ea typeface="Calibri" pitchFamily="34" charset="-122"/>
                <a:cs typeface="Calibri" pitchFamily="34" charset="-120"/>
              </a:rPr>
              <a:t>Scan, ask anonymously</a:t>
            </a:r>
            <a:endParaRPr lang="en-US" sz="800" dirty="0"/>
          </a:p>
        </p:txBody>
      </p:sp>
      <p:sp>
        <p:nvSpPr>
          <p:cNvPr id="15" name="Text 12"/>
          <p:cNvSpPr txBox="1"/>
          <p:nvPr/>
        </p:nvSpPr>
        <p:spPr>
          <a:xfrm>
            <a:off x="548640" y="914400"/>
            <a:ext cx="5120640" cy="1920240"/>
          </a:xfrm>
          <a:prstGeom prst="rect">
            <a:avLst/>
          </a:prstGeom>
          <a:noFill/>
          <a:ln/>
        </p:spPr>
        <p:txBody>
          <a:bodyPr wrap="square" lIns="0" tIns="0" rIns="0" bIns="0" rtlCol="0" anchor="t"/>
          <a:lstStyle/>
          <a:p>
            <a:pPr marL="0" indent="0">
              <a:lnSpc>
                <a:spcPct val="95000"/>
              </a:lnSpc>
              <a:buNone/>
            </a:pPr>
            <a:r>
              <a:rPr lang="en-US" sz="5600" b="1" dirty="0">
                <a:solidFill>
                  <a:srgbClr val="FFFFFF"/>
                </a:solidFill>
                <a:latin typeface="Cambria" pitchFamily="34" charset="0"/>
                <a:ea typeface="Cambria" pitchFamily="34" charset="-122"/>
                <a:cs typeface="Cambria" pitchFamily="34" charset="-120"/>
              </a:rPr>
              <a:t>Intro to</a:t>
            </a:r>
            <a:endParaRPr lang="en-US" sz="5600" dirty="0"/>
          </a:p>
          <a:p>
            <a:pPr marL="0" indent="0">
              <a:lnSpc>
                <a:spcPct val="95000"/>
              </a:lnSpc>
              <a:buNone/>
            </a:pPr>
            <a:r>
              <a:rPr lang="en-US" sz="5600" b="1" dirty="0">
                <a:solidFill>
                  <a:srgbClr val="FFFFFF"/>
                </a:solidFill>
                <a:latin typeface="Cambria" pitchFamily="34" charset="0"/>
                <a:ea typeface="Cambria" pitchFamily="34" charset="-122"/>
                <a:cs typeface="Cambria" pitchFamily="34" charset="-120"/>
              </a:rPr>
              <a:t>Vibe Coding</a:t>
            </a:r>
            <a:endParaRPr lang="en-US" sz="5600" dirty="0"/>
          </a:p>
        </p:txBody>
      </p:sp>
      <p:sp>
        <p:nvSpPr>
          <p:cNvPr id="16" name="Text 13"/>
          <p:cNvSpPr txBox="1"/>
          <p:nvPr/>
        </p:nvSpPr>
        <p:spPr>
          <a:xfrm>
            <a:off x="548640" y="2880360"/>
            <a:ext cx="4937760" cy="457200"/>
          </a:xfrm>
          <a:prstGeom prst="rect">
            <a:avLst/>
          </a:prstGeom>
          <a:noFill/>
          <a:ln/>
        </p:spPr>
        <p:txBody>
          <a:bodyPr wrap="square" lIns="0" tIns="0" rIns="0" bIns="0" rtlCol="0" anchor="t"/>
          <a:lstStyle/>
          <a:p>
            <a:pPr marL="0" indent="0">
              <a:buNone/>
            </a:pPr>
            <a:r>
              <a:rPr lang="en-US" sz="2000" i="1" dirty="0">
                <a:solidFill>
                  <a:srgbClr val="C8F236"/>
                </a:solidFill>
                <a:latin typeface="Cambria" pitchFamily="34" charset="0"/>
                <a:ea typeface="Cambria" pitchFamily="34" charset="-122"/>
                <a:cs typeface="Cambria" pitchFamily="34" charset="-120"/>
              </a:rPr>
              <a:t>Describe it. Run it. Check it. Own it.</a:t>
            </a:r>
            <a:endParaRPr lang="en-US" sz="2000" dirty="0"/>
          </a:p>
        </p:txBody>
      </p:sp>
      <p:sp>
        <p:nvSpPr>
          <p:cNvPr id="17" name="Text 14"/>
          <p:cNvSpPr txBox="1"/>
          <p:nvPr/>
        </p:nvSpPr>
        <p:spPr>
          <a:xfrm>
            <a:off x="548640" y="3931920"/>
            <a:ext cx="5943600" cy="274320"/>
          </a:xfrm>
          <a:prstGeom prst="rect">
            <a:avLst/>
          </a:prstGeom>
          <a:noFill/>
          <a:ln/>
        </p:spPr>
        <p:txBody>
          <a:bodyPr wrap="square" lIns="0" tIns="0" rIns="0" bIns="0" rtlCol="0" anchor="t"/>
          <a:lstStyle/>
          <a:p>
            <a:pPr marL="0" indent="0">
              <a:buNone/>
            </a:pPr>
            <a:r>
              <a:rPr lang="en-US" sz="1200" dirty="0">
                <a:solidFill>
                  <a:srgbClr val="9CA3AF"/>
                </a:solidFill>
                <a:latin typeface="Calibri" pitchFamily="34" charset="0"/>
                <a:ea typeface="Calibri" pitchFamily="34" charset="-122"/>
                <a:cs typeface="Calibri" pitchFamily="34" charset="-120"/>
              </a:rPr>
              <a:t>Chai Pin Zheng · Product Engineer, Reactor School · NUS Computer Science</a:t>
            </a:r>
            <a:endParaRPr lang="en-US" sz="1200" dirty="0"/>
          </a:p>
        </p:txBody>
      </p:sp>
      <p:sp>
        <p:nvSpPr>
          <p:cNvPr id="18" name="Shape 15"/>
          <p:cNvSpPr/>
          <p:nvPr/>
        </p:nvSpPr>
        <p:spPr>
          <a:xfrm>
            <a:off x="5669280" y="1097280"/>
            <a:ext cx="2971800" cy="2286000"/>
          </a:xfrm>
          <a:prstGeom prst="roundRect">
            <a:avLst>
              <a:gd name="adj" fmla="val 4800"/>
            </a:avLst>
          </a:prstGeom>
          <a:solidFill>
            <a:srgbClr val="1B1F26"/>
          </a:solidFill>
          <a:ln w="12700">
            <a:solidFill>
              <a:srgbClr val="1B1F26"/>
            </a:solidFill>
            <a:prstDash val="solid"/>
          </a:ln>
        </p:spPr>
        <p:txBody>
          <a:bodyPr/>
          <a:lstStyle/>
          <a:p>
            <a:endParaRPr lang="en-US"/>
          </a:p>
        </p:txBody>
      </p:sp>
      <p:sp>
        <p:nvSpPr>
          <p:cNvPr id="19" name="Shape 16"/>
          <p:cNvSpPr/>
          <p:nvPr/>
        </p:nvSpPr>
        <p:spPr>
          <a:xfrm>
            <a:off x="5897880" y="1325880"/>
            <a:ext cx="109728" cy="109728"/>
          </a:xfrm>
          <a:prstGeom prst="ellipse">
            <a:avLst/>
          </a:prstGeom>
          <a:solidFill>
            <a:srgbClr val="E24B4A"/>
          </a:solidFill>
          <a:ln w="12700">
            <a:solidFill>
              <a:srgbClr val="E24B4A"/>
            </a:solidFill>
            <a:prstDash val="solid"/>
          </a:ln>
        </p:spPr>
        <p:txBody>
          <a:bodyPr/>
          <a:lstStyle/>
          <a:p>
            <a:endParaRPr lang="en-US"/>
          </a:p>
        </p:txBody>
      </p:sp>
      <p:sp>
        <p:nvSpPr>
          <p:cNvPr id="20" name="Shape 17"/>
          <p:cNvSpPr/>
          <p:nvPr/>
        </p:nvSpPr>
        <p:spPr>
          <a:xfrm>
            <a:off x="6080760" y="1325880"/>
            <a:ext cx="109728" cy="109728"/>
          </a:xfrm>
          <a:prstGeom prst="ellipse">
            <a:avLst/>
          </a:prstGeom>
          <a:solidFill>
            <a:srgbClr val="F2C14E"/>
          </a:solidFill>
          <a:ln w="12700">
            <a:solidFill>
              <a:srgbClr val="F2C14E"/>
            </a:solidFill>
            <a:prstDash val="solid"/>
          </a:ln>
        </p:spPr>
        <p:txBody>
          <a:bodyPr/>
          <a:lstStyle/>
          <a:p>
            <a:endParaRPr lang="en-US"/>
          </a:p>
        </p:txBody>
      </p:sp>
      <p:sp>
        <p:nvSpPr>
          <p:cNvPr id="21" name="Shape 18"/>
          <p:cNvSpPr/>
          <p:nvPr/>
        </p:nvSpPr>
        <p:spPr>
          <a:xfrm>
            <a:off x="6263640" y="1325880"/>
            <a:ext cx="109728" cy="109728"/>
          </a:xfrm>
          <a:prstGeom prst="ellipse">
            <a:avLst/>
          </a:prstGeom>
          <a:solidFill>
            <a:srgbClr val="C8F236"/>
          </a:solidFill>
          <a:ln w="12700">
            <a:solidFill>
              <a:srgbClr val="C8F236"/>
            </a:solidFill>
            <a:prstDash val="solid"/>
          </a:ln>
        </p:spPr>
        <p:txBody>
          <a:bodyPr/>
          <a:lstStyle/>
          <a:p>
            <a:endParaRPr lang="en-US"/>
          </a:p>
        </p:txBody>
      </p:sp>
      <p:sp>
        <p:nvSpPr>
          <p:cNvPr id="22" name="Text 19"/>
          <p:cNvSpPr txBox="1"/>
          <p:nvPr/>
        </p:nvSpPr>
        <p:spPr>
          <a:xfrm>
            <a:off x="5897880" y="1645920"/>
            <a:ext cx="2514600" cy="1554480"/>
          </a:xfrm>
          <a:prstGeom prst="rect">
            <a:avLst/>
          </a:prstGeom>
          <a:noFill/>
          <a:ln/>
        </p:spPr>
        <p:txBody>
          <a:bodyPr wrap="square" lIns="0" tIns="0" rIns="0" bIns="0" rtlCol="0" anchor="t"/>
          <a:lstStyle/>
          <a:p>
            <a:pPr marL="0" indent="0">
              <a:lnSpc>
                <a:spcPct val="115000"/>
              </a:lnSpc>
              <a:buNone/>
            </a:pPr>
            <a:r>
              <a:rPr lang="en-US" sz="1100" dirty="0">
                <a:solidFill>
                  <a:srgbClr val="C8F236"/>
                </a:solidFill>
                <a:latin typeface="Courier New" pitchFamily="34" charset="0"/>
                <a:ea typeface="Courier New" pitchFamily="34" charset="-122"/>
                <a:cs typeface="Courier New" pitchFamily="34" charset="-120"/>
              </a:rPr>
              <a:t>&gt; </a:t>
            </a:r>
            <a:r>
              <a:rPr lang="en-US" sz="1100" dirty="0">
                <a:solidFill>
                  <a:srgbClr val="FFFFFF"/>
                </a:solidFill>
                <a:latin typeface="Courier New" pitchFamily="34" charset="0"/>
                <a:ea typeface="Courier New" pitchFamily="34" charset="-122"/>
                <a:cs typeface="Courier New" pitchFamily="34" charset="-120"/>
              </a:rPr>
              <a:t>Build me an RSVP page for a founder dinner. 40 guests, mobile-first, no login. Done when I can RSVP from my phone.</a:t>
            </a:r>
            <a:endParaRPr lang="en-US" sz="1100" dirty="0"/>
          </a:p>
        </p:txBody>
      </p:sp>
      <p:sp>
        <p:nvSpPr>
          <p:cNvPr id="23" name="Text 20"/>
          <p:cNvSpPr txBox="1"/>
          <p:nvPr/>
        </p:nvSpPr>
        <p:spPr>
          <a:xfrm>
            <a:off x="5897880" y="2971800"/>
            <a:ext cx="2743200" cy="274320"/>
          </a:xfrm>
          <a:prstGeom prst="rect">
            <a:avLst/>
          </a:prstGeom>
          <a:noFill/>
          <a:ln/>
        </p:spPr>
        <p:txBody>
          <a:bodyPr wrap="square" lIns="0" tIns="0" rIns="0" bIns="0" rtlCol="0" anchor="t"/>
          <a:lstStyle/>
          <a:p>
            <a:pPr marL="0" indent="0">
              <a:buNone/>
            </a:pPr>
            <a:r>
              <a:rPr lang="en-US" sz="1100" dirty="0">
                <a:solidFill>
                  <a:srgbClr val="C8F236"/>
                </a:solidFill>
                <a:latin typeface="Courier New" pitchFamily="34" charset="0"/>
                <a:ea typeface="Courier New" pitchFamily="34" charset="-122"/>
                <a:cs typeface="Courier New" pitchFamily="34" charset="-120"/>
              </a:rPr>
              <a:t>building…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1 · WHY WE ARE HERE</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02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Who I am</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1 Why</a:t>
            </a:r>
            <a:endParaRPr lang="en-US" sz="750" dirty="0"/>
          </a:p>
        </p:txBody>
      </p:sp>
      <p:sp>
        <p:nvSpPr>
          <p:cNvPr id="6" name="Shape 4"/>
          <p:cNvSpPr/>
          <p:nvPr/>
        </p:nvSpPr>
        <p:spPr>
          <a:xfrm>
            <a:off x="1790395"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7" name="Text 5"/>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8" name="Text 6"/>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pic>
        <p:nvPicPr>
          <p:cNvPr id="16" name="Image 1" descr="/Users/chaipinzheng/Dev/chai-second-brain/.claude/worktrees/vibe-coding-presentation-script-23726b/05-knowledge/people/assets/chai-pin-zheng-profile-photo-2026-09-03.png"/>
          <p:cNvPicPr>
            <a:picLocks noChangeAspect="1"/>
          </p:cNvPicPr>
          <p:nvPr/>
        </p:nvPicPr>
        <p:blipFill>
          <a:blip r:embed="rId4"/>
          <a:stretch>
            <a:fillRect/>
          </a:stretch>
        </p:blipFill>
        <p:spPr>
          <a:xfrm>
            <a:off x="548640" y="1188720"/>
            <a:ext cx="1417320" cy="1417320"/>
          </a:xfrm>
          <a:prstGeom prst="ellipse">
            <a:avLst/>
          </a:prstGeom>
        </p:spPr>
      </p:pic>
      <p:sp>
        <p:nvSpPr>
          <p:cNvPr id="17" name="Text 13"/>
          <p:cNvSpPr txBox="1"/>
          <p:nvPr/>
        </p:nvSpPr>
        <p:spPr>
          <a:xfrm>
            <a:off x="2240280" y="1143000"/>
            <a:ext cx="6400800" cy="411480"/>
          </a:xfrm>
          <a:prstGeom prst="rect">
            <a:avLst/>
          </a:prstGeom>
          <a:noFill/>
          <a:ln/>
        </p:spPr>
        <p:txBody>
          <a:bodyPr wrap="square" lIns="0" tIns="0" rIns="0" bIns="0" rtlCol="0" anchor="t"/>
          <a:lstStyle/>
          <a:p>
            <a:pPr marL="0" indent="0">
              <a:buNone/>
            </a:pPr>
            <a:r>
              <a:rPr lang="en-US" sz="2200" b="1" dirty="0">
                <a:solidFill>
                  <a:srgbClr val="111318"/>
                </a:solidFill>
                <a:latin typeface="Cambria" pitchFamily="34" charset="0"/>
                <a:ea typeface="Cambria" pitchFamily="34" charset="-122"/>
                <a:cs typeface="Cambria" pitchFamily="34" charset="-120"/>
              </a:rPr>
              <a:t>Chai Pin Zheng</a:t>
            </a:r>
            <a:endParaRPr lang="en-US" sz="2200" dirty="0"/>
          </a:p>
        </p:txBody>
      </p:sp>
      <p:sp>
        <p:nvSpPr>
          <p:cNvPr id="18" name="Text 14"/>
          <p:cNvSpPr txBox="1"/>
          <p:nvPr/>
        </p:nvSpPr>
        <p:spPr>
          <a:xfrm>
            <a:off x="2240280" y="1600200"/>
            <a:ext cx="6400800" cy="1005840"/>
          </a:xfrm>
          <a:prstGeom prst="rect">
            <a:avLst/>
          </a:prstGeom>
          <a:noFill/>
          <a:ln/>
        </p:spPr>
        <p:txBody>
          <a:bodyPr wrap="square" lIns="0" tIns="0" rIns="0" bIns="0" rtlCol="0" anchor="t"/>
          <a:lstStyle/>
          <a:p>
            <a:pPr marL="0" indent="0">
              <a:spcAft>
                <a:spcPts val="600"/>
              </a:spcAft>
              <a:buNone/>
            </a:pPr>
            <a:r>
              <a:rPr lang="en-US" sz="1250" dirty="0">
                <a:solidFill>
                  <a:srgbClr val="111318"/>
                </a:solidFill>
                <a:latin typeface="Calibri" pitchFamily="34" charset="0"/>
                <a:ea typeface="Calibri" pitchFamily="34" charset="-122"/>
                <a:cs typeface="Calibri" pitchFamily="34" charset="-120"/>
              </a:rPr>
              <a:t>Year 2 Computer Science, NUS. In Ho Chi Minh City with NUS Overseas Colleges.</a:t>
            </a:r>
            <a:endParaRPr lang="en-US" sz="1250" dirty="0"/>
          </a:p>
          <a:p>
            <a:pPr marL="0" indent="0">
              <a:spcAft>
                <a:spcPts val="600"/>
              </a:spcAft>
              <a:buNone/>
            </a:pPr>
            <a:r>
              <a:rPr lang="en-US" sz="1250" dirty="0">
                <a:solidFill>
                  <a:srgbClr val="111318"/>
                </a:solidFill>
                <a:latin typeface="Calibri" pitchFamily="34" charset="0"/>
                <a:ea typeface="Calibri" pitchFamily="34" charset="-122"/>
                <a:cs typeface="Calibri" pitchFamily="34" charset="-120"/>
              </a:rPr>
              <a:t>Product Engineer, Reactor School: I build the platform the team uses to run programmes and track alumni.</a:t>
            </a:r>
            <a:endParaRPr lang="en-US" sz="1250" dirty="0"/>
          </a:p>
        </p:txBody>
      </p:sp>
      <p:sp>
        <p:nvSpPr>
          <p:cNvPr id="19" name="Shape 15"/>
          <p:cNvSpPr/>
          <p:nvPr/>
        </p:nvSpPr>
        <p:spPr>
          <a:xfrm>
            <a:off x="548640" y="2788920"/>
            <a:ext cx="2560320" cy="868680"/>
          </a:xfrm>
          <a:prstGeom prst="roundRect">
            <a:avLst>
              <a:gd name="adj" fmla="val 8421"/>
            </a:avLst>
          </a:prstGeom>
          <a:solidFill>
            <a:srgbClr val="F3F4F6"/>
          </a:solidFill>
          <a:ln w="12700">
            <a:solidFill>
              <a:srgbClr val="F3F4F6"/>
            </a:solidFill>
            <a:prstDash val="solid"/>
          </a:ln>
        </p:spPr>
        <p:txBody>
          <a:bodyPr/>
          <a:lstStyle/>
          <a:p>
            <a:endParaRPr lang="en-US"/>
          </a:p>
        </p:txBody>
      </p:sp>
      <p:sp>
        <p:nvSpPr>
          <p:cNvPr id="20" name="Text 16"/>
          <p:cNvSpPr txBox="1"/>
          <p:nvPr/>
        </p:nvSpPr>
        <p:spPr>
          <a:xfrm>
            <a:off x="731520" y="2834640"/>
            <a:ext cx="1097280" cy="7772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90+</a:t>
            </a:r>
            <a:endParaRPr lang="en-US" sz="3000" dirty="0"/>
          </a:p>
        </p:txBody>
      </p:sp>
      <p:sp>
        <p:nvSpPr>
          <p:cNvPr id="21" name="Text 17"/>
          <p:cNvSpPr txBox="1"/>
          <p:nvPr/>
        </p:nvSpPr>
        <p:spPr>
          <a:xfrm>
            <a:off x="1783080" y="2834640"/>
            <a:ext cx="1234440" cy="77724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hackathons</a:t>
            </a:r>
            <a:endParaRPr lang="en-US" sz="1050" dirty="0"/>
          </a:p>
        </p:txBody>
      </p:sp>
      <p:sp>
        <p:nvSpPr>
          <p:cNvPr id="22" name="Shape 18"/>
          <p:cNvSpPr/>
          <p:nvPr/>
        </p:nvSpPr>
        <p:spPr>
          <a:xfrm>
            <a:off x="3291840" y="2788920"/>
            <a:ext cx="2560320" cy="868680"/>
          </a:xfrm>
          <a:prstGeom prst="roundRect">
            <a:avLst>
              <a:gd name="adj" fmla="val 8421"/>
            </a:avLst>
          </a:prstGeom>
          <a:solidFill>
            <a:srgbClr val="F3F4F6"/>
          </a:solidFill>
          <a:ln w="12700">
            <a:solidFill>
              <a:srgbClr val="F3F4F6"/>
            </a:solidFill>
            <a:prstDash val="solid"/>
          </a:ln>
        </p:spPr>
        <p:txBody>
          <a:bodyPr/>
          <a:lstStyle/>
          <a:p>
            <a:endParaRPr lang="en-US"/>
          </a:p>
        </p:txBody>
      </p:sp>
      <p:sp>
        <p:nvSpPr>
          <p:cNvPr id="23" name="Text 19"/>
          <p:cNvSpPr txBox="1"/>
          <p:nvPr/>
        </p:nvSpPr>
        <p:spPr>
          <a:xfrm>
            <a:off x="3474720" y="2834640"/>
            <a:ext cx="1097280" cy="7772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6</a:t>
            </a:r>
            <a:endParaRPr lang="en-US" sz="3000" dirty="0"/>
          </a:p>
        </p:txBody>
      </p:sp>
      <p:sp>
        <p:nvSpPr>
          <p:cNvPr id="24" name="Text 20"/>
          <p:cNvSpPr txBox="1"/>
          <p:nvPr/>
        </p:nvSpPr>
        <p:spPr>
          <a:xfrm>
            <a:off x="4526280" y="2834640"/>
            <a:ext cx="1234440" cy="77724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first-place finishes</a:t>
            </a:r>
            <a:endParaRPr lang="en-US" sz="1050" dirty="0"/>
          </a:p>
        </p:txBody>
      </p:sp>
      <p:sp>
        <p:nvSpPr>
          <p:cNvPr id="25" name="Shape 21"/>
          <p:cNvSpPr/>
          <p:nvPr/>
        </p:nvSpPr>
        <p:spPr>
          <a:xfrm>
            <a:off x="6035040" y="2788920"/>
            <a:ext cx="2560320" cy="868680"/>
          </a:xfrm>
          <a:prstGeom prst="roundRect">
            <a:avLst>
              <a:gd name="adj" fmla="val 8421"/>
            </a:avLst>
          </a:prstGeom>
          <a:solidFill>
            <a:srgbClr val="F3F4F6"/>
          </a:solidFill>
          <a:ln w="12700">
            <a:solidFill>
              <a:srgbClr val="F3F4F6"/>
            </a:solidFill>
            <a:prstDash val="solid"/>
          </a:ln>
        </p:spPr>
        <p:txBody>
          <a:bodyPr/>
          <a:lstStyle/>
          <a:p>
            <a:endParaRPr lang="en-US"/>
          </a:p>
        </p:txBody>
      </p:sp>
      <p:sp>
        <p:nvSpPr>
          <p:cNvPr id="26" name="Text 22"/>
          <p:cNvSpPr txBox="1"/>
          <p:nvPr/>
        </p:nvSpPr>
        <p:spPr>
          <a:xfrm>
            <a:off x="6217920" y="2834640"/>
            <a:ext cx="1097280" cy="7772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2026</a:t>
            </a:r>
            <a:endParaRPr lang="en-US" sz="3000" dirty="0"/>
          </a:p>
        </p:txBody>
      </p:sp>
      <p:sp>
        <p:nvSpPr>
          <p:cNvPr id="27" name="Text 23"/>
          <p:cNvSpPr txBox="1"/>
          <p:nvPr/>
        </p:nvSpPr>
        <p:spPr>
          <a:xfrm>
            <a:off x="7269480" y="2834640"/>
            <a:ext cx="1234440" cy="77724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AverixHacks 1st · The Merge 2nd · DesignXR runner-up</a:t>
            </a:r>
            <a:endParaRPr lang="en-US" sz="1050" dirty="0"/>
          </a:p>
        </p:txBody>
      </p:sp>
      <p:sp>
        <p:nvSpPr>
          <p:cNvPr id="28" name="Shape 24"/>
          <p:cNvSpPr/>
          <p:nvPr/>
        </p:nvSpPr>
        <p:spPr>
          <a:xfrm>
            <a:off x="548640" y="3794760"/>
            <a:ext cx="3931920" cy="658368"/>
          </a:xfrm>
          <a:prstGeom prst="roundRect">
            <a:avLst>
              <a:gd name="adj" fmla="val 11111"/>
            </a:avLst>
          </a:prstGeom>
          <a:solidFill>
            <a:srgbClr val="F3F4F6"/>
          </a:solidFill>
          <a:ln w="12700">
            <a:solidFill>
              <a:srgbClr val="F3F4F6"/>
            </a:solidFill>
            <a:prstDash val="solid"/>
          </a:ln>
        </p:spPr>
        <p:txBody>
          <a:bodyPr/>
          <a:lstStyle/>
          <a:p>
            <a:endParaRPr lang="en-US"/>
          </a:p>
        </p:txBody>
      </p:sp>
      <p:sp>
        <p:nvSpPr>
          <p:cNvPr id="29" name="Text 25"/>
          <p:cNvSpPr txBox="1"/>
          <p:nvPr/>
        </p:nvSpPr>
        <p:spPr>
          <a:xfrm>
            <a:off x="731520" y="3822192"/>
            <a:ext cx="3611880" cy="603504"/>
          </a:xfrm>
          <a:prstGeom prst="rect">
            <a:avLst/>
          </a:prstGeom>
          <a:noFill/>
          <a:ln/>
        </p:spPr>
        <p:txBody>
          <a:bodyPr wrap="square" lIns="0" tIns="0" rIns="0" bIns="0" rtlCol="0" anchor="ctr"/>
          <a:lstStyle/>
          <a:p>
            <a:pPr marL="0" indent="0">
              <a:buNone/>
            </a:pPr>
            <a:r>
              <a:rPr lang="en-US" sz="1150" b="1" dirty="0">
                <a:solidFill>
                  <a:srgbClr val="111318"/>
                </a:solidFill>
                <a:latin typeface="Calibri" pitchFamily="34" charset="0"/>
                <a:ea typeface="Calibri" pitchFamily="34" charset="-122"/>
                <a:cs typeface="Calibri" pitchFamily="34" charset="-120"/>
              </a:rPr>
              <a:t>Co-founder, Resumify. </a:t>
            </a:r>
            <a:r>
              <a:rPr lang="en-US" sz="1150" dirty="0">
                <a:solidFill>
                  <a:srgbClr val="111318"/>
                </a:solidFill>
                <a:latin typeface="Calibri" pitchFamily="34" charset="0"/>
                <a:ea typeface="Calibri" pitchFamily="34" charset="-122"/>
                <a:cs typeface="Calibri" pitchFamily="34" charset="-120"/>
              </a:rPr>
              <a:t>AI resume tool for ex-offenders, in partnership with Yellow Ribbon Singapore.</a:t>
            </a:r>
            <a:endParaRPr lang="en-US" sz="1150" dirty="0"/>
          </a:p>
        </p:txBody>
      </p:sp>
      <p:sp>
        <p:nvSpPr>
          <p:cNvPr id="30" name="Shape 26"/>
          <p:cNvSpPr/>
          <p:nvPr/>
        </p:nvSpPr>
        <p:spPr>
          <a:xfrm>
            <a:off x="4663440" y="3794760"/>
            <a:ext cx="3931920" cy="658368"/>
          </a:xfrm>
          <a:prstGeom prst="roundRect">
            <a:avLst>
              <a:gd name="adj" fmla="val 11111"/>
            </a:avLst>
          </a:prstGeom>
          <a:solidFill>
            <a:srgbClr val="F3F4F6"/>
          </a:solidFill>
          <a:ln w="12700">
            <a:solidFill>
              <a:srgbClr val="F3F4F6"/>
            </a:solidFill>
            <a:prstDash val="solid"/>
          </a:ln>
        </p:spPr>
        <p:txBody>
          <a:bodyPr/>
          <a:lstStyle/>
          <a:p>
            <a:endParaRPr lang="en-US"/>
          </a:p>
        </p:txBody>
      </p:sp>
      <p:sp>
        <p:nvSpPr>
          <p:cNvPr id="31" name="Text 27"/>
          <p:cNvSpPr txBox="1"/>
          <p:nvPr/>
        </p:nvSpPr>
        <p:spPr>
          <a:xfrm>
            <a:off x="4846320" y="3822192"/>
            <a:ext cx="3611880" cy="603504"/>
          </a:xfrm>
          <a:prstGeom prst="rect">
            <a:avLst/>
          </a:prstGeom>
          <a:noFill/>
          <a:ln/>
        </p:spPr>
        <p:txBody>
          <a:bodyPr wrap="square" lIns="0" tIns="0" rIns="0" bIns="0" rtlCol="0" anchor="ctr"/>
          <a:lstStyle/>
          <a:p>
            <a:pPr marL="0" indent="0">
              <a:buNone/>
            </a:pPr>
            <a:r>
              <a:rPr lang="en-US" sz="1150" b="1" dirty="0">
                <a:solidFill>
                  <a:srgbClr val="111318"/>
                </a:solidFill>
                <a:latin typeface="Calibri" pitchFamily="34" charset="0"/>
                <a:ea typeface="Calibri" pitchFamily="34" charset="-122"/>
                <a:cs typeface="Calibri" pitchFamily="34" charset="-120"/>
              </a:rPr>
              <a:t>Community. </a:t>
            </a:r>
            <a:r>
              <a:rPr lang="en-US" sz="1150" dirty="0">
                <a:solidFill>
                  <a:srgbClr val="111318"/>
                </a:solidFill>
                <a:latin typeface="Calibri" pitchFamily="34" charset="0"/>
                <a:ea typeface="Calibri" pitchFamily="34" charset="-122"/>
                <a:cs typeface="Calibri" pitchFamily="34" charset="-120"/>
              </a:rPr>
              <a:t>The Collective · The LaunchPad Challenge · Sip &amp; Scale Saigon · github.com/Ducksss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1 · WHY WE ARE HERE</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03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The next 60 minutes, in order</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1 Why</a:t>
            </a:r>
            <a:endParaRPr lang="en-US" sz="750" dirty="0"/>
          </a:p>
        </p:txBody>
      </p:sp>
      <p:sp>
        <p:nvSpPr>
          <p:cNvPr id="6" name="Shape 4"/>
          <p:cNvSpPr/>
          <p:nvPr/>
        </p:nvSpPr>
        <p:spPr>
          <a:xfrm>
            <a:off x="1790395"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7" name="Text 5"/>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8" name="Text 6"/>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2560320" cy="1280160"/>
          </a:xfrm>
          <a:prstGeom prst="roundRect">
            <a:avLst>
              <a:gd name="adj" fmla="val 5714"/>
            </a:avLst>
          </a:prstGeom>
          <a:solidFill>
            <a:srgbClr val="F3F4F6"/>
          </a:solidFill>
          <a:ln w="12700">
            <a:solidFill>
              <a:srgbClr val="F3F4F6"/>
            </a:solidFill>
            <a:prstDash val="solid"/>
          </a:ln>
        </p:spPr>
        <p:txBody>
          <a:bodyPr/>
          <a:lstStyle/>
          <a:p>
            <a:endParaRPr lang="en-US"/>
          </a:p>
        </p:txBody>
      </p:sp>
      <p:sp>
        <p:nvSpPr>
          <p:cNvPr id="17" name="Shape 14"/>
          <p:cNvSpPr/>
          <p:nvPr/>
        </p:nvSpPr>
        <p:spPr>
          <a:xfrm>
            <a:off x="731520" y="1353312"/>
            <a:ext cx="365760" cy="365760"/>
          </a:xfrm>
          <a:prstGeom prst="ellipse">
            <a:avLst/>
          </a:prstGeom>
          <a:solidFill>
            <a:srgbClr val="C8F236"/>
          </a:solidFill>
          <a:ln w="12700">
            <a:solidFill>
              <a:srgbClr val="C8F236"/>
            </a:solidFill>
            <a:prstDash val="solid"/>
          </a:ln>
        </p:spPr>
        <p:txBody>
          <a:bodyPr/>
          <a:lstStyle/>
          <a:p>
            <a:endParaRPr lang="en-US"/>
          </a:p>
        </p:txBody>
      </p:sp>
      <p:sp>
        <p:nvSpPr>
          <p:cNvPr id="18" name="Text 15"/>
          <p:cNvSpPr txBox="1"/>
          <p:nvPr/>
        </p:nvSpPr>
        <p:spPr>
          <a:xfrm>
            <a:off x="731520" y="1353312"/>
            <a:ext cx="365760" cy="365760"/>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2</a:t>
            </a:r>
            <a:endParaRPr lang="en-US" sz="1200" dirty="0"/>
          </a:p>
        </p:txBody>
      </p:sp>
      <p:sp>
        <p:nvSpPr>
          <p:cNvPr id="19" name="Text 16"/>
          <p:cNvSpPr txBox="1"/>
          <p:nvPr/>
        </p:nvSpPr>
        <p:spPr>
          <a:xfrm>
            <a:off x="731520" y="1792224"/>
            <a:ext cx="2240280" cy="640080"/>
          </a:xfrm>
          <a:prstGeom prst="rect">
            <a:avLst/>
          </a:prstGeom>
          <a:noFill/>
          <a:ln/>
        </p:spPr>
        <p:txBody>
          <a:bodyPr wrap="square" lIns="0" tIns="0" rIns="0" bIns="0" rtlCol="0" anchor="t"/>
          <a:lstStyle/>
          <a:p>
            <a:pPr marL="0" indent="0">
              <a:spcAft>
                <a:spcPts val="200"/>
              </a:spcAft>
              <a:buNone/>
            </a:pPr>
            <a:r>
              <a:rPr lang="en-US" sz="1500" b="1" dirty="0">
                <a:solidFill>
                  <a:srgbClr val="111318"/>
                </a:solidFill>
                <a:latin typeface="Calibri" pitchFamily="34" charset="0"/>
                <a:ea typeface="Calibri" pitchFamily="34" charset="-122"/>
                <a:cs typeface="Calibri" pitchFamily="34" charset="-120"/>
              </a:rPr>
              <a:t>What it is</a:t>
            </a:r>
            <a:endParaRPr lang="en-US" sz="1500" dirty="0"/>
          </a:p>
          <a:p>
            <a:pPr marL="0" indent="0">
              <a:spcAft>
                <a:spcPts val="200"/>
              </a:spcAft>
              <a:buNone/>
            </a:pPr>
            <a:r>
              <a:rPr lang="en-US" sz="1100" dirty="0">
                <a:solidFill>
                  <a:srgbClr val="6B7280"/>
                </a:solidFill>
                <a:latin typeface="Calibri" pitchFamily="34" charset="0"/>
                <a:ea typeface="Calibri" pitchFamily="34" charset="-122"/>
                <a:cs typeface="Calibri" pitchFamily="34" charset="-120"/>
              </a:rPr>
              <a:t>A definition, an analogy, and why now.</a:t>
            </a:r>
            <a:endParaRPr lang="en-US" sz="1500" dirty="0"/>
          </a:p>
        </p:txBody>
      </p:sp>
      <p:sp>
        <p:nvSpPr>
          <p:cNvPr id="20" name="Shape 17"/>
          <p:cNvSpPr/>
          <p:nvPr/>
        </p:nvSpPr>
        <p:spPr>
          <a:xfrm>
            <a:off x="3291840" y="1188720"/>
            <a:ext cx="2560320" cy="1280160"/>
          </a:xfrm>
          <a:prstGeom prst="roundRect">
            <a:avLst>
              <a:gd name="adj" fmla="val 5714"/>
            </a:avLst>
          </a:prstGeom>
          <a:solidFill>
            <a:srgbClr val="F3F4F6"/>
          </a:solidFill>
          <a:ln w="12700">
            <a:solidFill>
              <a:srgbClr val="F3F4F6"/>
            </a:solidFill>
            <a:prstDash val="solid"/>
          </a:ln>
        </p:spPr>
        <p:txBody>
          <a:bodyPr/>
          <a:lstStyle/>
          <a:p>
            <a:endParaRPr lang="en-US"/>
          </a:p>
        </p:txBody>
      </p:sp>
      <p:sp>
        <p:nvSpPr>
          <p:cNvPr id="21" name="Shape 18"/>
          <p:cNvSpPr/>
          <p:nvPr/>
        </p:nvSpPr>
        <p:spPr>
          <a:xfrm>
            <a:off x="3474720" y="1353312"/>
            <a:ext cx="365760" cy="365760"/>
          </a:xfrm>
          <a:prstGeom prst="ellipse">
            <a:avLst/>
          </a:prstGeom>
          <a:solidFill>
            <a:srgbClr val="C8F236"/>
          </a:solidFill>
          <a:ln w="12700">
            <a:solidFill>
              <a:srgbClr val="C8F236"/>
            </a:solidFill>
            <a:prstDash val="solid"/>
          </a:ln>
        </p:spPr>
        <p:txBody>
          <a:bodyPr/>
          <a:lstStyle/>
          <a:p>
            <a:endParaRPr lang="en-US"/>
          </a:p>
        </p:txBody>
      </p:sp>
      <p:sp>
        <p:nvSpPr>
          <p:cNvPr id="22" name="Text 19"/>
          <p:cNvSpPr txBox="1"/>
          <p:nvPr/>
        </p:nvSpPr>
        <p:spPr>
          <a:xfrm>
            <a:off x="3474720" y="1353312"/>
            <a:ext cx="365760" cy="365760"/>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3</a:t>
            </a:r>
            <a:endParaRPr lang="en-US" sz="1200" dirty="0"/>
          </a:p>
        </p:txBody>
      </p:sp>
      <p:sp>
        <p:nvSpPr>
          <p:cNvPr id="23" name="Text 20"/>
          <p:cNvSpPr txBox="1"/>
          <p:nvPr/>
        </p:nvSpPr>
        <p:spPr>
          <a:xfrm>
            <a:off x="3474720" y="1792224"/>
            <a:ext cx="2240280" cy="640080"/>
          </a:xfrm>
          <a:prstGeom prst="rect">
            <a:avLst/>
          </a:prstGeom>
          <a:noFill/>
          <a:ln/>
        </p:spPr>
        <p:txBody>
          <a:bodyPr wrap="square" lIns="0" tIns="0" rIns="0" bIns="0" rtlCol="0" anchor="t"/>
          <a:lstStyle/>
          <a:p>
            <a:pPr marL="0" indent="0">
              <a:spcAft>
                <a:spcPts val="200"/>
              </a:spcAft>
              <a:buNone/>
            </a:pPr>
            <a:r>
              <a:rPr lang="en-US" sz="1500" b="1" dirty="0">
                <a:solidFill>
                  <a:srgbClr val="111318"/>
                </a:solidFill>
                <a:latin typeface="Calibri" pitchFamily="34" charset="0"/>
                <a:ea typeface="Calibri" pitchFamily="34" charset="-122"/>
                <a:cs typeface="Calibri" pitchFamily="34" charset="-120"/>
              </a:rPr>
              <a:t>How to do it</a:t>
            </a:r>
            <a:endParaRPr lang="en-US" sz="1500" dirty="0"/>
          </a:p>
          <a:p>
            <a:pPr marL="0" indent="0">
              <a:spcAft>
                <a:spcPts val="200"/>
              </a:spcAft>
              <a:buNone/>
            </a:pPr>
            <a:r>
              <a:rPr lang="en-US" sz="1100" dirty="0">
                <a:solidFill>
                  <a:srgbClr val="6B7280"/>
                </a:solidFill>
                <a:latin typeface="Calibri" pitchFamily="34" charset="0"/>
                <a:ea typeface="Calibri" pitchFamily="34" charset="-122"/>
                <a:cs typeface="Calibri" pitchFamily="34" charset="-120"/>
              </a:rPr>
              <a:t>Tools, the loop, and prompts that work.</a:t>
            </a:r>
            <a:endParaRPr lang="en-US" sz="1500" dirty="0"/>
          </a:p>
        </p:txBody>
      </p:sp>
      <p:sp>
        <p:nvSpPr>
          <p:cNvPr id="24" name="Shape 21"/>
          <p:cNvSpPr/>
          <p:nvPr/>
        </p:nvSpPr>
        <p:spPr>
          <a:xfrm>
            <a:off x="6035040" y="1188720"/>
            <a:ext cx="2560320" cy="1280160"/>
          </a:xfrm>
          <a:prstGeom prst="roundRect">
            <a:avLst>
              <a:gd name="adj" fmla="val 5714"/>
            </a:avLst>
          </a:prstGeom>
          <a:solidFill>
            <a:srgbClr val="F3F4F6"/>
          </a:solidFill>
          <a:ln w="12700">
            <a:solidFill>
              <a:srgbClr val="F3F4F6"/>
            </a:solidFill>
            <a:prstDash val="solid"/>
          </a:ln>
        </p:spPr>
        <p:txBody>
          <a:bodyPr/>
          <a:lstStyle/>
          <a:p>
            <a:endParaRPr lang="en-US"/>
          </a:p>
        </p:txBody>
      </p:sp>
      <p:sp>
        <p:nvSpPr>
          <p:cNvPr id="25" name="Shape 22"/>
          <p:cNvSpPr/>
          <p:nvPr/>
        </p:nvSpPr>
        <p:spPr>
          <a:xfrm>
            <a:off x="6217920" y="1353312"/>
            <a:ext cx="365760" cy="365760"/>
          </a:xfrm>
          <a:prstGeom prst="ellipse">
            <a:avLst/>
          </a:prstGeom>
          <a:solidFill>
            <a:srgbClr val="C8F236"/>
          </a:solidFill>
          <a:ln w="12700">
            <a:solidFill>
              <a:srgbClr val="C8F236"/>
            </a:solidFill>
            <a:prstDash val="solid"/>
          </a:ln>
        </p:spPr>
        <p:txBody>
          <a:bodyPr/>
          <a:lstStyle/>
          <a:p>
            <a:endParaRPr lang="en-US"/>
          </a:p>
        </p:txBody>
      </p:sp>
      <p:sp>
        <p:nvSpPr>
          <p:cNvPr id="26" name="Text 23"/>
          <p:cNvSpPr txBox="1"/>
          <p:nvPr/>
        </p:nvSpPr>
        <p:spPr>
          <a:xfrm>
            <a:off x="6217920" y="1353312"/>
            <a:ext cx="365760" cy="365760"/>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4</a:t>
            </a:r>
            <a:endParaRPr lang="en-US" sz="1200" dirty="0"/>
          </a:p>
        </p:txBody>
      </p:sp>
      <p:sp>
        <p:nvSpPr>
          <p:cNvPr id="27" name="Text 24"/>
          <p:cNvSpPr txBox="1"/>
          <p:nvPr/>
        </p:nvSpPr>
        <p:spPr>
          <a:xfrm>
            <a:off x="6217920" y="1792224"/>
            <a:ext cx="2240280" cy="640080"/>
          </a:xfrm>
          <a:prstGeom prst="rect">
            <a:avLst/>
          </a:prstGeom>
          <a:noFill/>
          <a:ln/>
        </p:spPr>
        <p:txBody>
          <a:bodyPr wrap="square" lIns="0" tIns="0" rIns="0" bIns="0" rtlCol="0" anchor="t"/>
          <a:lstStyle/>
          <a:p>
            <a:pPr marL="0" indent="0">
              <a:spcAft>
                <a:spcPts val="200"/>
              </a:spcAft>
              <a:buNone/>
            </a:pPr>
            <a:r>
              <a:rPr lang="en-US" sz="1500" b="1" dirty="0">
                <a:solidFill>
                  <a:srgbClr val="111318"/>
                </a:solidFill>
                <a:latin typeface="Calibri" pitchFamily="34" charset="0"/>
                <a:ea typeface="Calibri" pitchFamily="34" charset="-122"/>
                <a:cs typeface="Calibri" pitchFamily="34" charset="-120"/>
              </a:rPr>
              <a:t>See it</a:t>
            </a:r>
            <a:endParaRPr lang="en-US" sz="1500" dirty="0"/>
          </a:p>
          <a:p>
            <a:pPr marL="0" indent="0">
              <a:spcAft>
                <a:spcPts val="200"/>
              </a:spcAft>
              <a:buNone/>
            </a:pPr>
            <a:r>
              <a:rPr lang="en-US" sz="1100" dirty="0">
                <a:solidFill>
                  <a:srgbClr val="6B7280"/>
                </a:solidFill>
                <a:latin typeface="Calibri" pitchFamily="34" charset="0"/>
                <a:ea typeface="Calibri" pitchFamily="34" charset="-122"/>
                <a:cs typeface="Calibri" pitchFamily="34" charset="-120"/>
              </a:rPr>
              <a:t>Two prompts compared, then a live build.</a:t>
            </a:r>
            <a:endParaRPr lang="en-US" sz="1500" dirty="0"/>
          </a:p>
        </p:txBody>
      </p:sp>
      <p:sp>
        <p:nvSpPr>
          <p:cNvPr id="28" name="Shape 25"/>
          <p:cNvSpPr/>
          <p:nvPr/>
        </p:nvSpPr>
        <p:spPr>
          <a:xfrm>
            <a:off x="548640" y="2560320"/>
            <a:ext cx="2560320" cy="1280160"/>
          </a:xfrm>
          <a:prstGeom prst="roundRect">
            <a:avLst>
              <a:gd name="adj" fmla="val 5714"/>
            </a:avLst>
          </a:prstGeom>
          <a:solidFill>
            <a:srgbClr val="F3F4F6"/>
          </a:solidFill>
          <a:ln w="12700">
            <a:solidFill>
              <a:srgbClr val="F3F4F6"/>
            </a:solidFill>
            <a:prstDash val="solid"/>
          </a:ln>
        </p:spPr>
        <p:txBody>
          <a:bodyPr/>
          <a:lstStyle/>
          <a:p>
            <a:endParaRPr lang="en-US"/>
          </a:p>
        </p:txBody>
      </p:sp>
      <p:sp>
        <p:nvSpPr>
          <p:cNvPr id="29" name="Shape 26"/>
          <p:cNvSpPr/>
          <p:nvPr/>
        </p:nvSpPr>
        <p:spPr>
          <a:xfrm>
            <a:off x="731520" y="2724912"/>
            <a:ext cx="365760" cy="365760"/>
          </a:xfrm>
          <a:prstGeom prst="ellipse">
            <a:avLst/>
          </a:prstGeom>
          <a:solidFill>
            <a:srgbClr val="C8F236"/>
          </a:solidFill>
          <a:ln w="12700">
            <a:solidFill>
              <a:srgbClr val="C8F236"/>
            </a:solidFill>
            <a:prstDash val="solid"/>
          </a:ln>
        </p:spPr>
        <p:txBody>
          <a:bodyPr/>
          <a:lstStyle/>
          <a:p>
            <a:endParaRPr lang="en-US"/>
          </a:p>
        </p:txBody>
      </p:sp>
      <p:sp>
        <p:nvSpPr>
          <p:cNvPr id="30" name="Text 27"/>
          <p:cNvSpPr txBox="1"/>
          <p:nvPr/>
        </p:nvSpPr>
        <p:spPr>
          <a:xfrm>
            <a:off x="731520" y="2724912"/>
            <a:ext cx="365760" cy="365760"/>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5</a:t>
            </a:r>
            <a:endParaRPr lang="en-US" sz="1200" dirty="0"/>
          </a:p>
        </p:txBody>
      </p:sp>
      <p:sp>
        <p:nvSpPr>
          <p:cNvPr id="31" name="Text 28"/>
          <p:cNvSpPr txBox="1"/>
          <p:nvPr/>
        </p:nvSpPr>
        <p:spPr>
          <a:xfrm>
            <a:off x="731520" y="3163824"/>
            <a:ext cx="2240280" cy="640080"/>
          </a:xfrm>
          <a:prstGeom prst="rect">
            <a:avLst/>
          </a:prstGeom>
          <a:noFill/>
          <a:ln/>
        </p:spPr>
        <p:txBody>
          <a:bodyPr wrap="square" lIns="0" tIns="0" rIns="0" bIns="0" rtlCol="0" anchor="t"/>
          <a:lstStyle/>
          <a:p>
            <a:pPr marL="0" indent="0">
              <a:spcAft>
                <a:spcPts val="200"/>
              </a:spcAft>
              <a:buNone/>
            </a:pPr>
            <a:r>
              <a:rPr lang="en-US" sz="1500" b="1" dirty="0">
                <a:solidFill>
                  <a:srgbClr val="111318"/>
                </a:solidFill>
                <a:latin typeface="Calibri" pitchFamily="34" charset="0"/>
                <a:ea typeface="Calibri" pitchFamily="34" charset="-122"/>
                <a:cs typeface="Calibri" pitchFamily="34" charset="-120"/>
              </a:rPr>
              <a:t>Where it breaks</a:t>
            </a:r>
            <a:endParaRPr lang="en-US" sz="1500" dirty="0"/>
          </a:p>
          <a:p>
            <a:pPr marL="0" indent="0">
              <a:spcAft>
                <a:spcPts val="200"/>
              </a:spcAft>
              <a:buNone/>
            </a:pPr>
            <a:r>
              <a:rPr lang="en-US" sz="1100" dirty="0">
                <a:solidFill>
                  <a:srgbClr val="6B7280"/>
                </a:solidFill>
                <a:latin typeface="Calibri" pitchFamily="34" charset="0"/>
                <a:ea typeface="Calibri" pitchFamily="34" charset="-122"/>
                <a:cs typeface="Calibri" pitchFamily="34" charset="-120"/>
              </a:rPr>
              <a:t>Five traps and the habits that prevent them.</a:t>
            </a:r>
            <a:endParaRPr lang="en-US" sz="1500" dirty="0"/>
          </a:p>
        </p:txBody>
      </p:sp>
      <p:sp>
        <p:nvSpPr>
          <p:cNvPr id="32" name="Shape 29"/>
          <p:cNvSpPr/>
          <p:nvPr/>
        </p:nvSpPr>
        <p:spPr>
          <a:xfrm>
            <a:off x="3291840" y="2560320"/>
            <a:ext cx="2560320" cy="1280160"/>
          </a:xfrm>
          <a:prstGeom prst="roundRect">
            <a:avLst>
              <a:gd name="adj" fmla="val 5714"/>
            </a:avLst>
          </a:prstGeom>
          <a:solidFill>
            <a:srgbClr val="F3F4F6"/>
          </a:solidFill>
          <a:ln w="12700">
            <a:solidFill>
              <a:srgbClr val="F3F4F6"/>
            </a:solidFill>
            <a:prstDash val="solid"/>
          </a:ln>
        </p:spPr>
        <p:txBody>
          <a:bodyPr/>
          <a:lstStyle/>
          <a:p>
            <a:endParaRPr lang="en-US"/>
          </a:p>
        </p:txBody>
      </p:sp>
      <p:sp>
        <p:nvSpPr>
          <p:cNvPr id="33" name="Shape 30"/>
          <p:cNvSpPr/>
          <p:nvPr/>
        </p:nvSpPr>
        <p:spPr>
          <a:xfrm>
            <a:off x="3474720" y="2724912"/>
            <a:ext cx="365760" cy="365760"/>
          </a:xfrm>
          <a:prstGeom prst="ellipse">
            <a:avLst/>
          </a:prstGeom>
          <a:solidFill>
            <a:srgbClr val="C8F236"/>
          </a:solidFill>
          <a:ln w="12700">
            <a:solidFill>
              <a:srgbClr val="C8F236"/>
            </a:solidFill>
            <a:prstDash val="solid"/>
          </a:ln>
        </p:spPr>
        <p:txBody>
          <a:bodyPr/>
          <a:lstStyle/>
          <a:p>
            <a:endParaRPr lang="en-US"/>
          </a:p>
        </p:txBody>
      </p:sp>
      <p:sp>
        <p:nvSpPr>
          <p:cNvPr id="34" name="Text 31"/>
          <p:cNvSpPr txBox="1"/>
          <p:nvPr/>
        </p:nvSpPr>
        <p:spPr>
          <a:xfrm>
            <a:off x="3474720" y="2724912"/>
            <a:ext cx="365760" cy="365760"/>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6</a:t>
            </a:r>
            <a:endParaRPr lang="en-US" sz="1200" dirty="0"/>
          </a:p>
        </p:txBody>
      </p:sp>
      <p:sp>
        <p:nvSpPr>
          <p:cNvPr id="35" name="Text 32"/>
          <p:cNvSpPr txBox="1"/>
          <p:nvPr/>
        </p:nvSpPr>
        <p:spPr>
          <a:xfrm>
            <a:off x="3474720" y="3163824"/>
            <a:ext cx="2240280" cy="640080"/>
          </a:xfrm>
          <a:prstGeom prst="rect">
            <a:avLst/>
          </a:prstGeom>
          <a:noFill/>
          <a:ln/>
        </p:spPr>
        <p:txBody>
          <a:bodyPr wrap="square" lIns="0" tIns="0" rIns="0" bIns="0" rtlCol="0" anchor="t"/>
          <a:lstStyle/>
          <a:p>
            <a:pPr marL="0" indent="0">
              <a:spcAft>
                <a:spcPts val="200"/>
              </a:spcAft>
              <a:buNone/>
            </a:pPr>
            <a:r>
              <a:rPr lang="en-US" sz="1500" b="1" dirty="0">
                <a:solidFill>
                  <a:srgbClr val="111318"/>
                </a:solidFill>
                <a:latin typeface="Calibri" pitchFamily="34" charset="0"/>
                <a:ea typeface="Calibri" pitchFamily="34" charset="-122"/>
                <a:cs typeface="Calibri" pitchFamily="34" charset="-120"/>
              </a:rPr>
              <a:t>When it matters</a:t>
            </a:r>
            <a:endParaRPr lang="en-US" sz="1500" dirty="0"/>
          </a:p>
          <a:p>
            <a:pPr marL="0" indent="0">
              <a:spcAft>
                <a:spcPts val="200"/>
              </a:spcAft>
              <a:buNone/>
            </a:pPr>
            <a:r>
              <a:rPr lang="en-US" sz="1100" dirty="0">
                <a:solidFill>
                  <a:srgbClr val="6B7280"/>
                </a:solidFill>
                <a:latin typeface="Calibri" pitchFamily="34" charset="0"/>
                <a:ea typeface="Calibri" pitchFamily="34" charset="-122"/>
                <a:cs typeface="Calibri" pitchFamily="34" charset="-120"/>
              </a:rPr>
              <a:t>Moving from vibe coding to vibe engineering.</a:t>
            </a:r>
            <a:endParaRPr lang="en-US" sz="1500" dirty="0"/>
          </a:p>
        </p:txBody>
      </p:sp>
      <p:sp>
        <p:nvSpPr>
          <p:cNvPr id="36" name="Shape 33"/>
          <p:cNvSpPr/>
          <p:nvPr/>
        </p:nvSpPr>
        <p:spPr>
          <a:xfrm>
            <a:off x="6035040" y="2560320"/>
            <a:ext cx="2560320" cy="1280160"/>
          </a:xfrm>
          <a:prstGeom prst="roundRect">
            <a:avLst>
              <a:gd name="adj" fmla="val 5714"/>
            </a:avLst>
          </a:prstGeom>
          <a:solidFill>
            <a:srgbClr val="F3F4F6"/>
          </a:solidFill>
          <a:ln w="12700">
            <a:solidFill>
              <a:srgbClr val="F3F4F6"/>
            </a:solidFill>
            <a:prstDash val="solid"/>
          </a:ln>
        </p:spPr>
        <p:txBody>
          <a:bodyPr/>
          <a:lstStyle/>
          <a:p>
            <a:endParaRPr lang="en-US"/>
          </a:p>
        </p:txBody>
      </p:sp>
      <p:sp>
        <p:nvSpPr>
          <p:cNvPr id="37" name="Shape 34"/>
          <p:cNvSpPr/>
          <p:nvPr/>
        </p:nvSpPr>
        <p:spPr>
          <a:xfrm>
            <a:off x="6217920" y="2724912"/>
            <a:ext cx="365760" cy="365760"/>
          </a:xfrm>
          <a:prstGeom prst="ellipse">
            <a:avLst/>
          </a:prstGeom>
          <a:solidFill>
            <a:srgbClr val="C8F236"/>
          </a:solidFill>
          <a:ln w="12700">
            <a:solidFill>
              <a:srgbClr val="C8F236"/>
            </a:solidFill>
            <a:prstDash val="solid"/>
          </a:ln>
        </p:spPr>
        <p:txBody>
          <a:bodyPr/>
          <a:lstStyle/>
          <a:p>
            <a:endParaRPr lang="en-US"/>
          </a:p>
        </p:txBody>
      </p:sp>
      <p:sp>
        <p:nvSpPr>
          <p:cNvPr id="38" name="Text 35"/>
          <p:cNvSpPr txBox="1"/>
          <p:nvPr/>
        </p:nvSpPr>
        <p:spPr>
          <a:xfrm>
            <a:off x="6217920" y="2724912"/>
            <a:ext cx="365760" cy="365760"/>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7</a:t>
            </a:r>
            <a:endParaRPr lang="en-US" sz="1200" dirty="0"/>
          </a:p>
        </p:txBody>
      </p:sp>
      <p:sp>
        <p:nvSpPr>
          <p:cNvPr id="39" name="Text 36"/>
          <p:cNvSpPr txBox="1"/>
          <p:nvPr/>
        </p:nvSpPr>
        <p:spPr>
          <a:xfrm>
            <a:off x="6217920" y="3163824"/>
            <a:ext cx="2240280" cy="640080"/>
          </a:xfrm>
          <a:prstGeom prst="rect">
            <a:avLst/>
          </a:prstGeom>
          <a:noFill/>
          <a:ln/>
        </p:spPr>
        <p:txBody>
          <a:bodyPr wrap="square" lIns="0" tIns="0" rIns="0" bIns="0" rtlCol="0" anchor="t"/>
          <a:lstStyle/>
          <a:p>
            <a:pPr marL="0" indent="0">
              <a:spcAft>
                <a:spcPts val="200"/>
              </a:spcAft>
              <a:buNone/>
            </a:pPr>
            <a:r>
              <a:rPr lang="en-US" sz="1500" b="1" dirty="0">
                <a:solidFill>
                  <a:srgbClr val="111318"/>
                </a:solidFill>
                <a:latin typeface="Calibri" pitchFamily="34" charset="0"/>
                <a:ea typeface="Calibri" pitchFamily="34" charset="-122"/>
                <a:cs typeface="Calibri" pitchFamily="34" charset="-120"/>
              </a:rPr>
              <a:t>Close</a:t>
            </a:r>
            <a:endParaRPr lang="en-US" sz="1500" dirty="0"/>
          </a:p>
          <a:p>
            <a:pPr marL="0" indent="0">
              <a:spcAft>
                <a:spcPts val="200"/>
              </a:spcAft>
              <a:buNone/>
            </a:pPr>
            <a:r>
              <a:rPr lang="en-US" sz="1100" dirty="0">
                <a:solidFill>
                  <a:srgbClr val="6B7280"/>
                </a:solidFill>
                <a:latin typeface="Calibri" pitchFamily="34" charset="0"/>
                <a:ea typeface="Calibri" pitchFamily="34" charset="-122"/>
                <a:cs typeface="Calibri" pitchFamily="34" charset="-120"/>
              </a:rPr>
              <a:t>Homework, then 30 minutes of your questions.</a:t>
            </a:r>
            <a:endParaRPr lang="en-US" sz="1500" dirty="0"/>
          </a:p>
        </p:txBody>
      </p:sp>
      <p:sp>
        <p:nvSpPr>
          <p:cNvPr id="40" name="Text 37"/>
          <p:cNvSpPr txBox="1"/>
          <p:nvPr/>
        </p:nvSpPr>
        <p:spPr>
          <a:xfrm>
            <a:off x="548640" y="4023360"/>
            <a:ext cx="8046720" cy="365760"/>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Teaching: 30 minutes.  </a:t>
            </a:r>
            <a:r>
              <a:rPr lang="en-US" sz="1300" dirty="0">
                <a:solidFill>
                  <a:srgbClr val="6B7280"/>
                </a:solidFill>
                <a:latin typeface="Calibri" pitchFamily="34" charset="0"/>
                <a:ea typeface="Calibri" pitchFamily="34" charset="-122"/>
                <a:cs typeface="Calibri" pitchFamily="34" charset="-120"/>
              </a:rPr>
              <a:t>Then 30 minutes that are yours: ask me anything, or ask me to build anything.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2 · WHAT IT IS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04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What is vibe coding?</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2 What it is</a:t>
            </a:r>
            <a:endParaRPr lang="en-US" sz="750" dirty="0"/>
          </a:p>
        </p:txBody>
      </p:sp>
      <p:sp>
        <p:nvSpPr>
          <p:cNvPr id="7" name="Shape 5"/>
          <p:cNvSpPr/>
          <p:nvPr/>
        </p:nvSpPr>
        <p:spPr>
          <a:xfrm>
            <a:off x="2243938" y="4919472"/>
            <a:ext cx="740664" cy="27432"/>
          </a:xfrm>
          <a:prstGeom prst="rect">
            <a:avLst/>
          </a:prstGeom>
          <a:solidFill>
            <a:srgbClr val="C8F236"/>
          </a:solidFill>
          <a:ln w="12700">
            <a:solidFill>
              <a:srgbClr val="C8F236"/>
            </a:solidFill>
            <a:prstDash val="solid"/>
          </a:ln>
        </p:spPr>
        <p:txBody>
          <a:bodyPr/>
          <a:lstStyle/>
          <a:p>
            <a:endParaRPr lang="en-US"/>
          </a:p>
        </p:txBody>
      </p:sp>
      <p:sp>
        <p:nvSpPr>
          <p:cNvPr id="8" name="Text 6"/>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4846320" cy="1554480"/>
          </a:xfrm>
          <a:prstGeom prst="roundRect">
            <a:avLst>
              <a:gd name="adj" fmla="val 4706"/>
            </a:avLst>
          </a:prstGeom>
          <a:solidFill>
            <a:srgbClr val="F3F4F6"/>
          </a:solidFill>
          <a:ln w="12700">
            <a:solidFill>
              <a:srgbClr val="F3F4F6"/>
            </a:solidFill>
            <a:prstDash val="solid"/>
          </a:ln>
        </p:spPr>
        <p:txBody>
          <a:bodyPr/>
          <a:lstStyle/>
          <a:p>
            <a:endParaRPr lang="en-US"/>
          </a:p>
        </p:txBody>
      </p:sp>
      <p:sp>
        <p:nvSpPr>
          <p:cNvPr id="17" name="Text 14"/>
          <p:cNvSpPr txBox="1"/>
          <p:nvPr/>
        </p:nvSpPr>
        <p:spPr>
          <a:xfrm>
            <a:off x="777240" y="1325880"/>
            <a:ext cx="4434840" cy="1325880"/>
          </a:xfrm>
          <a:prstGeom prst="rect">
            <a:avLst/>
          </a:prstGeom>
          <a:noFill/>
          <a:ln/>
        </p:spPr>
        <p:txBody>
          <a:bodyPr wrap="square" lIns="0" tIns="0" rIns="0" bIns="0" rtlCol="0" anchor="t"/>
          <a:lstStyle/>
          <a:p>
            <a:pPr marL="0" indent="0">
              <a:spcAft>
                <a:spcPts val="600"/>
              </a:spcAft>
              <a:buNone/>
            </a:pPr>
            <a:r>
              <a:rPr lang="en-US" sz="1600" b="1" dirty="0">
                <a:solidFill>
                  <a:srgbClr val="111318"/>
                </a:solidFill>
                <a:latin typeface="Calibri" pitchFamily="34" charset="0"/>
                <a:ea typeface="Calibri" pitchFamily="34" charset="-122"/>
                <a:cs typeface="Calibri" pitchFamily="34" charset="-120"/>
              </a:rPr>
              <a:t>Describe what you want. AI drafts the software. You run it, react to it, and refine it.</a:t>
            </a:r>
            <a:endParaRPr lang="en-US" sz="1600" dirty="0"/>
          </a:p>
          <a:p>
            <a:pPr marL="0" indent="0">
              <a:spcAft>
                <a:spcPts val="600"/>
              </a:spcAft>
              <a:buNone/>
            </a:pPr>
            <a:r>
              <a:rPr lang="en-US" sz="1250" dirty="0">
                <a:solidFill>
                  <a:srgbClr val="6B7280"/>
                </a:solidFill>
                <a:latin typeface="Calibri" pitchFamily="34" charset="0"/>
                <a:ea typeface="Calibri" pitchFamily="34" charset="-122"/>
                <a:cs typeface="Calibri" pitchFamily="34" charset="-120"/>
              </a:rPr>
              <a:t>Programming in natural language. You express intent, or a "vibe", and generative AI turns it into working code. You do not write the logic line by line.</a:t>
            </a:r>
            <a:endParaRPr lang="en-US" sz="1600" dirty="0"/>
          </a:p>
        </p:txBody>
      </p:sp>
      <p:sp>
        <p:nvSpPr>
          <p:cNvPr id="18" name="Text 15"/>
          <p:cNvSpPr txBox="1"/>
          <p:nvPr/>
        </p:nvSpPr>
        <p:spPr>
          <a:xfrm>
            <a:off x="548640" y="2880360"/>
            <a:ext cx="4846320" cy="548640"/>
          </a:xfrm>
          <a:prstGeom prst="rect">
            <a:avLst/>
          </a:prstGeom>
          <a:noFill/>
          <a:ln/>
        </p:spPr>
        <p:txBody>
          <a:bodyPr wrap="square" lIns="0" tIns="0" rIns="0" bIns="0" rtlCol="0" anchor="ctr"/>
          <a:lstStyle/>
          <a:p>
            <a:pPr marL="0" indent="0">
              <a:buNone/>
            </a:pPr>
            <a:r>
              <a:rPr lang="en-US" sz="2400" i="1" dirty="0">
                <a:solidFill>
                  <a:srgbClr val="111318"/>
                </a:solidFill>
                <a:latin typeface="Cambria" pitchFamily="34" charset="0"/>
                <a:ea typeface="Cambria" pitchFamily="34" charset="-122"/>
                <a:cs typeface="Cambria" pitchFamily="34" charset="-120"/>
              </a:rPr>
              <a:t>“fully give in to the vibes”</a:t>
            </a:r>
            <a:endParaRPr lang="en-US" sz="2400" dirty="0"/>
          </a:p>
        </p:txBody>
      </p:sp>
      <p:sp>
        <p:nvSpPr>
          <p:cNvPr id="19" name="Text 16"/>
          <p:cNvSpPr txBox="1"/>
          <p:nvPr/>
        </p:nvSpPr>
        <p:spPr>
          <a:xfrm>
            <a:off x="548640" y="3474720"/>
            <a:ext cx="4846320" cy="54864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Andrej Karpathy, co-founder of OpenAI, February 2025. Say stuff, run stuff, accept all, and it mostly works.</a:t>
            </a:r>
            <a:endParaRPr lang="en-US" sz="1150" dirty="0"/>
          </a:p>
        </p:txBody>
      </p:sp>
      <p:sp>
        <p:nvSpPr>
          <p:cNvPr id="20" name="Shape 17"/>
          <p:cNvSpPr/>
          <p:nvPr/>
        </p:nvSpPr>
        <p:spPr>
          <a:xfrm>
            <a:off x="5669280" y="1188720"/>
            <a:ext cx="2926080" cy="1417320"/>
          </a:xfrm>
          <a:prstGeom prst="roundRect">
            <a:avLst>
              <a:gd name="adj" fmla="val 5161"/>
            </a:avLst>
          </a:prstGeom>
          <a:solidFill>
            <a:srgbClr val="0F1114"/>
          </a:solidFill>
          <a:ln w="12700">
            <a:solidFill>
              <a:srgbClr val="0F1114"/>
            </a:solidFill>
            <a:prstDash val="solid"/>
          </a:ln>
        </p:spPr>
        <p:txBody>
          <a:bodyPr/>
          <a:lstStyle/>
          <a:p>
            <a:endParaRPr lang="en-US"/>
          </a:p>
        </p:txBody>
      </p:sp>
      <p:sp>
        <p:nvSpPr>
          <p:cNvPr id="21" name="Shape 18"/>
          <p:cNvSpPr/>
          <p:nvPr/>
        </p:nvSpPr>
        <p:spPr>
          <a:xfrm>
            <a:off x="5852160" y="1417320"/>
            <a:ext cx="548640" cy="548640"/>
          </a:xfrm>
          <a:prstGeom prst="ellipse">
            <a:avLst/>
          </a:prstGeom>
          <a:solidFill>
            <a:srgbClr val="C8F236"/>
          </a:solidFill>
          <a:ln w="12700">
            <a:solidFill>
              <a:srgbClr val="C8F236"/>
            </a:solidFill>
            <a:prstDash val="solid"/>
          </a:ln>
        </p:spPr>
        <p:txBody>
          <a:bodyPr/>
          <a:lstStyle/>
          <a:p>
            <a:endParaRPr lang="en-US"/>
          </a:p>
        </p:txBody>
      </p:sp>
      <p:pic>
        <p:nvPicPr>
          <p:cNvPr id="22" name="Image 1" descr="preencoded.png"/>
          <p:cNvPicPr>
            <a:picLocks noChangeAspect="1"/>
          </p:cNvPicPr>
          <p:nvPr/>
        </p:nvPicPr>
        <p:blipFill>
          <a:blip r:embed="rId4"/>
          <a:stretch>
            <a:fillRect/>
          </a:stretch>
        </p:blipFill>
        <p:spPr>
          <a:xfrm>
            <a:off x="5994806" y="1559966"/>
            <a:ext cx="263347" cy="263347"/>
          </a:xfrm>
          <a:prstGeom prst="rect">
            <a:avLst/>
          </a:prstGeom>
        </p:spPr>
      </p:pic>
      <p:sp>
        <p:nvSpPr>
          <p:cNvPr id="23" name="Text 19"/>
          <p:cNvSpPr txBox="1"/>
          <p:nvPr/>
        </p:nvSpPr>
        <p:spPr>
          <a:xfrm>
            <a:off x="6537960" y="1371600"/>
            <a:ext cx="1920240" cy="1143000"/>
          </a:xfrm>
          <a:prstGeom prst="rect">
            <a:avLst/>
          </a:prstGeom>
          <a:noFill/>
          <a:ln/>
        </p:spPr>
        <p:txBody>
          <a:bodyPr wrap="square" lIns="0" tIns="0" rIns="0" bIns="0" rtlCol="0" anchor="t"/>
          <a:lstStyle/>
          <a:p>
            <a:pPr marL="0" indent="0">
              <a:spcAft>
                <a:spcPts val="300"/>
              </a:spcAft>
              <a:buNone/>
            </a:pPr>
            <a:r>
              <a:rPr lang="en-US" sz="1400" b="1" dirty="0">
                <a:solidFill>
                  <a:srgbClr val="FFFFFF"/>
                </a:solidFill>
                <a:latin typeface="Calibri" pitchFamily="34" charset="0"/>
                <a:ea typeface="Calibri" pitchFamily="34" charset="-122"/>
                <a:cs typeface="Calibri" pitchFamily="34" charset="-120"/>
              </a:rPr>
              <a:t>Word of the Year 2025</a:t>
            </a:r>
            <a:endParaRPr lang="en-US" sz="1400" dirty="0"/>
          </a:p>
          <a:p>
            <a:pPr marL="0" indent="0">
              <a:spcAft>
                <a:spcPts val="300"/>
              </a:spcAft>
              <a:buNone/>
            </a:pPr>
            <a:r>
              <a:rPr lang="en-US" sz="1100" dirty="0">
                <a:solidFill>
                  <a:srgbClr val="9CA3AF"/>
                </a:solidFill>
                <a:latin typeface="Calibri" pitchFamily="34" charset="0"/>
                <a:ea typeface="Calibri" pitchFamily="34" charset="-122"/>
                <a:cs typeface="Calibri" pitchFamily="34" charset="-120"/>
              </a:rPr>
              <a:t>Collins Dictionary, nine months after the tweet.</a:t>
            </a:r>
            <a:endParaRPr lang="en-US" sz="1400" dirty="0"/>
          </a:p>
        </p:txBody>
      </p:sp>
      <p:sp>
        <p:nvSpPr>
          <p:cNvPr id="24" name="Shape 20"/>
          <p:cNvSpPr/>
          <p:nvPr/>
        </p:nvSpPr>
        <p:spPr>
          <a:xfrm>
            <a:off x="5669280" y="2743200"/>
            <a:ext cx="2926080" cy="1600200"/>
          </a:xfrm>
          <a:prstGeom prst="roundRect">
            <a:avLst>
              <a:gd name="adj" fmla="val 4571"/>
            </a:avLst>
          </a:prstGeom>
          <a:solidFill>
            <a:srgbClr val="C8F236"/>
          </a:solidFill>
          <a:ln w="12700">
            <a:solidFill>
              <a:srgbClr val="C8F236"/>
            </a:solidFill>
            <a:prstDash val="solid"/>
          </a:ln>
        </p:spPr>
        <p:txBody>
          <a:bodyPr/>
          <a:lstStyle/>
          <a:p>
            <a:endParaRPr lang="en-US"/>
          </a:p>
        </p:txBody>
      </p:sp>
      <p:sp>
        <p:nvSpPr>
          <p:cNvPr id="25" name="Text 21"/>
          <p:cNvSpPr txBox="1"/>
          <p:nvPr/>
        </p:nvSpPr>
        <p:spPr>
          <a:xfrm>
            <a:off x="5852160" y="2880360"/>
            <a:ext cx="2560320" cy="137160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The bottleneck moved.</a:t>
            </a:r>
            <a:endParaRPr lang="en-US" sz="1400" dirty="0"/>
          </a:p>
          <a:p>
            <a:pPr marL="0" indent="0">
              <a:spcAft>
                <a:spcPts val="400"/>
              </a:spcAft>
              <a:buNone/>
            </a:pPr>
            <a:r>
              <a:rPr lang="en-US" sz="1150" dirty="0">
                <a:solidFill>
                  <a:srgbClr val="111318"/>
                </a:solidFill>
                <a:latin typeface="Calibri" pitchFamily="34" charset="0"/>
                <a:ea typeface="Calibri" pitchFamily="34" charset="-122"/>
                <a:cs typeface="Calibri" pitchFamily="34" charset="-120"/>
              </a:rPr>
              <a:t>It used to be: can you write the code? Now it is: can you describe what you want, and can you tell whether you got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2 · WHAT IT IS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05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Think of it as hiring a personal shopper</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2 What it is</a:t>
            </a:r>
            <a:endParaRPr lang="en-US" sz="750" dirty="0"/>
          </a:p>
        </p:txBody>
      </p:sp>
      <p:sp>
        <p:nvSpPr>
          <p:cNvPr id="7" name="Shape 5"/>
          <p:cNvSpPr/>
          <p:nvPr/>
        </p:nvSpPr>
        <p:spPr>
          <a:xfrm>
            <a:off x="2243938" y="4919472"/>
            <a:ext cx="740664" cy="27432"/>
          </a:xfrm>
          <a:prstGeom prst="rect">
            <a:avLst/>
          </a:prstGeom>
          <a:solidFill>
            <a:srgbClr val="C8F236"/>
          </a:solidFill>
          <a:ln w="12700">
            <a:solidFill>
              <a:srgbClr val="C8F236"/>
            </a:solidFill>
            <a:prstDash val="solid"/>
          </a:ln>
        </p:spPr>
        <p:txBody>
          <a:bodyPr/>
          <a:lstStyle/>
          <a:p>
            <a:endParaRPr lang="en-US"/>
          </a:p>
        </p:txBody>
      </p:sp>
      <p:sp>
        <p:nvSpPr>
          <p:cNvPr id="8" name="Text 6"/>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234440"/>
            <a:ext cx="2560320" cy="2377440"/>
          </a:xfrm>
          <a:prstGeom prst="roundRect">
            <a:avLst>
              <a:gd name="adj" fmla="val 3077"/>
            </a:avLst>
          </a:prstGeom>
          <a:solidFill>
            <a:srgbClr val="F3F4F6"/>
          </a:solidFill>
          <a:ln w="12700">
            <a:solidFill>
              <a:srgbClr val="F3F4F6"/>
            </a:solidFill>
            <a:prstDash val="solid"/>
          </a:ln>
        </p:spPr>
        <p:txBody>
          <a:bodyPr/>
          <a:lstStyle/>
          <a:p>
            <a:endParaRPr lang="en-US"/>
          </a:p>
        </p:txBody>
      </p:sp>
      <p:sp>
        <p:nvSpPr>
          <p:cNvPr id="17" name="Text 14"/>
          <p:cNvSpPr txBox="1"/>
          <p:nvPr/>
        </p:nvSpPr>
        <p:spPr>
          <a:xfrm>
            <a:off x="731520" y="1325880"/>
            <a:ext cx="914400" cy="274320"/>
          </a:xfrm>
          <a:prstGeom prst="rect">
            <a:avLst/>
          </a:prstGeom>
          <a:noFill/>
          <a:ln/>
        </p:spPr>
        <p:txBody>
          <a:bodyPr wrap="square" lIns="0" tIns="0" rIns="0" bIns="0" rtlCol="0" anchor="t"/>
          <a:lstStyle/>
          <a:p>
            <a:pPr marL="0" indent="0">
              <a:buNone/>
            </a:pPr>
            <a:r>
              <a:rPr lang="en-US" sz="1000" dirty="0">
                <a:solidFill>
                  <a:srgbClr val="6B7280"/>
                </a:solidFill>
                <a:latin typeface="Courier New" pitchFamily="34" charset="0"/>
                <a:ea typeface="Courier New" pitchFamily="34" charset="-122"/>
                <a:cs typeface="Courier New" pitchFamily="34" charset="-120"/>
              </a:rPr>
              <a:t>01</a:t>
            </a:r>
            <a:endParaRPr lang="en-US" sz="1000" dirty="0"/>
          </a:p>
        </p:txBody>
      </p:sp>
      <p:sp>
        <p:nvSpPr>
          <p:cNvPr id="18" name="Text 15"/>
          <p:cNvSpPr txBox="1"/>
          <p:nvPr/>
        </p:nvSpPr>
        <p:spPr>
          <a:xfrm>
            <a:off x="731520" y="1600200"/>
            <a:ext cx="2194560" cy="365760"/>
          </a:xfrm>
          <a:prstGeom prst="rect">
            <a:avLst/>
          </a:prstGeom>
          <a:noFill/>
          <a:ln/>
        </p:spPr>
        <p:txBody>
          <a:bodyPr wrap="square" lIns="0" tIns="0" rIns="0" bIns="0" rtlCol="0" anchor="t"/>
          <a:lstStyle/>
          <a:p>
            <a:pPr marL="0" indent="0">
              <a:buNone/>
            </a:pPr>
            <a:r>
              <a:rPr lang="en-US" sz="1700" b="1" dirty="0">
                <a:solidFill>
                  <a:srgbClr val="111318"/>
                </a:solidFill>
                <a:latin typeface="Cambria" pitchFamily="34" charset="0"/>
                <a:ea typeface="Cambria" pitchFamily="34" charset="-122"/>
                <a:cs typeface="Cambria" pitchFamily="34" charset="-120"/>
              </a:rPr>
              <a:t>Your brief</a:t>
            </a:r>
            <a:endParaRPr lang="en-US" sz="1700" dirty="0"/>
          </a:p>
        </p:txBody>
      </p:sp>
      <p:sp>
        <p:nvSpPr>
          <p:cNvPr id="19" name="Text 16"/>
          <p:cNvSpPr txBox="1"/>
          <p:nvPr/>
        </p:nvSpPr>
        <p:spPr>
          <a:xfrm>
            <a:off x="731520" y="2057400"/>
            <a:ext cx="2194560" cy="640080"/>
          </a:xfrm>
          <a:prstGeom prst="rect">
            <a:avLst/>
          </a:prstGeom>
          <a:noFill/>
          <a:ln/>
        </p:spPr>
        <p:txBody>
          <a:bodyPr wrap="square" lIns="0" tIns="0" rIns="0" bIns="0" rtlCol="0" anchor="t"/>
          <a:lstStyle/>
          <a:p>
            <a:pPr marL="0" indent="0">
              <a:buNone/>
            </a:pPr>
            <a:r>
              <a:rPr lang="en-US" sz="1200" i="1" dirty="0">
                <a:solidFill>
                  <a:srgbClr val="111318"/>
                </a:solidFill>
                <a:latin typeface="Calibri" pitchFamily="34" charset="0"/>
                <a:ea typeface="Calibri" pitchFamily="34" charset="-122"/>
                <a:cs typeface="Calibri" pitchFamily="34" charset="-120"/>
              </a:rPr>
              <a:t>"A relaxed outfit for a hot afternoon."</a:t>
            </a:r>
            <a:endParaRPr lang="en-US" sz="1200" dirty="0"/>
          </a:p>
        </p:txBody>
      </p:sp>
      <p:sp>
        <p:nvSpPr>
          <p:cNvPr id="20" name="Text 17"/>
          <p:cNvSpPr txBox="1"/>
          <p:nvPr/>
        </p:nvSpPr>
        <p:spPr>
          <a:xfrm>
            <a:off x="731520" y="2788920"/>
            <a:ext cx="2194560" cy="7315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In software: "a calm one-page site for a founder dinner."</a:t>
            </a:r>
            <a:endParaRPr lang="en-US" sz="1150" dirty="0"/>
          </a:p>
        </p:txBody>
      </p:sp>
      <p:sp>
        <p:nvSpPr>
          <p:cNvPr id="21" name="Shape 18"/>
          <p:cNvSpPr/>
          <p:nvPr/>
        </p:nvSpPr>
        <p:spPr>
          <a:xfrm>
            <a:off x="3291840" y="1234440"/>
            <a:ext cx="2560320" cy="2377440"/>
          </a:xfrm>
          <a:prstGeom prst="roundRect">
            <a:avLst>
              <a:gd name="adj" fmla="val 3077"/>
            </a:avLst>
          </a:prstGeom>
          <a:solidFill>
            <a:srgbClr val="F3F4F6"/>
          </a:solidFill>
          <a:ln w="12700">
            <a:solidFill>
              <a:srgbClr val="F3F4F6"/>
            </a:solidFill>
            <a:prstDash val="solid"/>
          </a:ln>
        </p:spPr>
        <p:txBody>
          <a:bodyPr/>
          <a:lstStyle/>
          <a:p>
            <a:endParaRPr lang="en-US"/>
          </a:p>
        </p:txBody>
      </p:sp>
      <p:sp>
        <p:nvSpPr>
          <p:cNvPr id="22" name="Text 19"/>
          <p:cNvSpPr txBox="1"/>
          <p:nvPr/>
        </p:nvSpPr>
        <p:spPr>
          <a:xfrm>
            <a:off x="3474720" y="1325880"/>
            <a:ext cx="914400" cy="274320"/>
          </a:xfrm>
          <a:prstGeom prst="rect">
            <a:avLst/>
          </a:prstGeom>
          <a:noFill/>
          <a:ln/>
        </p:spPr>
        <p:txBody>
          <a:bodyPr wrap="square" lIns="0" tIns="0" rIns="0" bIns="0" rtlCol="0" anchor="t"/>
          <a:lstStyle/>
          <a:p>
            <a:pPr marL="0" indent="0">
              <a:buNone/>
            </a:pPr>
            <a:r>
              <a:rPr lang="en-US" sz="1000" dirty="0">
                <a:solidFill>
                  <a:srgbClr val="6B7280"/>
                </a:solidFill>
                <a:latin typeface="Courier New" pitchFamily="34" charset="0"/>
                <a:ea typeface="Courier New" pitchFamily="34" charset="-122"/>
                <a:cs typeface="Courier New" pitchFamily="34" charset="-120"/>
              </a:rPr>
              <a:t>02</a:t>
            </a:r>
            <a:endParaRPr lang="en-US" sz="1000" dirty="0"/>
          </a:p>
        </p:txBody>
      </p:sp>
      <p:sp>
        <p:nvSpPr>
          <p:cNvPr id="23" name="Text 20"/>
          <p:cNvSpPr txBox="1"/>
          <p:nvPr/>
        </p:nvSpPr>
        <p:spPr>
          <a:xfrm>
            <a:off x="3474720" y="1600200"/>
            <a:ext cx="2194560" cy="365760"/>
          </a:xfrm>
          <a:prstGeom prst="rect">
            <a:avLst/>
          </a:prstGeom>
          <a:noFill/>
          <a:ln/>
        </p:spPr>
        <p:txBody>
          <a:bodyPr wrap="square" lIns="0" tIns="0" rIns="0" bIns="0" rtlCol="0" anchor="t"/>
          <a:lstStyle/>
          <a:p>
            <a:pPr marL="0" indent="0">
              <a:buNone/>
            </a:pPr>
            <a:r>
              <a:rPr lang="en-US" sz="1700" b="1" dirty="0">
                <a:solidFill>
                  <a:srgbClr val="111318"/>
                </a:solidFill>
                <a:latin typeface="Cambria" pitchFamily="34" charset="0"/>
                <a:ea typeface="Cambria" pitchFamily="34" charset="-122"/>
                <a:cs typeface="Cambria" pitchFamily="34" charset="-120"/>
              </a:rPr>
              <a:t>Their draft</a:t>
            </a:r>
            <a:endParaRPr lang="en-US" sz="1700" dirty="0"/>
          </a:p>
        </p:txBody>
      </p:sp>
      <p:sp>
        <p:nvSpPr>
          <p:cNvPr id="24" name="Text 21"/>
          <p:cNvSpPr txBox="1"/>
          <p:nvPr/>
        </p:nvSpPr>
        <p:spPr>
          <a:xfrm>
            <a:off x="3474720" y="2057400"/>
            <a:ext cx="2194560" cy="640080"/>
          </a:xfrm>
          <a:prstGeom prst="rect">
            <a:avLst/>
          </a:prstGeom>
          <a:noFill/>
          <a:ln/>
        </p:spPr>
        <p:txBody>
          <a:bodyPr wrap="square" lIns="0" tIns="0" rIns="0" bIns="0" rtlCol="0" anchor="t"/>
          <a:lstStyle/>
          <a:p>
            <a:pPr marL="0" indent="0">
              <a:buNone/>
            </a:pPr>
            <a:r>
              <a:rPr lang="en-US" sz="1200" i="1" dirty="0">
                <a:solidFill>
                  <a:srgbClr val="111318"/>
                </a:solidFill>
                <a:latin typeface="Calibri" pitchFamily="34" charset="0"/>
                <a:ea typeface="Calibri" pitchFamily="34" charset="-122"/>
                <a:cs typeface="Calibri" pitchFamily="34" charset="-120"/>
              </a:rPr>
              <a:t>They pick a first combination for you.</a:t>
            </a:r>
            <a:endParaRPr lang="en-US" sz="1200" dirty="0"/>
          </a:p>
        </p:txBody>
      </p:sp>
      <p:sp>
        <p:nvSpPr>
          <p:cNvPr id="25" name="Text 22"/>
          <p:cNvSpPr txBox="1"/>
          <p:nvPr/>
        </p:nvSpPr>
        <p:spPr>
          <a:xfrm>
            <a:off x="3474720" y="2788920"/>
            <a:ext cx="2194560" cy="7315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The AI generates a first runnable version.</a:t>
            </a:r>
            <a:endParaRPr lang="en-US" sz="1150" dirty="0"/>
          </a:p>
        </p:txBody>
      </p:sp>
      <p:sp>
        <p:nvSpPr>
          <p:cNvPr id="26" name="Shape 23"/>
          <p:cNvSpPr/>
          <p:nvPr/>
        </p:nvSpPr>
        <p:spPr>
          <a:xfrm>
            <a:off x="6035040" y="1234440"/>
            <a:ext cx="2560320" cy="2377440"/>
          </a:xfrm>
          <a:prstGeom prst="roundRect">
            <a:avLst>
              <a:gd name="adj" fmla="val 3077"/>
            </a:avLst>
          </a:prstGeom>
          <a:solidFill>
            <a:srgbClr val="F3F4F6"/>
          </a:solidFill>
          <a:ln w="12700">
            <a:solidFill>
              <a:srgbClr val="F3F4F6"/>
            </a:solidFill>
            <a:prstDash val="solid"/>
          </a:ln>
        </p:spPr>
        <p:txBody>
          <a:bodyPr/>
          <a:lstStyle/>
          <a:p>
            <a:endParaRPr lang="en-US"/>
          </a:p>
        </p:txBody>
      </p:sp>
      <p:sp>
        <p:nvSpPr>
          <p:cNvPr id="27" name="Text 24"/>
          <p:cNvSpPr txBox="1"/>
          <p:nvPr/>
        </p:nvSpPr>
        <p:spPr>
          <a:xfrm>
            <a:off x="6217920" y="1325880"/>
            <a:ext cx="914400" cy="274320"/>
          </a:xfrm>
          <a:prstGeom prst="rect">
            <a:avLst/>
          </a:prstGeom>
          <a:noFill/>
          <a:ln/>
        </p:spPr>
        <p:txBody>
          <a:bodyPr wrap="square" lIns="0" tIns="0" rIns="0" bIns="0" rtlCol="0" anchor="t"/>
          <a:lstStyle/>
          <a:p>
            <a:pPr marL="0" indent="0">
              <a:buNone/>
            </a:pPr>
            <a:r>
              <a:rPr lang="en-US" sz="1000" dirty="0">
                <a:solidFill>
                  <a:srgbClr val="6B7280"/>
                </a:solidFill>
                <a:latin typeface="Courier New" pitchFamily="34" charset="0"/>
                <a:ea typeface="Courier New" pitchFamily="34" charset="-122"/>
                <a:cs typeface="Courier New" pitchFamily="34" charset="-120"/>
              </a:rPr>
              <a:t>03</a:t>
            </a:r>
            <a:endParaRPr lang="en-US" sz="1000" dirty="0"/>
          </a:p>
        </p:txBody>
      </p:sp>
      <p:sp>
        <p:nvSpPr>
          <p:cNvPr id="28" name="Text 25"/>
          <p:cNvSpPr txBox="1"/>
          <p:nvPr/>
        </p:nvSpPr>
        <p:spPr>
          <a:xfrm>
            <a:off x="6217920" y="1600200"/>
            <a:ext cx="2194560" cy="365760"/>
          </a:xfrm>
          <a:prstGeom prst="rect">
            <a:avLst/>
          </a:prstGeom>
          <a:noFill/>
          <a:ln/>
        </p:spPr>
        <p:txBody>
          <a:bodyPr wrap="square" lIns="0" tIns="0" rIns="0" bIns="0" rtlCol="0" anchor="t"/>
          <a:lstStyle/>
          <a:p>
            <a:pPr marL="0" indent="0">
              <a:buNone/>
            </a:pPr>
            <a:r>
              <a:rPr lang="en-US" sz="1700" b="1" dirty="0">
                <a:solidFill>
                  <a:srgbClr val="111318"/>
                </a:solidFill>
                <a:latin typeface="Cambria" pitchFamily="34" charset="0"/>
                <a:ea typeface="Cambria" pitchFamily="34" charset="-122"/>
                <a:cs typeface="Cambria" pitchFamily="34" charset="-120"/>
              </a:rPr>
              <a:t>Your feedback</a:t>
            </a:r>
            <a:endParaRPr lang="en-US" sz="1700" dirty="0"/>
          </a:p>
        </p:txBody>
      </p:sp>
      <p:sp>
        <p:nvSpPr>
          <p:cNvPr id="29" name="Text 26"/>
          <p:cNvSpPr txBox="1"/>
          <p:nvPr/>
        </p:nvSpPr>
        <p:spPr>
          <a:xfrm>
            <a:off x="6217920" y="2057400"/>
            <a:ext cx="2194560" cy="640080"/>
          </a:xfrm>
          <a:prstGeom prst="rect">
            <a:avLst/>
          </a:prstGeom>
          <a:noFill/>
          <a:ln/>
        </p:spPr>
        <p:txBody>
          <a:bodyPr wrap="square" lIns="0" tIns="0" rIns="0" bIns="0" rtlCol="0" anchor="t"/>
          <a:lstStyle/>
          <a:p>
            <a:pPr marL="0" indent="0">
              <a:buNone/>
            </a:pPr>
            <a:r>
              <a:rPr lang="en-US" sz="1200" i="1" dirty="0">
                <a:solidFill>
                  <a:srgbClr val="111318"/>
                </a:solidFill>
                <a:latin typeface="Calibri" pitchFamily="34" charset="0"/>
                <a:ea typeface="Calibri" pitchFamily="34" charset="-122"/>
                <a:cs typeface="Calibri" pitchFamily="34" charset="-120"/>
              </a:rPr>
              <a:t>"Lighter colours. Less formal."</a:t>
            </a:r>
            <a:endParaRPr lang="en-US" sz="1200" dirty="0"/>
          </a:p>
        </p:txBody>
      </p:sp>
      <p:sp>
        <p:nvSpPr>
          <p:cNvPr id="30" name="Text 27"/>
          <p:cNvSpPr txBox="1"/>
          <p:nvPr/>
        </p:nvSpPr>
        <p:spPr>
          <a:xfrm>
            <a:off x="6217920" y="2788920"/>
            <a:ext cx="2194560" cy="7315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"Simpler layout. Make the RSVP button obvious."</a:t>
            </a:r>
            <a:endParaRPr lang="en-US" sz="1150" dirty="0"/>
          </a:p>
        </p:txBody>
      </p:sp>
      <p:sp>
        <p:nvSpPr>
          <p:cNvPr id="31" name="Shape 28"/>
          <p:cNvSpPr/>
          <p:nvPr/>
        </p:nvSpPr>
        <p:spPr>
          <a:xfrm>
            <a:off x="548640" y="3749040"/>
            <a:ext cx="8046720" cy="658368"/>
          </a:xfrm>
          <a:prstGeom prst="roundRect">
            <a:avLst>
              <a:gd name="adj" fmla="val 11111"/>
            </a:avLst>
          </a:prstGeom>
          <a:solidFill>
            <a:srgbClr val="0F1114"/>
          </a:solidFill>
          <a:ln w="12700">
            <a:solidFill>
              <a:srgbClr val="0F1114"/>
            </a:solidFill>
            <a:prstDash val="solid"/>
          </a:ln>
        </p:spPr>
        <p:txBody>
          <a:bodyPr/>
          <a:lstStyle/>
          <a:p>
            <a:endParaRPr lang="en-US"/>
          </a:p>
        </p:txBody>
      </p:sp>
      <p:sp>
        <p:nvSpPr>
          <p:cNvPr id="32" name="Text 29"/>
          <p:cNvSpPr txBox="1"/>
          <p:nvPr/>
        </p:nvSpPr>
        <p:spPr>
          <a:xfrm>
            <a:off x="731520" y="3749040"/>
            <a:ext cx="7680960" cy="65836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The shopper handles sizing, brands, and stock. The AI handles syntax, layout, and libraries. </a:t>
            </a:r>
            <a:r>
              <a:rPr lang="en-US" sz="1200" b="1" dirty="0">
                <a:solidFill>
                  <a:srgbClr val="C8F236"/>
                </a:solidFill>
                <a:latin typeface="Calibri" pitchFamily="34" charset="0"/>
                <a:ea typeface="Calibri" pitchFamily="34" charset="-122"/>
                <a:cs typeface="Calibri" pitchFamily="34" charset="-120"/>
              </a:rPr>
              <a:t>Your taste and the final call stay yours.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2 · WHAT IT IS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06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Why now</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2 What it is</a:t>
            </a:r>
            <a:endParaRPr lang="en-US" sz="750" dirty="0"/>
          </a:p>
        </p:txBody>
      </p:sp>
      <p:sp>
        <p:nvSpPr>
          <p:cNvPr id="7" name="Shape 5"/>
          <p:cNvSpPr/>
          <p:nvPr/>
        </p:nvSpPr>
        <p:spPr>
          <a:xfrm>
            <a:off x="2243938" y="4919472"/>
            <a:ext cx="740664" cy="27432"/>
          </a:xfrm>
          <a:prstGeom prst="rect">
            <a:avLst/>
          </a:prstGeom>
          <a:solidFill>
            <a:srgbClr val="C8F236"/>
          </a:solidFill>
          <a:ln w="12700">
            <a:solidFill>
              <a:srgbClr val="C8F236"/>
            </a:solidFill>
            <a:prstDash val="solid"/>
          </a:ln>
        </p:spPr>
        <p:txBody>
          <a:bodyPr/>
          <a:lstStyle/>
          <a:p>
            <a:endParaRPr lang="en-US"/>
          </a:p>
        </p:txBody>
      </p:sp>
      <p:sp>
        <p:nvSpPr>
          <p:cNvPr id="8" name="Text 6"/>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280160"/>
            <a:ext cx="594360" cy="594360"/>
          </a:xfrm>
          <a:prstGeom prst="ellipse">
            <a:avLst/>
          </a:prstGeom>
          <a:solidFill>
            <a:srgbClr val="E9EBEF"/>
          </a:solidFill>
          <a:ln w="12700">
            <a:solidFill>
              <a:srgbClr val="E9EBEF"/>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703174" y="1434694"/>
            <a:ext cx="285293" cy="285293"/>
          </a:xfrm>
          <a:prstGeom prst="rect">
            <a:avLst/>
          </a:prstGeom>
        </p:spPr>
      </p:pic>
      <p:sp>
        <p:nvSpPr>
          <p:cNvPr id="18" name="Text 14"/>
          <p:cNvSpPr txBox="1"/>
          <p:nvPr/>
        </p:nvSpPr>
        <p:spPr>
          <a:xfrm>
            <a:off x="1325880" y="1188720"/>
            <a:ext cx="4023360" cy="914400"/>
          </a:xfrm>
          <a:prstGeom prst="rect">
            <a:avLst/>
          </a:prstGeom>
          <a:noFill/>
          <a:ln/>
        </p:spPr>
        <p:txBody>
          <a:bodyPr wrap="square" lIns="0" tIns="0" rIns="0" bIns="0" rtlCol="0" anchor="t"/>
          <a:lstStyle/>
          <a:p>
            <a:pPr marL="0" indent="0">
              <a:spcAft>
                <a:spcPts val="400"/>
              </a:spcAft>
              <a:buNone/>
            </a:pPr>
            <a:r>
              <a:rPr lang="en-US" sz="1500" b="1" dirty="0">
                <a:solidFill>
                  <a:srgbClr val="111318"/>
                </a:solidFill>
                <a:latin typeface="Calibri" pitchFamily="34" charset="0"/>
                <a:ea typeface="Calibri" pitchFamily="34" charset="-122"/>
                <a:cs typeface="Calibri" pitchFamily="34" charset="-120"/>
              </a:rPr>
              <a:t>The models got good at long tasks</a:t>
            </a:r>
            <a:endParaRPr lang="en-US" sz="1500" dirty="0"/>
          </a:p>
          <a:p>
            <a:pPr marL="0" indent="0">
              <a:spcAft>
                <a:spcPts val="400"/>
              </a:spcAft>
              <a:buNone/>
            </a:pPr>
            <a:r>
              <a:rPr lang="en-US" sz="1200" dirty="0">
                <a:solidFill>
                  <a:srgbClr val="6B7280"/>
                </a:solidFill>
                <a:latin typeface="Calibri" pitchFamily="34" charset="0"/>
                <a:ea typeface="Calibri" pitchFamily="34" charset="-122"/>
                <a:cs typeface="Calibri" pitchFamily="34" charset="-120"/>
              </a:rPr>
              <a:t>A whole feature, start to finish. Not one function at a time.</a:t>
            </a:r>
            <a:endParaRPr lang="en-US" sz="1500" dirty="0"/>
          </a:p>
        </p:txBody>
      </p:sp>
      <p:sp>
        <p:nvSpPr>
          <p:cNvPr id="19" name="Shape 15"/>
          <p:cNvSpPr/>
          <p:nvPr/>
        </p:nvSpPr>
        <p:spPr>
          <a:xfrm>
            <a:off x="548640" y="2331720"/>
            <a:ext cx="594360" cy="594360"/>
          </a:xfrm>
          <a:prstGeom prst="ellipse">
            <a:avLst/>
          </a:prstGeom>
          <a:solidFill>
            <a:srgbClr val="E9EBEF"/>
          </a:solidFill>
          <a:ln w="12700">
            <a:solidFill>
              <a:srgbClr val="E9EBEF"/>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703174" y="2486254"/>
            <a:ext cx="285293" cy="285293"/>
          </a:xfrm>
          <a:prstGeom prst="rect">
            <a:avLst/>
          </a:prstGeom>
        </p:spPr>
      </p:pic>
      <p:sp>
        <p:nvSpPr>
          <p:cNvPr id="21" name="Text 16"/>
          <p:cNvSpPr txBox="1"/>
          <p:nvPr/>
        </p:nvSpPr>
        <p:spPr>
          <a:xfrm>
            <a:off x="1325880" y="2240280"/>
            <a:ext cx="4023360" cy="914400"/>
          </a:xfrm>
          <a:prstGeom prst="rect">
            <a:avLst/>
          </a:prstGeom>
          <a:noFill/>
          <a:ln/>
        </p:spPr>
        <p:txBody>
          <a:bodyPr wrap="square" lIns="0" tIns="0" rIns="0" bIns="0" rtlCol="0" anchor="t"/>
          <a:lstStyle/>
          <a:p>
            <a:pPr marL="0" indent="0">
              <a:spcAft>
                <a:spcPts val="400"/>
              </a:spcAft>
              <a:buNone/>
            </a:pPr>
            <a:r>
              <a:rPr lang="en-US" sz="1500" b="1" dirty="0">
                <a:solidFill>
                  <a:srgbClr val="111318"/>
                </a:solidFill>
                <a:latin typeface="Calibri" pitchFamily="34" charset="0"/>
                <a:ea typeface="Calibri" pitchFamily="34" charset="-122"/>
                <a:cs typeface="Calibri" pitchFamily="34" charset="-120"/>
              </a:rPr>
              <a:t>The agents got hands</a:t>
            </a:r>
            <a:endParaRPr lang="en-US" sz="1500" dirty="0"/>
          </a:p>
          <a:p>
            <a:pPr marL="0" indent="0">
              <a:spcAft>
                <a:spcPts val="400"/>
              </a:spcAft>
              <a:buNone/>
            </a:pPr>
            <a:r>
              <a:rPr lang="en-US" sz="1200" dirty="0">
                <a:solidFill>
                  <a:srgbClr val="6B7280"/>
                </a:solidFill>
                <a:latin typeface="Calibri" pitchFamily="34" charset="0"/>
                <a:ea typeface="Calibri" pitchFamily="34" charset="-122"/>
                <a:cs typeface="Calibri" pitchFamily="34" charset="-120"/>
              </a:rPr>
              <a:t>They run your code, open a browser, read the error, and deploy.</a:t>
            </a:r>
            <a:endParaRPr lang="en-US" sz="1500" dirty="0"/>
          </a:p>
        </p:txBody>
      </p:sp>
      <p:sp>
        <p:nvSpPr>
          <p:cNvPr id="22" name="Shape 17"/>
          <p:cNvSpPr/>
          <p:nvPr/>
        </p:nvSpPr>
        <p:spPr>
          <a:xfrm>
            <a:off x="548640" y="3383280"/>
            <a:ext cx="594360" cy="594360"/>
          </a:xfrm>
          <a:prstGeom prst="ellipse">
            <a:avLst/>
          </a:prstGeom>
          <a:solidFill>
            <a:srgbClr val="E9EBEF"/>
          </a:solidFill>
          <a:ln w="12700">
            <a:solidFill>
              <a:srgbClr val="E9EBE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03174" y="3537814"/>
            <a:ext cx="285293" cy="285293"/>
          </a:xfrm>
          <a:prstGeom prst="rect">
            <a:avLst/>
          </a:prstGeom>
        </p:spPr>
      </p:pic>
      <p:sp>
        <p:nvSpPr>
          <p:cNvPr id="24" name="Text 18"/>
          <p:cNvSpPr txBox="1"/>
          <p:nvPr/>
        </p:nvSpPr>
        <p:spPr>
          <a:xfrm>
            <a:off x="1325880" y="3291840"/>
            <a:ext cx="4023360" cy="914400"/>
          </a:xfrm>
          <a:prstGeom prst="rect">
            <a:avLst/>
          </a:prstGeom>
          <a:noFill/>
          <a:ln/>
        </p:spPr>
        <p:txBody>
          <a:bodyPr wrap="square" lIns="0" tIns="0" rIns="0" bIns="0" rtlCol="0" anchor="t"/>
          <a:lstStyle/>
          <a:p>
            <a:pPr marL="0" indent="0">
              <a:spcAft>
                <a:spcPts val="400"/>
              </a:spcAft>
              <a:buNone/>
            </a:pPr>
            <a:r>
              <a:rPr lang="en-US" sz="1500" b="1" dirty="0">
                <a:solidFill>
                  <a:srgbClr val="111318"/>
                </a:solidFill>
                <a:latin typeface="Calibri" pitchFamily="34" charset="0"/>
                <a:ea typeface="Calibri" pitchFamily="34" charset="-122"/>
                <a:cs typeface="Calibri" pitchFamily="34" charset="-120"/>
              </a:rPr>
              <a:t>It got cheap</a:t>
            </a:r>
            <a:endParaRPr lang="en-US" sz="1500" dirty="0"/>
          </a:p>
          <a:p>
            <a:pPr marL="0" indent="0">
              <a:spcAft>
                <a:spcPts val="400"/>
              </a:spcAft>
              <a:buNone/>
            </a:pPr>
            <a:r>
              <a:rPr lang="en-US" sz="1200" dirty="0">
                <a:solidFill>
                  <a:srgbClr val="6B7280"/>
                </a:solidFill>
                <a:latin typeface="Calibri" pitchFamily="34" charset="0"/>
                <a:ea typeface="Calibri" pitchFamily="34" charset="-122"/>
                <a:cs typeface="Calibri" pitchFamily="34" charset="-120"/>
              </a:rPr>
              <a:t>A working prototype costs less than the coffee you drink while it builds.</a:t>
            </a:r>
            <a:endParaRPr lang="en-US" sz="1500" dirty="0"/>
          </a:p>
        </p:txBody>
      </p:sp>
      <p:sp>
        <p:nvSpPr>
          <p:cNvPr id="25" name="Shape 19"/>
          <p:cNvSpPr/>
          <p:nvPr/>
        </p:nvSpPr>
        <p:spPr>
          <a:xfrm>
            <a:off x="5669280" y="1188720"/>
            <a:ext cx="2926080" cy="3154680"/>
          </a:xfrm>
          <a:prstGeom prst="roundRect">
            <a:avLst>
              <a:gd name="adj" fmla="val 2500"/>
            </a:avLst>
          </a:prstGeom>
          <a:solidFill>
            <a:srgbClr val="0F1114"/>
          </a:solidFill>
          <a:ln w="12700">
            <a:solidFill>
              <a:srgbClr val="0F1114"/>
            </a:solidFill>
            <a:prstDash val="solid"/>
          </a:ln>
        </p:spPr>
        <p:txBody>
          <a:bodyPr/>
          <a:lstStyle/>
          <a:p>
            <a:endParaRPr lang="en-US"/>
          </a:p>
        </p:txBody>
      </p:sp>
      <p:sp>
        <p:nvSpPr>
          <p:cNvPr id="26" name="Text 20"/>
          <p:cNvSpPr txBox="1"/>
          <p:nvPr/>
        </p:nvSpPr>
        <p:spPr>
          <a:xfrm>
            <a:off x="5852160" y="1325880"/>
            <a:ext cx="2560320" cy="1188720"/>
          </a:xfrm>
          <a:prstGeom prst="rect">
            <a:avLst/>
          </a:prstGeom>
          <a:noFill/>
          <a:ln/>
        </p:spPr>
        <p:txBody>
          <a:bodyPr wrap="square" lIns="0" tIns="0" rIns="0" bIns="0" rtlCol="0" anchor="ctr"/>
          <a:lstStyle/>
          <a:p>
            <a:pPr marL="0" indent="0">
              <a:buNone/>
            </a:pPr>
            <a:r>
              <a:rPr lang="en-US" sz="6400" b="1" dirty="0">
                <a:solidFill>
                  <a:srgbClr val="C8F236"/>
                </a:solidFill>
                <a:latin typeface="Cambria" pitchFamily="34" charset="0"/>
                <a:ea typeface="Cambria" pitchFamily="34" charset="-122"/>
                <a:cs typeface="Cambria" pitchFamily="34" charset="-120"/>
              </a:rPr>
              <a:t>25%</a:t>
            </a:r>
            <a:endParaRPr lang="en-US" sz="6400" dirty="0"/>
          </a:p>
        </p:txBody>
      </p:sp>
      <p:sp>
        <p:nvSpPr>
          <p:cNvPr id="27" name="Text 21"/>
          <p:cNvSpPr txBox="1"/>
          <p:nvPr/>
        </p:nvSpPr>
        <p:spPr>
          <a:xfrm>
            <a:off x="5852160" y="2606040"/>
            <a:ext cx="2560320" cy="11887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of Y Combinator's Winter 2025 startups said about 95 percent of their code was AI-written.</a:t>
            </a:r>
            <a:endParaRPr lang="en-US" sz="1300" dirty="0"/>
          </a:p>
        </p:txBody>
      </p:sp>
      <p:sp>
        <p:nvSpPr>
          <p:cNvPr id="28" name="Text 22"/>
          <p:cNvSpPr txBox="1"/>
          <p:nvPr/>
        </p:nvSpPr>
        <p:spPr>
          <a:xfrm>
            <a:off x="5852160" y="3749040"/>
            <a:ext cx="2560320" cy="502920"/>
          </a:xfrm>
          <a:prstGeom prst="rect">
            <a:avLst/>
          </a:prstGeom>
          <a:noFill/>
          <a:ln/>
        </p:spPr>
        <p:txBody>
          <a:bodyPr wrap="square" lIns="0" tIns="0" rIns="0" bIns="0" rtlCol="0" anchor="t"/>
          <a:lstStyle/>
          <a:p>
            <a:pPr marL="0" indent="0">
              <a:buNone/>
            </a:pPr>
            <a:r>
              <a:rPr lang="en-US" sz="1100" i="1" dirty="0">
                <a:solidFill>
                  <a:srgbClr val="9CA3AF"/>
                </a:solidFill>
                <a:latin typeface="Calibri" pitchFamily="34" charset="0"/>
                <a:ea typeface="Calibri" pitchFamily="34" charset="-122"/>
                <a:cs typeface="Calibri" pitchFamily="34" charset="-120"/>
              </a:rPr>
              <a:t>Funded companies, not hobby projects. Over a year ago.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2 · WHAT IT IS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07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It is a dial, not a switch</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2 What it is</a:t>
            </a:r>
            <a:endParaRPr lang="en-US" sz="750" dirty="0"/>
          </a:p>
        </p:txBody>
      </p:sp>
      <p:sp>
        <p:nvSpPr>
          <p:cNvPr id="7" name="Shape 5"/>
          <p:cNvSpPr/>
          <p:nvPr/>
        </p:nvSpPr>
        <p:spPr>
          <a:xfrm>
            <a:off x="2243938" y="4919472"/>
            <a:ext cx="740664" cy="27432"/>
          </a:xfrm>
          <a:prstGeom prst="rect">
            <a:avLst/>
          </a:prstGeom>
          <a:solidFill>
            <a:srgbClr val="C8F236"/>
          </a:solidFill>
          <a:ln w="12700">
            <a:solidFill>
              <a:srgbClr val="C8F236"/>
            </a:solidFill>
            <a:prstDash val="solid"/>
          </a:ln>
        </p:spPr>
        <p:txBody>
          <a:bodyPr/>
          <a:lstStyle/>
          <a:p>
            <a:endParaRPr lang="en-US"/>
          </a:p>
        </p:txBody>
      </p:sp>
      <p:sp>
        <p:nvSpPr>
          <p:cNvPr id="8" name="Text 6"/>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Text 13"/>
          <p:cNvSpPr txBox="1"/>
          <p:nvPr/>
        </p:nvSpPr>
        <p:spPr>
          <a:xfrm>
            <a:off x="548640" y="1234440"/>
            <a:ext cx="2743200" cy="274320"/>
          </a:xfrm>
          <a:prstGeom prst="rect">
            <a:avLst/>
          </a:prstGeom>
          <a:noFill/>
          <a:ln/>
        </p:spPr>
        <p:txBody>
          <a:bodyPr wrap="square" lIns="0" tIns="0" rIns="0" bIns="0" rtlCol="0" anchor="t"/>
          <a:lstStyle/>
          <a:p>
            <a:pPr marL="0" indent="0">
              <a:buNone/>
            </a:pPr>
            <a:r>
              <a:rPr lang="en-US" sz="1000" kern="0" spc="200" dirty="0">
                <a:solidFill>
                  <a:srgbClr val="6B7280"/>
                </a:solidFill>
                <a:latin typeface="Courier New" pitchFamily="34" charset="0"/>
                <a:ea typeface="Courier New" pitchFamily="34" charset="-122"/>
                <a:cs typeface="Courier New" pitchFamily="34" charset="-120"/>
              </a:rPr>
              <a:t>VIBE CODING</a:t>
            </a:r>
            <a:endParaRPr lang="en-US" sz="1000" dirty="0"/>
          </a:p>
        </p:txBody>
      </p:sp>
      <p:sp>
        <p:nvSpPr>
          <p:cNvPr id="17" name="Text 14"/>
          <p:cNvSpPr txBox="1"/>
          <p:nvPr/>
        </p:nvSpPr>
        <p:spPr>
          <a:xfrm>
            <a:off x="5486400" y="1234440"/>
            <a:ext cx="3108960" cy="274320"/>
          </a:xfrm>
          <a:prstGeom prst="rect">
            <a:avLst/>
          </a:prstGeom>
          <a:noFill/>
          <a:ln/>
        </p:spPr>
        <p:txBody>
          <a:bodyPr wrap="square" lIns="0" tIns="0" rIns="0" bIns="0" rtlCol="0" anchor="t"/>
          <a:lstStyle/>
          <a:p>
            <a:pPr marL="0" indent="0" algn="r">
              <a:buNone/>
            </a:pPr>
            <a:r>
              <a:rPr lang="en-US" sz="1000" kern="0" spc="200" dirty="0">
                <a:solidFill>
                  <a:srgbClr val="6B7280"/>
                </a:solidFill>
                <a:latin typeface="Courier New" pitchFamily="34" charset="0"/>
                <a:ea typeface="Courier New" pitchFamily="34" charset="-122"/>
                <a:cs typeface="Courier New" pitchFamily="34" charset="-120"/>
              </a:rPr>
              <a:t>VIBE ENGINEERING</a:t>
            </a:r>
            <a:endParaRPr lang="en-US" sz="1000" dirty="0"/>
          </a:p>
        </p:txBody>
      </p:sp>
      <p:sp>
        <p:nvSpPr>
          <p:cNvPr id="18" name="Shape 15"/>
          <p:cNvSpPr/>
          <p:nvPr/>
        </p:nvSpPr>
        <p:spPr>
          <a:xfrm>
            <a:off x="914400" y="1783080"/>
            <a:ext cx="7315200" cy="0"/>
          </a:xfrm>
          <a:prstGeom prst="line">
            <a:avLst/>
          </a:prstGeom>
          <a:noFill/>
          <a:ln w="50800">
            <a:solidFill>
              <a:srgbClr val="E9EBEF"/>
            </a:solidFill>
            <a:prstDash val="solid"/>
          </a:ln>
        </p:spPr>
        <p:txBody>
          <a:bodyPr/>
          <a:lstStyle/>
          <a:p>
            <a:endParaRPr lang="en-US"/>
          </a:p>
        </p:txBody>
      </p:sp>
      <p:sp>
        <p:nvSpPr>
          <p:cNvPr id="19" name="Shape 16"/>
          <p:cNvSpPr/>
          <p:nvPr/>
        </p:nvSpPr>
        <p:spPr>
          <a:xfrm>
            <a:off x="804672" y="1673352"/>
            <a:ext cx="219456" cy="219456"/>
          </a:xfrm>
          <a:prstGeom prst="ellipse">
            <a:avLst/>
          </a:prstGeom>
          <a:solidFill>
            <a:srgbClr val="111318"/>
          </a:solidFill>
          <a:ln w="12700">
            <a:solidFill>
              <a:srgbClr val="111318"/>
            </a:solidFill>
            <a:prstDash val="solid"/>
          </a:ln>
        </p:spPr>
        <p:txBody>
          <a:bodyPr/>
          <a:lstStyle/>
          <a:p>
            <a:endParaRPr lang="en-US"/>
          </a:p>
        </p:txBody>
      </p:sp>
      <p:sp>
        <p:nvSpPr>
          <p:cNvPr id="20" name="Shape 17"/>
          <p:cNvSpPr/>
          <p:nvPr/>
        </p:nvSpPr>
        <p:spPr>
          <a:xfrm>
            <a:off x="8119872" y="1673352"/>
            <a:ext cx="219456" cy="219456"/>
          </a:xfrm>
          <a:prstGeom prst="ellipse">
            <a:avLst/>
          </a:prstGeom>
          <a:solidFill>
            <a:srgbClr val="111318"/>
          </a:solidFill>
          <a:ln w="12700">
            <a:solidFill>
              <a:srgbClr val="111318"/>
            </a:solidFill>
            <a:prstDash val="solid"/>
          </a:ln>
        </p:spPr>
        <p:txBody>
          <a:bodyPr/>
          <a:lstStyle/>
          <a:p>
            <a:endParaRPr lang="en-US"/>
          </a:p>
        </p:txBody>
      </p:sp>
      <p:sp>
        <p:nvSpPr>
          <p:cNvPr id="21" name="Shape 18"/>
          <p:cNvSpPr/>
          <p:nvPr/>
        </p:nvSpPr>
        <p:spPr>
          <a:xfrm>
            <a:off x="1874520" y="1554480"/>
            <a:ext cx="457200" cy="457200"/>
          </a:xfrm>
          <a:prstGeom prst="ellipse">
            <a:avLst/>
          </a:prstGeom>
          <a:solidFill>
            <a:srgbClr val="C8F236"/>
          </a:solidFill>
          <a:ln w="12700">
            <a:solidFill>
              <a:srgbClr val="C8F236"/>
            </a:solidFill>
            <a:prstDash val="solid"/>
          </a:ln>
        </p:spPr>
        <p:txBody>
          <a:bodyPr/>
          <a:lstStyle/>
          <a:p>
            <a:endParaRPr lang="en-US"/>
          </a:p>
        </p:txBody>
      </p:sp>
      <p:sp>
        <p:nvSpPr>
          <p:cNvPr id="22" name="Text 19"/>
          <p:cNvSpPr txBox="1"/>
          <p:nvPr/>
        </p:nvSpPr>
        <p:spPr>
          <a:xfrm>
            <a:off x="1325880" y="2057400"/>
            <a:ext cx="1554480" cy="274320"/>
          </a:xfrm>
          <a:prstGeom prst="rect">
            <a:avLst/>
          </a:prstGeom>
          <a:noFill/>
          <a:ln/>
        </p:spPr>
        <p:txBody>
          <a:bodyPr wrap="square" lIns="0" tIns="0" rIns="0" bIns="0" rtlCol="0" anchor="t"/>
          <a:lstStyle/>
          <a:p>
            <a:pPr marL="0" indent="0" algn="ctr">
              <a:buNone/>
            </a:pPr>
            <a:r>
              <a:rPr lang="en-US" sz="950" dirty="0">
                <a:solidFill>
                  <a:srgbClr val="111318"/>
                </a:solidFill>
                <a:latin typeface="Courier New" pitchFamily="34" charset="0"/>
                <a:ea typeface="Courier New" pitchFamily="34" charset="-122"/>
                <a:cs typeface="Courier New" pitchFamily="34" charset="-120"/>
              </a:rPr>
              <a:t>you, today</a:t>
            </a:r>
            <a:endParaRPr lang="en-US" sz="950" dirty="0"/>
          </a:p>
        </p:txBody>
      </p:sp>
      <p:sp>
        <p:nvSpPr>
          <p:cNvPr id="23" name="Shape 20"/>
          <p:cNvSpPr/>
          <p:nvPr/>
        </p:nvSpPr>
        <p:spPr>
          <a:xfrm>
            <a:off x="548640" y="2468880"/>
            <a:ext cx="3886200" cy="1508760"/>
          </a:xfrm>
          <a:prstGeom prst="roundRect">
            <a:avLst>
              <a:gd name="adj" fmla="val 4848"/>
            </a:avLst>
          </a:prstGeom>
          <a:solidFill>
            <a:srgbClr val="F3F4F6"/>
          </a:solidFill>
          <a:ln w="12700">
            <a:solidFill>
              <a:srgbClr val="F3F4F6"/>
            </a:solidFill>
            <a:prstDash val="solid"/>
          </a:ln>
        </p:spPr>
        <p:txBody>
          <a:bodyPr/>
          <a:lstStyle/>
          <a:p>
            <a:endParaRPr lang="en-US"/>
          </a:p>
        </p:txBody>
      </p:sp>
      <p:sp>
        <p:nvSpPr>
          <p:cNvPr id="24" name="Text 21"/>
          <p:cNvSpPr txBox="1"/>
          <p:nvPr/>
        </p:nvSpPr>
        <p:spPr>
          <a:xfrm>
            <a:off x="731520" y="2606040"/>
            <a:ext cx="3566160" cy="1280160"/>
          </a:xfrm>
          <a:prstGeom prst="rect">
            <a:avLst/>
          </a:prstGeom>
          <a:noFill/>
          <a:ln/>
        </p:spPr>
        <p:txBody>
          <a:bodyPr wrap="square" lIns="0" tIns="0" rIns="0" bIns="0" rtlCol="0" anchor="t"/>
          <a:lstStyle/>
          <a:p>
            <a:pPr marL="0" indent="0">
              <a:spcAft>
                <a:spcPts val="600"/>
              </a:spcAft>
              <a:buNone/>
            </a:pPr>
            <a:r>
              <a:rPr lang="en-US" sz="1350" b="1" dirty="0">
                <a:solidFill>
                  <a:srgbClr val="111318"/>
                </a:solidFill>
                <a:latin typeface="Calibri" pitchFamily="34" charset="0"/>
                <a:ea typeface="Calibri" pitchFamily="34" charset="-122"/>
                <a:cs typeface="Calibri" pitchFamily="34" charset="-120"/>
              </a:rPr>
              <a:t>Explore a working idea.</a:t>
            </a:r>
            <a:endParaRPr lang="en-US" sz="1350" dirty="0"/>
          </a:p>
          <a:p>
            <a:pPr marL="0" indent="0">
              <a:spcAft>
                <a:spcPts val="600"/>
              </a:spcAft>
              <a:buNone/>
            </a:pPr>
            <a:r>
              <a:rPr lang="en-US" sz="1200" dirty="0">
                <a:solidFill>
                  <a:srgbClr val="6B7280"/>
                </a:solidFill>
                <a:latin typeface="Calibri" pitchFamily="34" charset="0"/>
                <a:ea typeface="Calibri" pitchFamily="34" charset="-122"/>
                <a:cs typeface="Calibri" pitchFamily="34" charset="-120"/>
              </a:rPr>
              <a:t>Describe, accept, refine by hand. Good for prototypes, personal tools, weekend projects, learning.</a:t>
            </a:r>
            <a:endParaRPr lang="en-US" sz="1350" dirty="0"/>
          </a:p>
        </p:txBody>
      </p:sp>
      <p:sp>
        <p:nvSpPr>
          <p:cNvPr id="25" name="Shape 22"/>
          <p:cNvSpPr/>
          <p:nvPr/>
        </p:nvSpPr>
        <p:spPr>
          <a:xfrm>
            <a:off x="4709160" y="2468880"/>
            <a:ext cx="3886200" cy="1508760"/>
          </a:xfrm>
          <a:prstGeom prst="roundRect">
            <a:avLst>
              <a:gd name="adj" fmla="val 4848"/>
            </a:avLst>
          </a:prstGeom>
          <a:solidFill>
            <a:srgbClr val="F3F4F6"/>
          </a:solidFill>
          <a:ln w="12700">
            <a:solidFill>
              <a:srgbClr val="F3F4F6"/>
            </a:solidFill>
            <a:prstDash val="solid"/>
          </a:ln>
        </p:spPr>
        <p:txBody>
          <a:bodyPr/>
          <a:lstStyle/>
          <a:p>
            <a:endParaRPr lang="en-US"/>
          </a:p>
        </p:txBody>
      </p:sp>
      <p:sp>
        <p:nvSpPr>
          <p:cNvPr id="26" name="Text 23"/>
          <p:cNvSpPr txBox="1"/>
          <p:nvPr/>
        </p:nvSpPr>
        <p:spPr>
          <a:xfrm>
            <a:off x="4892040" y="2606040"/>
            <a:ext cx="3566160" cy="1280160"/>
          </a:xfrm>
          <a:prstGeom prst="rect">
            <a:avLst/>
          </a:prstGeom>
          <a:noFill/>
          <a:ln/>
        </p:spPr>
        <p:txBody>
          <a:bodyPr wrap="square" lIns="0" tIns="0" rIns="0" bIns="0" rtlCol="0" anchor="t"/>
          <a:lstStyle/>
          <a:p>
            <a:pPr marL="0" indent="0">
              <a:spcAft>
                <a:spcPts val="600"/>
              </a:spcAft>
              <a:buNone/>
            </a:pPr>
            <a:r>
              <a:rPr lang="en-US" sz="1350" b="1" dirty="0">
                <a:solidFill>
                  <a:srgbClr val="111318"/>
                </a:solidFill>
                <a:latin typeface="Calibri" pitchFamily="34" charset="0"/>
                <a:ea typeface="Calibri" pitchFamily="34" charset="-122"/>
                <a:cs typeface="Calibri" pitchFamily="34" charset="-120"/>
              </a:rPr>
              <a:t>Deliver software you can stand behind.</a:t>
            </a:r>
            <a:endParaRPr lang="en-US" sz="1350" dirty="0"/>
          </a:p>
          <a:p>
            <a:pPr marL="0" indent="0">
              <a:spcAft>
                <a:spcPts val="600"/>
              </a:spcAft>
              <a:buNone/>
            </a:pPr>
            <a:r>
              <a:rPr lang="en-US" sz="1200" dirty="0">
                <a:solidFill>
                  <a:srgbClr val="6B7280"/>
                </a:solidFill>
                <a:latin typeface="Calibri" pitchFamily="34" charset="0"/>
                <a:ea typeface="Calibri" pitchFamily="34" charset="-122"/>
                <a:cs typeface="Calibri" pitchFamily="34" charset="-120"/>
              </a:rPr>
              <a:t>Specify, build, review, verify, record. Required for anything with real users, money, or personal data.</a:t>
            </a:r>
            <a:endParaRPr lang="en-US" sz="1350" dirty="0"/>
          </a:p>
        </p:txBody>
      </p:sp>
      <p:sp>
        <p:nvSpPr>
          <p:cNvPr id="27" name="Text 24"/>
          <p:cNvSpPr txBox="1"/>
          <p:nvPr/>
        </p:nvSpPr>
        <p:spPr>
          <a:xfrm>
            <a:off x="548640" y="4069080"/>
            <a:ext cx="8046720" cy="320040"/>
          </a:xfrm>
          <a:prstGeom prst="rect">
            <a:avLst/>
          </a:prstGeom>
          <a:noFill/>
          <a:ln/>
        </p:spPr>
        <p:txBody>
          <a:bodyPr wrap="square" lIns="0" tIns="0" rIns="0" bIns="0" rtlCol="0" anchor="t"/>
          <a:lstStyle/>
          <a:p>
            <a:pPr marL="0" indent="0" algn="ctr">
              <a:buNone/>
            </a:pPr>
            <a:r>
              <a:rPr lang="en-US" sz="1350" i="1" dirty="0">
                <a:solidFill>
                  <a:srgbClr val="111318"/>
                </a:solidFill>
                <a:latin typeface="Cambria" pitchFamily="34" charset="0"/>
                <a:ea typeface="Cambria" pitchFamily="34" charset="-122"/>
                <a:cs typeface="Cambria" pitchFamily="34" charset="-120"/>
              </a:rPr>
              <a:t>You start on the left. Move right as the thing starts to matter. We come back to the right side in Act 6.</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3 · HOW TO DO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08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The tools, by how much code you want to see</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3 How</a:t>
            </a:r>
            <a:endParaRPr lang="en-US" sz="750" dirty="0"/>
          </a:p>
        </p:txBody>
      </p:sp>
      <p:sp>
        <p:nvSpPr>
          <p:cNvPr id="8" name="Shape 6"/>
          <p:cNvSpPr/>
          <p:nvPr/>
        </p:nvSpPr>
        <p:spPr>
          <a:xfrm>
            <a:off x="3094330"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8046720" cy="804672"/>
          </a:xfrm>
          <a:prstGeom prst="roundRect">
            <a:avLst>
              <a:gd name="adj" fmla="val 9091"/>
            </a:avLst>
          </a:prstGeom>
          <a:solidFill>
            <a:srgbClr val="F3F4F6"/>
          </a:solidFill>
          <a:ln w="12700">
            <a:solidFill>
              <a:srgbClr val="F3F4F6"/>
            </a:solidFill>
            <a:prstDash val="solid"/>
          </a:ln>
        </p:spPr>
        <p:txBody>
          <a:bodyPr/>
          <a:lstStyle/>
          <a:p>
            <a:endParaRPr lang="en-US"/>
          </a:p>
        </p:txBody>
      </p:sp>
      <p:sp>
        <p:nvSpPr>
          <p:cNvPr id="17" name="Shape 14"/>
          <p:cNvSpPr/>
          <p:nvPr/>
        </p:nvSpPr>
        <p:spPr>
          <a:xfrm>
            <a:off x="731520" y="1316736"/>
            <a:ext cx="548640" cy="548640"/>
          </a:xfrm>
          <a:prstGeom prst="ellipse">
            <a:avLst/>
          </a:prstGeom>
          <a:solidFill>
            <a:srgbClr val="FFFFFF"/>
          </a:solidFill>
          <a:ln w="12700">
            <a:solidFill>
              <a:srgbClr val="FFFFFF"/>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874166" y="1459382"/>
            <a:ext cx="263347" cy="263347"/>
          </a:xfrm>
          <a:prstGeom prst="rect">
            <a:avLst/>
          </a:prstGeom>
        </p:spPr>
      </p:pic>
      <p:sp>
        <p:nvSpPr>
          <p:cNvPr id="19" name="Text 15"/>
          <p:cNvSpPr txBox="1"/>
          <p:nvPr/>
        </p:nvSpPr>
        <p:spPr>
          <a:xfrm>
            <a:off x="1463040" y="1307592"/>
            <a:ext cx="2743200" cy="594360"/>
          </a:xfrm>
          <a:prstGeom prst="rect">
            <a:avLst/>
          </a:prstGeom>
          <a:noFill/>
          <a:ln/>
        </p:spPr>
        <p:txBody>
          <a:bodyPr wrap="square" lIns="0" tIns="0" rIns="0" bIns="0" rtlCol="0" anchor="t"/>
          <a:lstStyle/>
          <a:p>
            <a:pPr marL="0" indent="0">
              <a:spcAft>
                <a:spcPts val="200"/>
              </a:spcAft>
              <a:buNone/>
            </a:pPr>
            <a:r>
              <a:rPr lang="en-US" sz="1350" b="1" dirty="0">
                <a:solidFill>
                  <a:srgbClr val="111318"/>
                </a:solidFill>
                <a:latin typeface="Calibri" pitchFamily="34" charset="0"/>
                <a:ea typeface="Calibri" pitchFamily="34" charset="-122"/>
                <a:cs typeface="Calibri" pitchFamily="34" charset="-120"/>
              </a:rPr>
              <a:t>Never want to see code</a:t>
            </a:r>
            <a:endParaRPr lang="en-US" sz="1350" dirty="0"/>
          </a:p>
          <a:p>
            <a:pPr marL="0" indent="0">
              <a:spcAft>
                <a:spcPts val="200"/>
              </a:spcAft>
              <a:buNone/>
            </a:pPr>
            <a:r>
              <a:rPr lang="en-US" sz="1050" dirty="0">
                <a:solidFill>
                  <a:srgbClr val="6B7280"/>
                </a:solidFill>
                <a:latin typeface="Calibri" pitchFamily="34" charset="0"/>
                <a:ea typeface="Calibri" pitchFamily="34" charset="-122"/>
                <a:cs typeface="Calibri" pitchFamily="34" charset="-120"/>
              </a:rPr>
              <a:t>Browser only. Prompt, preview, publish.</a:t>
            </a:r>
            <a:endParaRPr lang="en-US" sz="1350" dirty="0"/>
          </a:p>
        </p:txBody>
      </p:sp>
      <p:sp>
        <p:nvSpPr>
          <p:cNvPr id="20" name="Text 16"/>
          <p:cNvSpPr txBox="1"/>
          <p:nvPr/>
        </p:nvSpPr>
        <p:spPr>
          <a:xfrm>
            <a:off x="4297680" y="1307592"/>
            <a:ext cx="4114800" cy="594360"/>
          </a:xfrm>
          <a:prstGeom prst="rect">
            <a:avLst/>
          </a:prstGeom>
          <a:noFill/>
          <a:ln/>
        </p:spPr>
        <p:txBody>
          <a:bodyPr wrap="square" lIns="0" tIns="0" rIns="0" bIns="0" rtlCol="0" anchor="t"/>
          <a:lstStyle/>
          <a:p>
            <a:pPr marL="0" indent="0">
              <a:spcAft>
                <a:spcPts val="200"/>
              </a:spcAft>
              <a:buNone/>
            </a:pPr>
            <a:r>
              <a:rPr lang="en-US" sz="1250" dirty="0">
                <a:solidFill>
                  <a:srgbClr val="111318"/>
                </a:solidFill>
                <a:latin typeface="Calibri" pitchFamily="34" charset="0"/>
                <a:ea typeface="Calibri" pitchFamily="34" charset="-122"/>
                <a:cs typeface="Calibri" pitchFamily="34" charset="-120"/>
              </a:rPr>
              <a:t>Lovable · Bolt.new · v0 · Replit · Google AI Studio</a:t>
            </a:r>
            <a:endParaRPr lang="en-US" sz="1250" dirty="0"/>
          </a:p>
          <a:p>
            <a:pPr marL="0" indent="0">
              <a:spcAft>
                <a:spcPts val="200"/>
              </a:spcAft>
              <a:buNone/>
            </a:pPr>
            <a:r>
              <a:rPr lang="en-US" sz="1000" dirty="0">
                <a:solidFill>
                  <a:srgbClr val="6B7280"/>
                </a:solidFill>
                <a:latin typeface="Calibri" pitchFamily="34" charset="0"/>
                <a:ea typeface="Calibri" pitchFamily="34" charset="-122"/>
                <a:cs typeface="Calibri" pitchFamily="34" charset="-120"/>
              </a:rPr>
              <a:t>ChatGPT, Claude, and Gemini also build single-page apps inside the chat.</a:t>
            </a:r>
            <a:endParaRPr lang="en-US" sz="1250" dirty="0"/>
          </a:p>
        </p:txBody>
      </p:sp>
      <p:sp>
        <p:nvSpPr>
          <p:cNvPr id="21" name="Shape 17"/>
          <p:cNvSpPr/>
          <p:nvPr/>
        </p:nvSpPr>
        <p:spPr>
          <a:xfrm>
            <a:off x="548640" y="2084832"/>
            <a:ext cx="8046720" cy="804672"/>
          </a:xfrm>
          <a:prstGeom prst="roundRect">
            <a:avLst>
              <a:gd name="adj" fmla="val 9091"/>
            </a:avLst>
          </a:prstGeom>
          <a:solidFill>
            <a:srgbClr val="F3F4F6"/>
          </a:solidFill>
          <a:ln w="12700">
            <a:solidFill>
              <a:srgbClr val="F3F4F6"/>
            </a:solidFill>
            <a:prstDash val="solid"/>
          </a:ln>
        </p:spPr>
        <p:txBody>
          <a:bodyPr/>
          <a:lstStyle/>
          <a:p>
            <a:endParaRPr lang="en-US"/>
          </a:p>
        </p:txBody>
      </p:sp>
      <p:sp>
        <p:nvSpPr>
          <p:cNvPr id="22" name="Shape 18"/>
          <p:cNvSpPr/>
          <p:nvPr/>
        </p:nvSpPr>
        <p:spPr>
          <a:xfrm>
            <a:off x="731520" y="2212848"/>
            <a:ext cx="548640" cy="548640"/>
          </a:xfrm>
          <a:prstGeom prst="ellipse">
            <a:avLst/>
          </a:prstGeom>
          <a:solidFill>
            <a:srgbClr val="FFFFFF"/>
          </a:solidFill>
          <a:ln w="12700">
            <a:solidFill>
              <a:srgbClr val="FFFFFF"/>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874166" y="2355494"/>
            <a:ext cx="263347" cy="263347"/>
          </a:xfrm>
          <a:prstGeom prst="rect">
            <a:avLst/>
          </a:prstGeom>
        </p:spPr>
      </p:pic>
      <p:sp>
        <p:nvSpPr>
          <p:cNvPr id="24" name="Text 19"/>
          <p:cNvSpPr txBox="1"/>
          <p:nvPr/>
        </p:nvSpPr>
        <p:spPr>
          <a:xfrm>
            <a:off x="1463040" y="2203704"/>
            <a:ext cx="2743200" cy="594360"/>
          </a:xfrm>
          <a:prstGeom prst="rect">
            <a:avLst/>
          </a:prstGeom>
          <a:noFill/>
          <a:ln/>
        </p:spPr>
        <p:txBody>
          <a:bodyPr wrap="square" lIns="0" tIns="0" rIns="0" bIns="0" rtlCol="0" anchor="t"/>
          <a:lstStyle/>
          <a:p>
            <a:pPr marL="0" indent="0">
              <a:spcAft>
                <a:spcPts val="200"/>
              </a:spcAft>
              <a:buNone/>
            </a:pPr>
            <a:r>
              <a:rPr lang="en-US" sz="1350" b="1" dirty="0">
                <a:solidFill>
                  <a:srgbClr val="111318"/>
                </a:solidFill>
                <a:latin typeface="Calibri" pitchFamily="34" charset="0"/>
                <a:ea typeface="Calibri" pitchFamily="34" charset="-122"/>
                <a:cs typeface="Calibri" pitchFamily="34" charset="-120"/>
              </a:rPr>
              <a:t>Want to see the code</a:t>
            </a:r>
            <a:endParaRPr lang="en-US" sz="1350" dirty="0"/>
          </a:p>
          <a:p>
            <a:pPr marL="0" indent="0">
              <a:spcAft>
                <a:spcPts val="200"/>
              </a:spcAft>
              <a:buNone/>
            </a:pPr>
            <a:r>
              <a:rPr lang="en-US" sz="1050" dirty="0">
                <a:solidFill>
                  <a:srgbClr val="6B7280"/>
                </a:solidFill>
                <a:latin typeface="Calibri" pitchFamily="34" charset="0"/>
                <a:ea typeface="Calibri" pitchFamily="34" charset="-122"/>
                <a:cs typeface="Calibri" pitchFamily="34" charset="-120"/>
              </a:rPr>
              <a:t>An editor with an agent inside.</a:t>
            </a:r>
            <a:endParaRPr lang="en-US" sz="1350" dirty="0"/>
          </a:p>
        </p:txBody>
      </p:sp>
      <p:sp>
        <p:nvSpPr>
          <p:cNvPr id="25" name="Text 20"/>
          <p:cNvSpPr txBox="1"/>
          <p:nvPr/>
        </p:nvSpPr>
        <p:spPr>
          <a:xfrm>
            <a:off x="4297680" y="2203704"/>
            <a:ext cx="4114800" cy="594360"/>
          </a:xfrm>
          <a:prstGeom prst="rect">
            <a:avLst/>
          </a:prstGeom>
          <a:noFill/>
          <a:ln/>
        </p:spPr>
        <p:txBody>
          <a:bodyPr wrap="square" lIns="0" tIns="0" rIns="0" bIns="0" rtlCol="0" anchor="ctr"/>
          <a:lstStyle/>
          <a:p>
            <a:pPr marL="0" indent="0">
              <a:spcAft>
                <a:spcPts val="200"/>
              </a:spcAft>
              <a:buNone/>
            </a:pPr>
            <a:r>
              <a:rPr lang="en-US" sz="1250" dirty="0">
                <a:solidFill>
                  <a:srgbClr val="111318"/>
                </a:solidFill>
                <a:latin typeface="Calibri" pitchFamily="34" charset="0"/>
                <a:ea typeface="Calibri" pitchFamily="34" charset="-122"/>
                <a:cs typeface="Calibri" pitchFamily="34" charset="-120"/>
              </a:rPr>
              <a:t>Cursor · Windsurf · GitHub Copilot · Kiro</a:t>
            </a:r>
            <a:endParaRPr lang="en-US" sz="1250" dirty="0"/>
          </a:p>
        </p:txBody>
      </p:sp>
      <p:sp>
        <p:nvSpPr>
          <p:cNvPr id="26" name="Shape 21"/>
          <p:cNvSpPr/>
          <p:nvPr/>
        </p:nvSpPr>
        <p:spPr>
          <a:xfrm>
            <a:off x="548640" y="2980944"/>
            <a:ext cx="8046720" cy="804672"/>
          </a:xfrm>
          <a:prstGeom prst="roundRect">
            <a:avLst>
              <a:gd name="adj" fmla="val 9091"/>
            </a:avLst>
          </a:prstGeom>
          <a:solidFill>
            <a:srgbClr val="F3F4F6"/>
          </a:solidFill>
          <a:ln w="12700">
            <a:solidFill>
              <a:srgbClr val="F3F4F6"/>
            </a:solidFill>
            <a:prstDash val="solid"/>
          </a:ln>
        </p:spPr>
        <p:txBody>
          <a:bodyPr/>
          <a:lstStyle/>
          <a:p>
            <a:endParaRPr lang="en-US"/>
          </a:p>
        </p:txBody>
      </p:sp>
      <p:sp>
        <p:nvSpPr>
          <p:cNvPr id="27" name="Shape 22"/>
          <p:cNvSpPr/>
          <p:nvPr/>
        </p:nvSpPr>
        <p:spPr>
          <a:xfrm>
            <a:off x="731520" y="3108960"/>
            <a:ext cx="548640" cy="548640"/>
          </a:xfrm>
          <a:prstGeom prst="ellipse">
            <a:avLst/>
          </a:prstGeom>
          <a:solidFill>
            <a:srgbClr val="FFFFFF"/>
          </a:solidFill>
          <a:ln w="12700">
            <a:solidFill>
              <a:srgbClr val="FFFFFF"/>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874166" y="3251606"/>
            <a:ext cx="263347" cy="263347"/>
          </a:xfrm>
          <a:prstGeom prst="rect">
            <a:avLst/>
          </a:prstGeom>
        </p:spPr>
      </p:pic>
      <p:sp>
        <p:nvSpPr>
          <p:cNvPr id="29" name="Text 23"/>
          <p:cNvSpPr txBox="1"/>
          <p:nvPr/>
        </p:nvSpPr>
        <p:spPr>
          <a:xfrm>
            <a:off x="1463040" y="3099816"/>
            <a:ext cx="2743200" cy="594360"/>
          </a:xfrm>
          <a:prstGeom prst="rect">
            <a:avLst/>
          </a:prstGeom>
          <a:noFill/>
          <a:ln/>
        </p:spPr>
        <p:txBody>
          <a:bodyPr wrap="square" lIns="0" tIns="0" rIns="0" bIns="0" rtlCol="0" anchor="t"/>
          <a:lstStyle/>
          <a:p>
            <a:pPr marL="0" indent="0">
              <a:spcAft>
                <a:spcPts val="200"/>
              </a:spcAft>
              <a:buNone/>
            </a:pPr>
            <a:r>
              <a:rPr lang="en-US" sz="1350" b="1" dirty="0">
                <a:solidFill>
                  <a:srgbClr val="111318"/>
                </a:solidFill>
                <a:latin typeface="Calibri" pitchFamily="34" charset="0"/>
                <a:ea typeface="Calibri" pitchFamily="34" charset="-122"/>
                <a:cs typeface="Calibri" pitchFamily="34" charset="-120"/>
              </a:rPr>
              <a:t>Coding agents</a:t>
            </a:r>
            <a:endParaRPr lang="en-US" sz="1350" dirty="0"/>
          </a:p>
          <a:p>
            <a:pPr marL="0" indent="0">
              <a:spcAft>
                <a:spcPts val="200"/>
              </a:spcAft>
              <a:buNone/>
            </a:pPr>
            <a:r>
              <a:rPr lang="en-US" sz="1050" dirty="0">
                <a:solidFill>
                  <a:srgbClr val="6B7280"/>
                </a:solidFill>
                <a:latin typeface="Calibri" pitchFamily="34" charset="0"/>
                <a:ea typeface="Calibri" pitchFamily="34" charset="-122"/>
                <a:cs typeface="Calibri" pitchFamily="34" charset="-120"/>
              </a:rPr>
              <a:t>Terminal or desktop app. Most powerful, most rope.</a:t>
            </a:r>
            <a:endParaRPr lang="en-US" sz="1350" dirty="0"/>
          </a:p>
        </p:txBody>
      </p:sp>
      <p:sp>
        <p:nvSpPr>
          <p:cNvPr id="30" name="Text 24"/>
          <p:cNvSpPr txBox="1"/>
          <p:nvPr/>
        </p:nvSpPr>
        <p:spPr>
          <a:xfrm>
            <a:off x="4297680" y="3099816"/>
            <a:ext cx="4114800" cy="594360"/>
          </a:xfrm>
          <a:prstGeom prst="rect">
            <a:avLst/>
          </a:prstGeom>
          <a:noFill/>
          <a:ln/>
        </p:spPr>
        <p:txBody>
          <a:bodyPr wrap="square" lIns="0" tIns="0" rIns="0" bIns="0" rtlCol="0" anchor="ctr"/>
          <a:lstStyle/>
          <a:p>
            <a:pPr marL="0" indent="0">
              <a:spcAft>
                <a:spcPts val="200"/>
              </a:spcAft>
              <a:buNone/>
            </a:pPr>
            <a:r>
              <a:rPr lang="en-US" sz="1250" dirty="0">
                <a:solidFill>
                  <a:srgbClr val="111318"/>
                </a:solidFill>
                <a:latin typeface="Calibri" pitchFamily="34" charset="0"/>
                <a:ea typeface="Calibri" pitchFamily="34" charset="-122"/>
                <a:cs typeface="Calibri" pitchFamily="34" charset="-120"/>
              </a:rPr>
              <a:t>OpenAI Codex · Claude Code · Gemini CLI</a:t>
            </a:r>
            <a:endParaRPr lang="en-US" sz="1250" dirty="0"/>
          </a:p>
        </p:txBody>
      </p:sp>
      <p:sp>
        <p:nvSpPr>
          <p:cNvPr id="31" name="Text 25"/>
          <p:cNvSpPr txBox="1"/>
          <p:nvPr/>
        </p:nvSpPr>
        <p:spPr>
          <a:xfrm>
            <a:off x="548640" y="3977640"/>
            <a:ext cx="8046720" cy="320040"/>
          </a:xfrm>
          <a:prstGeom prst="rect">
            <a:avLst/>
          </a:prstGeom>
          <a:noFill/>
          <a:ln/>
        </p:spPr>
        <p:txBody>
          <a:bodyPr wrap="square" lIns="0" tIns="0" rIns="0" bIns="0" rtlCol="0" anchor="ctr"/>
          <a:lstStyle/>
          <a:p>
            <a:pPr marL="0" indent="0">
              <a:buNone/>
            </a:pPr>
            <a:r>
              <a:rPr lang="en-US" sz="950" dirty="0">
                <a:solidFill>
                  <a:srgbClr val="6B7280"/>
                </a:solidFill>
                <a:latin typeface="Courier New" pitchFamily="34" charset="0"/>
                <a:ea typeface="Courier New" pitchFamily="34" charset="-122"/>
                <a:cs typeface="Courier New" pitchFamily="34" charset="-120"/>
              </a:rPr>
              <a:t>MY DAILY STACK  </a:t>
            </a:r>
            <a:r>
              <a:rPr lang="en-US" sz="950" b="1" dirty="0">
                <a:solidFill>
                  <a:srgbClr val="111318"/>
                </a:solidFill>
                <a:latin typeface="Courier New" pitchFamily="34" charset="0"/>
                <a:ea typeface="Courier New" pitchFamily="34" charset="-122"/>
                <a:cs typeface="Courier New" pitchFamily="34" charset="-120"/>
              </a:rPr>
              <a:t>Codex + Claude Code</a:t>
            </a:r>
            <a:r>
              <a:rPr lang="en-US" sz="950" dirty="0">
                <a:solidFill>
                  <a:srgbClr val="6B7280"/>
                </a:solidFill>
                <a:latin typeface="Courier New" pitchFamily="34" charset="0"/>
                <a:ea typeface="Courier New" pitchFamily="34" charset="-122"/>
                <a:cs typeface="Courier New" pitchFamily="34" charset="-120"/>
              </a:rPr>
              <a:t>     TODAY'S DEMO  </a:t>
            </a:r>
            <a:r>
              <a:rPr lang="en-US" sz="950" b="1" dirty="0">
                <a:solidFill>
                  <a:srgbClr val="111318"/>
                </a:solidFill>
                <a:latin typeface="Courier New" pitchFamily="34" charset="0"/>
                <a:ea typeface="Courier New" pitchFamily="34" charset="-122"/>
                <a:cs typeface="Courier New" pitchFamily="34" charset="-120"/>
              </a:rPr>
              <a:t>Lovable</a:t>
            </a:r>
            <a:r>
              <a:rPr lang="en-US" sz="950" dirty="0">
                <a:solidFill>
                  <a:srgbClr val="6B7280"/>
                </a:solidFill>
                <a:latin typeface="Courier New" pitchFamily="34" charset="0"/>
                <a:ea typeface="Courier New" pitchFamily="34" charset="-122"/>
                <a:cs typeface="Courier New" pitchFamily="34" charset="-120"/>
              </a:rPr>
              <a:t>     Snapshot: Sept 2026. Changes monthly.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3 · HOW TO DO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09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The loop</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3 How</a:t>
            </a:r>
            <a:endParaRPr lang="en-US" sz="750" dirty="0"/>
          </a:p>
        </p:txBody>
      </p:sp>
      <p:sp>
        <p:nvSpPr>
          <p:cNvPr id="8" name="Shape 6"/>
          <p:cNvSpPr/>
          <p:nvPr/>
        </p:nvSpPr>
        <p:spPr>
          <a:xfrm>
            <a:off x="3094330"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Text 13"/>
          <p:cNvSpPr txBox="1"/>
          <p:nvPr/>
        </p:nvSpPr>
        <p:spPr>
          <a:xfrm>
            <a:off x="548640" y="1051560"/>
            <a:ext cx="8046720" cy="274320"/>
          </a:xfrm>
          <a:prstGeom prst="rect">
            <a:avLst/>
          </a:prstGeom>
          <a:noFill/>
          <a:ln/>
        </p:spPr>
        <p:txBody>
          <a:bodyPr wrap="square" lIns="0" tIns="0" rIns="0" bIns="0" rtlCol="0" anchor="t"/>
          <a:lstStyle/>
          <a:p>
            <a:pPr marL="0" indent="0">
              <a:buNone/>
            </a:pPr>
            <a:r>
              <a:rPr lang="en-US" sz="1350" dirty="0">
                <a:solidFill>
                  <a:srgbClr val="6B7280"/>
                </a:solidFill>
                <a:latin typeface="Calibri" pitchFamily="34" charset="0"/>
                <a:ea typeface="Calibri" pitchFamily="34" charset="-122"/>
                <a:cs typeface="Calibri" pitchFamily="34" charset="-120"/>
              </a:rPr>
              <a:t>Every tool, every project, the same five moves.</a:t>
            </a:r>
            <a:endParaRPr lang="en-US" sz="1350" dirty="0"/>
          </a:p>
        </p:txBody>
      </p:sp>
      <p:sp>
        <p:nvSpPr>
          <p:cNvPr id="17" name="Shape 14"/>
          <p:cNvSpPr/>
          <p:nvPr/>
        </p:nvSpPr>
        <p:spPr>
          <a:xfrm>
            <a:off x="548640" y="1417320"/>
            <a:ext cx="1517904" cy="1965960"/>
          </a:xfrm>
          <a:prstGeom prst="roundRect">
            <a:avLst>
              <a:gd name="adj" fmla="val 4819"/>
            </a:avLst>
          </a:prstGeom>
          <a:solidFill>
            <a:srgbClr val="F3F4F6"/>
          </a:solidFill>
          <a:ln w="12700">
            <a:solidFill>
              <a:srgbClr val="F3F4F6"/>
            </a:solidFill>
            <a:prstDash val="solid"/>
          </a:ln>
        </p:spPr>
        <p:txBody>
          <a:bodyPr/>
          <a:lstStyle/>
          <a:p>
            <a:endParaRPr lang="en-US"/>
          </a:p>
        </p:txBody>
      </p:sp>
      <p:sp>
        <p:nvSpPr>
          <p:cNvPr id="18" name="Shape 15"/>
          <p:cNvSpPr/>
          <p:nvPr/>
        </p:nvSpPr>
        <p:spPr>
          <a:xfrm>
            <a:off x="713232" y="1572768"/>
            <a:ext cx="347472" cy="347472"/>
          </a:xfrm>
          <a:prstGeom prst="ellipse">
            <a:avLst/>
          </a:prstGeom>
          <a:solidFill>
            <a:srgbClr val="C8F236"/>
          </a:solidFill>
          <a:ln w="12700">
            <a:solidFill>
              <a:srgbClr val="C8F236"/>
            </a:solidFill>
            <a:prstDash val="solid"/>
          </a:ln>
        </p:spPr>
        <p:txBody>
          <a:bodyPr/>
          <a:lstStyle/>
          <a:p>
            <a:endParaRPr lang="en-US"/>
          </a:p>
        </p:txBody>
      </p:sp>
      <p:sp>
        <p:nvSpPr>
          <p:cNvPr id="19" name="Text 16"/>
          <p:cNvSpPr txBox="1"/>
          <p:nvPr/>
        </p:nvSpPr>
        <p:spPr>
          <a:xfrm>
            <a:off x="713232" y="1572768"/>
            <a:ext cx="347472" cy="347472"/>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1</a:t>
            </a:r>
            <a:endParaRPr lang="en-US" sz="1200" dirty="0"/>
          </a:p>
        </p:txBody>
      </p:sp>
      <p:sp>
        <p:nvSpPr>
          <p:cNvPr id="20" name="Text 17"/>
          <p:cNvSpPr txBox="1"/>
          <p:nvPr/>
        </p:nvSpPr>
        <p:spPr>
          <a:xfrm>
            <a:off x="713232" y="2057400"/>
            <a:ext cx="1207008" cy="128016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Describe</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Who it is for, and the outcome. Ask for the plan before the code.</a:t>
            </a:r>
            <a:endParaRPr lang="en-US" sz="1400" dirty="0"/>
          </a:p>
        </p:txBody>
      </p:sp>
      <p:sp>
        <p:nvSpPr>
          <p:cNvPr id="21" name="Text 18"/>
          <p:cNvSpPr txBox="1"/>
          <p:nvPr/>
        </p:nvSpPr>
        <p:spPr>
          <a:xfrm>
            <a:off x="2029968" y="2103120"/>
            <a:ext cx="182880" cy="36576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2" name="Shape 19"/>
          <p:cNvSpPr/>
          <p:nvPr/>
        </p:nvSpPr>
        <p:spPr>
          <a:xfrm>
            <a:off x="2176272" y="1417320"/>
            <a:ext cx="1517904" cy="1965960"/>
          </a:xfrm>
          <a:prstGeom prst="roundRect">
            <a:avLst>
              <a:gd name="adj" fmla="val 4819"/>
            </a:avLst>
          </a:prstGeom>
          <a:solidFill>
            <a:srgbClr val="F3F4F6"/>
          </a:solidFill>
          <a:ln w="12700">
            <a:solidFill>
              <a:srgbClr val="F3F4F6"/>
            </a:solidFill>
            <a:prstDash val="solid"/>
          </a:ln>
        </p:spPr>
        <p:txBody>
          <a:bodyPr/>
          <a:lstStyle/>
          <a:p>
            <a:endParaRPr lang="en-US"/>
          </a:p>
        </p:txBody>
      </p:sp>
      <p:sp>
        <p:nvSpPr>
          <p:cNvPr id="23" name="Shape 20"/>
          <p:cNvSpPr/>
          <p:nvPr/>
        </p:nvSpPr>
        <p:spPr>
          <a:xfrm>
            <a:off x="2340864" y="1572768"/>
            <a:ext cx="347472" cy="347472"/>
          </a:xfrm>
          <a:prstGeom prst="ellipse">
            <a:avLst/>
          </a:prstGeom>
          <a:solidFill>
            <a:srgbClr val="C8F236"/>
          </a:solidFill>
          <a:ln w="12700">
            <a:solidFill>
              <a:srgbClr val="C8F236"/>
            </a:solidFill>
            <a:prstDash val="solid"/>
          </a:ln>
        </p:spPr>
        <p:txBody>
          <a:bodyPr/>
          <a:lstStyle/>
          <a:p>
            <a:endParaRPr lang="en-US"/>
          </a:p>
        </p:txBody>
      </p:sp>
      <p:sp>
        <p:nvSpPr>
          <p:cNvPr id="24" name="Text 21"/>
          <p:cNvSpPr txBox="1"/>
          <p:nvPr/>
        </p:nvSpPr>
        <p:spPr>
          <a:xfrm>
            <a:off x="2340864" y="1572768"/>
            <a:ext cx="347472" cy="347472"/>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2</a:t>
            </a:r>
            <a:endParaRPr lang="en-US" sz="1200" dirty="0"/>
          </a:p>
        </p:txBody>
      </p:sp>
      <p:sp>
        <p:nvSpPr>
          <p:cNvPr id="25" name="Text 22"/>
          <p:cNvSpPr txBox="1"/>
          <p:nvPr/>
        </p:nvSpPr>
        <p:spPr>
          <a:xfrm>
            <a:off x="2340864" y="2057400"/>
            <a:ext cx="1207008" cy="128016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Generate</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One small runnable slice. Not the whole thing.</a:t>
            </a:r>
            <a:endParaRPr lang="en-US" sz="1400" dirty="0"/>
          </a:p>
        </p:txBody>
      </p:sp>
      <p:sp>
        <p:nvSpPr>
          <p:cNvPr id="26" name="Text 23"/>
          <p:cNvSpPr txBox="1"/>
          <p:nvPr/>
        </p:nvSpPr>
        <p:spPr>
          <a:xfrm>
            <a:off x="3657600" y="2103120"/>
            <a:ext cx="182880" cy="36576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7" name="Shape 24"/>
          <p:cNvSpPr/>
          <p:nvPr/>
        </p:nvSpPr>
        <p:spPr>
          <a:xfrm>
            <a:off x="3803904" y="1417320"/>
            <a:ext cx="1517904" cy="1965960"/>
          </a:xfrm>
          <a:prstGeom prst="roundRect">
            <a:avLst>
              <a:gd name="adj" fmla="val 4819"/>
            </a:avLst>
          </a:prstGeom>
          <a:solidFill>
            <a:srgbClr val="F3F4F6"/>
          </a:solidFill>
          <a:ln w="12700">
            <a:solidFill>
              <a:srgbClr val="F3F4F6"/>
            </a:solidFill>
            <a:prstDash val="solid"/>
          </a:ln>
        </p:spPr>
        <p:txBody>
          <a:bodyPr/>
          <a:lstStyle/>
          <a:p>
            <a:endParaRPr lang="en-US"/>
          </a:p>
        </p:txBody>
      </p:sp>
      <p:sp>
        <p:nvSpPr>
          <p:cNvPr id="28" name="Shape 25"/>
          <p:cNvSpPr/>
          <p:nvPr/>
        </p:nvSpPr>
        <p:spPr>
          <a:xfrm>
            <a:off x="3968496" y="1572768"/>
            <a:ext cx="347472" cy="347472"/>
          </a:xfrm>
          <a:prstGeom prst="ellipse">
            <a:avLst/>
          </a:prstGeom>
          <a:solidFill>
            <a:srgbClr val="C8F236"/>
          </a:solidFill>
          <a:ln w="12700">
            <a:solidFill>
              <a:srgbClr val="C8F236"/>
            </a:solidFill>
            <a:prstDash val="solid"/>
          </a:ln>
        </p:spPr>
        <p:txBody>
          <a:bodyPr/>
          <a:lstStyle/>
          <a:p>
            <a:endParaRPr lang="en-US"/>
          </a:p>
        </p:txBody>
      </p:sp>
      <p:sp>
        <p:nvSpPr>
          <p:cNvPr id="29" name="Text 26"/>
          <p:cNvSpPr txBox="1"/>
          <p:nvPr/>
        </p:nvSpPr>
        <p:spPr>
          <a:xfrm>
            <a:off x="3968496" y="1572768"/>
            <a:ext cx="347472" cy="347472"/>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3</a:t>
            </a:r>
            <a:endParaRPr lang="en-US" sz="1200" dirty="0"/>
          </a:p>
        </p:txBody>
      </p:sp>
      <p:sp>
        <p:nvSpPr>
          <p:cNvPr id="30" name="Text 27"/>
          <p:cNvSpPr txBox="1"/>
          <p:nvPr/>
        </p:nvSpPr>
        <p:spPr>
          <a:xfrm>
            <a:off x="3968496" y="2057400"/>
            <a:ext cx="1207008" cy="128016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Inspect</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Run it. Look at it. On your real phone.</a:t>
            </a:r>
            <a:endParaRPr lang="en-US" sz="1400" dirty="0"/>
          </a:p>
        </p:txBody>
      </p:sp>
      <p:sp>
        <p:nvSpPr>
          <p:cNvPr id="31" name="Text 28"/>
          <p:cNvSpPr txBox="1"/>
          <p:nvPr/>
        </p:nvSpPr>
        <p:spPr>
          <a:xfrm>
            <a:off x="5285232" y="2103120"/>
            <a:ext cx="182880" cy="36576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32" name="Shape 29"/>
          <p:cNvSpPr/>
          <p:nvPr/>
        </p:nvSpPr>
        <p:spPr>
          <a:xfrm>
            <a:off x="5431536" y="1417320"/>
            <a:ext cx="1517904" cy="1965960"/>
          </a:xfrm>
          <a:prstGeom prst="roundRect">
            <a:avLst>
              <a:gd name="adj" fmla="val 4819"/>
            </a:avLst>
          </a:prstGeom>
          <a:solidFill>
            <a:srgbClr val="F3F4F6"/>
          </a:solidFill>
          <a:ln w="12700">
            <a:solidFill>
              <a:srgbClr val="F3F4F6"/>
            </a:solidFill>
            <a:prstDash val="solid"/>
          </a:ln>
        </p:spPr>
        <p:txBody>
          <a:bodyPr/>
          <a:lstStyle/>
          <a:p>
            <a:endParaRPr lang="en-US"/>
          </a:p>
        </p:txBody>
      </p:sp>
      <p:sp>
        <p:nvSpPr>
          <p:cNvPr id="33" name="Shape 30"/>
          <p:cNvSpPr/>
          <p:nvPr/>
        </p:nvSpPr>
        <p:spPr>
          <a:xfrm>
            <a:off x="5596128" y="1572768"/>
            <a:ext cx="347472" cy="347472"/>
          </a:xfrm>
          <a:prstGeom prst="ellipse">
            <a:avLst/>
          </a:prstGeom>
          <a:solidFill>
            <a:srgbClr val="C8F236"/>
          </a:solidFill>
          <a:ln w="12700">
            <a:solidFill>
              <a:srgbClr val="C8F236"/>
            </a:solidFill>
            <a:prstDash val="solid"/>
          </a:ln>
        </p:spPr>
        <p:txBody>
          <a:bodyPr/>
          <a:lstStyle/>
          <a:p>
            <a:endParaRPr lang="en-US"/>
          </a:p>
        </p:txBody>
      </p:sp>
      <p:sp>
        <p:nvSpPr>
          <p:cNvPr id="34" name="Text 31"/>
          <p:cNvSpPr txBox="1"/>
          <p:nvPr/>
        </p:nvSpPr>
        <p:spPr>
          <a:xfrm>
            <a:off x="5596128" y="1572768"/>
            <a:ext cx="347472" cy="347472"/>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4</a:t>
            </a:r>
            <a:endParaRPr lang="en-US" sz="1200" dirty="0"/>
          </a:p>
        </p:txBody>
      </p:sp>
      <p:sp>
        <p:nvSpPr>
          <p:cNvPr id="35" name="Text 32"/>
          <p:cNvSpPr txBox="1"/>
          <p:nvPr/>
        </p:nvSpPr>
        <p:spPr>
          <a:xfrm>
            <a:off x="5596128" y="2057400"/>
            <a:ext cx="1207008" cy="128016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Refine</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One specific mismatch at a time. Paste the exact error.</a:t>
            </a:r>
            <a:endParaRPr lang="en-US" sz="1400" dirty="0"/>
          </a:p>
        </p:txBody>
      </p:sp>
      <p:sp>
        <p:nvSpPr>
          <p:cNvPr id="36" name="Text 33"/>
          <p:cNvSpPr txBox="1"/>
          <p:nvPr/>
        </p:nvSpPr>
        <p:spPr>
          <a:xfrm>
            <a:off x="6912864" y="2103120"/>
            <a:ext cx="182880" cy="36576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37" name="Shape 34"/>
          <p:cNvSpPr/>
          <p:nvPr/>
        </p:nvSpPr>
        <p:spPr>
          <a:xfrm>
            <a:off x="7059168" y="1417320"/>
            <a:ext cx="1517904" cy="1965960"/>
          </a:xfrm>
          <a:prstGeom prst="roundRect">
            <a:avLst>
              <a:gd name="adj" fmla="val 4819"/>
            </a:avLst>
          </a:prstGeom>
          <a:solidFill>
            <a:srgbClr val="F3F4F6"/>
          </a:solidFill>
          <a:ln w="12700">
            <a:solidFill>
              <a:srgbClr val="F3F4F6"/>
            </a:solidFill>
            <a:prstDash val="solid"/>
          </a:ln>
        </p:spPr>
        <p:txBody>
          <a:bodyPr/>
          <a:lstStyle/>
          <a:p>
            <a:endParaRPr lang="en-US"/>
          </a:p>
        </p:txBody>
      </p:sp>
      <p:sp>
        <p:nvSpPr>
          <p:cNvPr id="38" name="Shape 35"/>
          <p:cNvSpPr/>
          <p:nvPr/>
        </p:nvSpPr>
        <p:spPr>
          <a:xfrm>
            <a:off x="7223760" y="1572768"/>
            <a:ext cx="347472" cy="347472"/>
          </a:xfrm>
          <a:prstGeom prst="ellipse">
            <a:avLst/>
          </a:prstGeom>
          <a:solidFill>
            <a:srgbClr val="C8F236"/>
          </a:solidFill>
          <a:ln w="12700">
            <a:solidFill>
              <a:srgbClr val="C8F236"/>
            </a:solidFill>
            <a:prstDash val="solid"/>
          </a:ln>
        </p:spPr>
        <p:txBody>
          <a:bodyPr/>
          <a:lstStyle/>
          <a:p>
            <a:endParaRPr lang="en-US"/>
          </a:p>
        </p:txBody>
      </p:sp>
      <p:sp>
        <p:nvSpPr>
          <p:cNvPr id="39" name="Text 36"/>
          <p:cNvSpPr txBox="1"/>
          <p:nvPr/>
        </p:nvSpPr>
        <p:spPr>
          <a:xfrm>
            <a:off x="7223760" y="1572768"/>
            <a:ext cx="347472" cy="347472"/>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5</a:t>
            </a:r>
            <a:endParaRPr lang="en-US" sz="1200" dirty="0"/>
          </a:p>
        </p:txBody>
      </p:sp>
      <p:sp>
        <p:nvSpPr>
          <p:cNvPr id="40" name="Text 37"/>
          <p:cNvSpPr txBox="1"/>
          <p:nvPr/>
        </p:nvSpPr>
        <p:spPr>
          <a:xfrm>
            <a:off x="7223760" y="2057400"/>
            <a:ext cx="1207008" cy="128016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Checkpoint</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Save a version you can return to.</a:t>
            </a:r>
            <a:endParaRPr lang="en-US" sz="1400" dirty="0"/>
          </a:p>
        </p:txBody>
      </p:sp>
      <p:sp>
        <p:nvSpPr>
          <p:cNvPr id="41" name="Shape 38"/>
          <p:cNvSpPr/>
          <p:nvPr/>
        </p:nvSpPr>
        <p:spPr>
          <a:xfrm>
            <a:off x="548640" y="3611880"/>
            <a:ext cx="8046720" cy="731520"/>
          </a:xfrm>
          <a:prstGeom prst="roundRect">
            <a:avLst>
              <a:gd name="adj" fmla="val 10000"/>
            </a:avLst>
          </a:prstGeom>
          <a:solidFill>
            <a:srgbClr val="0F1114"/>
          </a:solidFill>
          <a:ln w="12700">
            <a:solidFill>
              <a:srgbClr val="0F1114"/>
            </a:solidFill>
            <a:prstDash val="solid"/>
          </a:ln>
        </p:spPr>
        <p:txBody>
          <a:bodyPr/>
          <a:lstStyle/>
          <a:p>
            <a:endParaRPr lang="en-US"/>
          </a:p>
        </p:txBody>
      </p:sp>
      <p:sp>
        <p:nvSpPr>
          <p:cNvPr id="42" name="Shape 39"/>
          <p:cNvSpPr/>
          <p:nvPr/>
        </p:nvSpPr>
        <p:spPr>
          <a:xfrm>
            <a:off x="731520" y="3730752"/>
            <a:ext cx="493776" cy="493776"/>
          </a:xfrm>
          <a:prstGeom prst="ellipse">
            <a:avLst/>
          </a:prstGeom>
          <a:solidFill>
            <a:srgbClr val="C8F236"/>
          </a:solidFill>
          <a:ln w="12700">
            <a:solidFill>
              <a:srgbClr val="C8F236"/>
            </a:solidFill>
            <a:prstDash val="solid"/>
          </a:ln>
        </p:spPr>
        <p:txBody>
          <a:bodyPr/>
          <a:lstStyle/>
          <a:p>
            <a:endParaRPr lang="en-US"/>
          </a:p>
        </p:txBody>
      </p:sp>
      <p:pic>
        <p:nvPicPr>
          <p:cNvPr id="43" name="Image 1" descr="preencoded.png"/>
          <p:cNvPicPr>
            <a:picLocks noChangeAspect="1"/>
          </p:cNvPicPr>
          <p:nvPr/>
        </p:nvPicPr>
        <p:blipFill>
          <a:blip r:embed="rId4"/>
          <a:stretch>
            <a:fillRect/>
          </a:stretch>
        </p:blipFill>
        <p:spPr>
          <a:xfrm>
            <a:off x="859902" y="3859134"/>
            <a:ext cx="237012" cy="237012"/>
          </a:xfrm>
          <a:prstGeom prst="rect">
            <a:avLst/>
          </a:prstGeom>
        </p:spPr>
      </p:pic>
      <p:sp>
        <p:nvSpPr>
          <p:cNvPr id="44" name="Text 40"/>
          <p:cNvSpPr txBox="1"/>
          <p:nvPr/>
        </p:nvSpPr>
        <p:spPr>
          <a:xfrm>
            <a:off x="1417320" y="3657600"/>
            <a:ext cx="7040880" cy="640080"/>
          </a:xfrm>
          <a:prstGeom prst="rect">
            <a:avLst/>
          </a:prstGeom>
          <a:noFill/>
          <a:ln/>
        </p:spPr>
        <p:txBody>
          <a:bodyPr wrap="square" lIns="0" tIns="0" rIns="0" bIns="0" rtlCol="0" anchor="ctr"/>
          <a:lstStyle/>
          <a:p>
            <a:pPr marL="0" indent="0">
              <a:buNone/>
            </a:pPr>
            <a:r>
              <a:rPr lang="en-US" sz="1200" b="1" dirty="0">
                <a:solidFill>
                  <a:srgbClr val="C8F236"/>
                </a:solidFill>
                <a:latin typeface="Calibri" pitchFamily="34" charset="0"/>
                <a:ea typeface="Calibri" pitchFamily="34" charset="-122"/>
                <a:cs typeface="Calibri" pitchFamily="34" charset="-120"/>
              </a:rPr>
              <a:t>Rule of three. </a:t>
            </a:r>
            <a:r>
              <a:rPr lang="en-US" sz="1200" dirty="0">
                <a:solidFill>
                  <a:srgbClr val="FFFFFF"/>
                </a:solidFill>
                <a:latin typeface="Calibri" pitchFamily="34" charset="0"/>
                <a:ea typeface="Calibri" pitchFamily="34" charset="-122"/>
                <a:cs typeface="Calibri" pitchFamily="34" charset="-120"/>
              </a:rPr>
              <a:t>If the same bug survives three attempts, go back to the last checkpoint and describe the problem differently. Reverting isn't failure. It's the pro move.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4"/>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C8F236"/>
                </a:solidFill>
                <a:latin typeface="Courier New" pitchFamily="34" charset="0"/>
                <a:ea typeface="Courier New" pitchFamily="34" charset="-122"/>
                <a:cs typeface="Courier New" pitchFamily="34" charset="-120"/>
              </a:rPr>
              <a:t>ACT 3 · HOW TO DO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9CA3AF"/>
                </a:solidFill>
                <a:latin typeface="Courier New" pitchFamily="34" charset="0"/>
                <a:ea typeface="Courier New" pitchFamily="34" charset="-122"/>
                <a:cs typeface="Courier New" pitchFamily="34" charset="-120"/>
              </a:rPr>
              <a:t>10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vague prompt</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b="1" dirty="0">
                <a:solidFill>
                  <a:srgbClr val="C8F236"/>
                </a:solidFill>
                <a:latin typeface="Courier New" pitchFamily="34" charset="0"/>
                <a:ea typeface="Courier New" pitchFamily="34" charset="-122"/>
                <a:cs typeface="Courier New" pitchFamily="34" charset="-120"/>
              </a:rPr>
              <a:t>3 How</a:t>
            </a:r>
            <a:endParaRPr lang="en-US" sz="750" dirty="0"/>
          </a:p>
        </p:txBody>
      </p:sp>
      <p:sp>
        <p:nvSpPr>
          <p:cNvPr id="8" name="Shape 6"/>
          <p:cNvSpPr/>
          <p:nvPr/>
        </p:nvSpPr>
        <p:spPr>
          <a:xfrm>
            <a:off x="3094330"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FFFFF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9CA3AF"/>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9CA3AF"/>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4937760" cy="2103120"/>
          </a:xfrm>
          <a:prstGeom prst="roundRect">
            <a:avLst>
              <a:gd name="adj" fmla="val 5217"/>
            </a:avLst>
          </a:prstGeom>
          <a:solidFill>
            <a:srgbClr val="1B1F26"/>
          </a:solidFill>
          <a:ln w="12700">
            <a:solidFill>
              <a:srgbClr val="1B1F26"/>
            </a:solidFill>
            <a:prstDash val="solid"/>
          </a:ln>
        </p:spPr>
        <p:txBody>
          <a:bodyPr/>
          <a:lstStyle/>
          <a:p>
            <a:endParaRPr lang="en-US"/>
          </a:p>
        </p:txBody>
      </p:sp>
      <p:sp>
        <p:nvSpPr>
          <p:cNvPr id="17" name="Shape 14"/>
          <p:cNvSpPr/>
          <p:nvPr/>
        </p:nvSpPr>
        <p:spPr>
          <a:xfrm>
            <a:off x="777240" y="1417320"/>
            <a:ext cx="109728" cy="109728"/>
          </a:xfrm>
          <a:prstGeom prst="ellipse">
            <a:avLst/>
          </a:prstGeom>
          <a:solidFill>
            <a:srgbClr val="E24B4A"/>
          </a:solidFill>
          <a:ln w="12700">
            <a:solidFill>
              <a:srgbClr val="E24B4A"/>
            </a:solidFill>
            <a:prstDash val="solid"/>
          </a:ln>
        </p:spPr>
        <p:txBody>
          <a:bodyPr/>
          <a:lstStyle/>
          <a:p>
            <a:endParaRPr lang="en-US"/>
          </a:p>
        </p:txBody>
      </p:sp>
      <p:sp>
        <p:nvSpPr>
          <p:cNvPr id="18" name="Shape 15"/>
          <p:cNvSpPr/>
          <p:nvPr/>
        </p:nvSpPr>
        <p:spPr>
          <a:xfrm>
            <a:off x="960120" y="1417320"/>
            <a:ext cx="109728" cy="109728"/>
          </a:xfrm>
          <a:prstGeom prst="ellipse">
            <a:avLst/>
          </a:prstGeom>
          <a:solidFill>
            <a:srgbClr val="F2C14E"/>
          </a:solidFill>
          <a:ln w="12700">
            <a:solidFill>
              <a:srgbClr val="F2C14E"/>
            </a:solidFill>
            <a:prstDash val="solid"/>
          </a:ln>
        </p:spPr>
        <p:txBody>
          <a:bodyPr/>
          <a:lstStyle/>
          <a:p>
            <a:endParaRPr lang="en-US"/>
          </a:p>
        </p:txBody>
      </p:sp>
      <p:sp>
        <p:nvSpPr>
          <p:cNvPr id="19" name="Shape 16"/>
          <p:cNvSpPr/>
          <p:nvPr/>
        </p:nvSpPr>
        <p:spPr>
          <a:xfrm>
            <a:off x="1143000" y="1417320"/>
            <a:ext cx="109728" cy="109728"/>
          </a:xfrm>
          <a:prstGeom prst="ellipse">
            <a:avLst/>
          </a:prstGeom>
          <a:solidFill>
            <a:srgbClr val="C8F236"/>
          </a:solidFill>
          <a:ln w="12700">
            <a:solidFill>
              <a:srgbClr val="C8F236"/>
            </a:solidFill>
            <a:prstDash val="solid"/>
          </a:ln>
        </p:spPr>
        <p:txBody>
          <a:bodyPr/>
          <a:lstStyle/>
          <a:p>
            <a:endParaRPr lang="en-US"/>
          </a:p>
        </p:txBody>
      </p:sp>
      <p:sp>
        <p:nvSpPr>
          <p:cNvPr id="20" name="Text 17"/>
          <p:cNvSpPr txBox="1"/>
          <p:nvPr/>
        </p:nvSpPr>
        <p:spPr>
          <a:xfrm>
            <a:off x="777240" y="1737360"/>
            <a:ext cx="4480560" cy="1371600"/>
          </a:xfrm>
          <a:prstGeom prst="rect">
            <a:avLst/>
          </a:prstGeom>
          <a:noFill/>
          <a:ln/>
        </p:spPr>
        <p:txBody>
          <a:bodyPr wrap="square" lIns="0" tIns="0" rIns="0" bIns="0" rtlCol="0" anchor="t"/>
          <a:lstStyle/>
          <a:p>
            <a:pPr marL="0" indent="0">
              <a:lnSpc>
                <a:spcPct val="115000"/>
              </a:lnSpc>
              <a:buNone/>
            </a:pPr>
            <a:r>
              <a:rPr lang="en-US" sz="1400" dirty="0">
                <a:solidFill>
                  <a:srgbClr val="C8F236"/>
                </a:solidFill>
                <a:latin typeface="Courier New" pitchFamily="34" charset="0"/>
                <a:ea typeface="Courier New" pitchFamily="34" charset="-122"/>
                <a:cs typeface="Courier New" pitchFamily="34" charset="-120"/>
              </a:rPr>
              <a:t>&gt; </a:t>
            </a:r>
            <a:r>
              <a:rPr lang="en-US" sz="1400" dirty="0">
                <a:solidFill>
                  <a:srgbClr val="FFFFFF"/>
                </a:solidFill>
                <a:latin typeface="Courier New" pitchFamily="34" charset="0"/>
                <a:ea typeface="Courier New" pitchFamily="34" charset="-122"/>
                <a:cs typeface="Courier New" pitchFamily="34" charset="-120"/>
              </a:rPr>
              <a:t>Build a landing page for a meditation app using React and Tailwind. Make it look nice and modern. Add some animations.</a:t>
            </a:r>
            <a:endParaRPr lang="en-US" sz="1400" dirty="0"/>
          </a:p>
        </p:txBody>
      </p:sp>
      <p:sp>
        <p:nvSpPr>
          <p:cNvPr id="21" name="Text 18"/>
          <p:cNvSpPr txBox="1"/>
          <p:nvPr/>
        </p:nvSpPr>
        <p:spPr>
          <a:xfrm>
            <a:off x="5760720" y="1188720"/>
            <a:ext cx="2834640" cy="45720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What did we leave for the AI to decide?</a:t>
            </a:r>
            <a:endParaRPr lang="en-US" sz="1600" dirty="0"/>
          </a:p>
        </p:txBody>
      </p:sp>
      <p:sp>
        <p:nvSpPr>
          <p:cNvPr id="22" name="Text 19"/>
          <p:cNvSpPr txBox="1"/>
          <p:nvPr/>
        </p:nvSpPr>
        <p:spPr>
          <a:xfrm>
            <a:off x="5760720" y="1737360"/>
            <a:ext cx="28346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9CA3AF"/>
                </a:solidFill>
                <a:latin typeface="Calibri" pitchFamily="34" charset="0"/>
                <a:ea typeface="Calibri" pitchFamily="34" charset="-122"/>
                <a:cs typeface="Calibri" pitchFamily="34" charset="-120"/>
              </a:rPr>
              <a:t>Who is it for?</a:t>
            </a:r>
            <a:endParaRPr lang="en-US" sz="1300" dirty="0"/>
          </a:p>
          <a:p>
            <a:pPr marL="342900" indent="-342900">
              <a:spcAft>
                <a:spcPts val="600"/>
              </a:spcAft>
              <a:buSzPct val="100000"/>
              <a:buChar char="•"/>
            </a:pPr>
            <a:r>
              <a:rPr lang="en-US" sz="1300" dirty="0">
                <a:solidFill>
                  <a:srgbClr val="9CA3AF"/>
                </a:solidFill>
                <a:latin typeface="Calibri" pitchFamily="34" charset="0"/>
                <a:ea typeface="Calibri" pitchFamily="34" charset="-122"/>
                <a:cs typeface="Calibri" pitchFamily="34" charset="-120"/>
              </a:rPr>
              <a:t>What does the button do?</a:t>
            </a:r>
            <a:endParaRPr lang="en-US" sz="1300" dirty="0"/>
          </a:p>
          <a:p>
            <a:pPr marL="342900" indent="-342900">
              <a:spcAft>
                <a:spcPts val="600"/>
              </a:spcAft>
              <a:buSzPct val="100000"/>
              <a:buChar char="•"/>
            </a:pPr>
            <a:r>
              <a:rPr lang="en-US" sz="1300" dirty="0">
                <a:solidFill>
                  <a:srgbClr val="9CA3AF"/>
                </a:solidFill>
                <a:latin typeface="Calibri" pitchFamily="34" charset="0"/>
                <a:ea typeface="Calibri" pitchFamily="34" charset="-122"/>
                <a:cs typeface="Calibri" pitchFamily="34" charset="-120"/>
              </a:rPr>
              <a:t>What does "nice" mean?</a:t>
            </a:r>
            <a:endParaRPr lang="en-US" sz="1300" dirty="0"/>
          </a:p>
          <a:p>
            <a:pPr marL="342900" indent="-342900">
              <a:spcAft>
                <a:spcPts val="600"/>
              </a:spcAft>
              <a:buSzPct val="100000"/>
              <a:buChar char="•"/>
            </a:pPr>
            <a:r>
              <a:rPr lang="en-US" sz="1300" dirty="0">
                <a:solidFill>
                  <a:srgbClr val="9CA3AF"/>
                </a:solidFill>
                <a:latin typeface="Calibri" pitchFamily="34" charset="0"/>
                <a:ea typeface="Calibri" pitchFamily="34" charset="-122"/>
                <a:cs typeface="Calibri" pitchFamily="34" charset="-120"/>
              </a:rPr>
              <a:t>What counts as done?</a:t>
            </a:r>
            <a:endParaRPr lang="en-US" sz="1300" dirty="0"/>
          </a:p>
        </p:txBody>
      </p:sp>
      <p:sp>
        <p:nvSpPr>
          <p:cNvPr id="23" name="Text 20"/>
          <p:cNvSpPr txBox="1"/>
          <p:nvPr/>
        </p:nvSpPr>
        <p:spPr>
          <a:xfrm>
            <a:off x="548640" y="3520440"/>
            <a:ext cx="8046720" cy="548640"/>
          </a:xfrm>
          <a:prstGeom prst="rect">
            <a:avLst/>
          </a:prstGeom>
          <a:noFill/>
          <a:ln/>
        </p:spPr>
        <p:txBody>
          <a:bodyPr wrap="square" lIns="0" tIns="0" rIns="0" bIns="0" rtlCol="0" anchor="t"/>
          <a:lstStyle/>
          <a:p>
            <a:pPr marL="0" indent="0">
              <a:buNone/>
            </a:pPr>
            <a:r>
              <a:rPr lang="en-US" sz="1250" i="1" dirty="0">
                <a:solidFill>
                  <a:srgbClr val="9CA3AF"/>
                </a:solidFill>
                <a:latin typeface="Calibri" pitchFamily="34" charset="0"/>
                <a:ea typeface="Calibri" pitchFamily="34" charset="-122"/>
                <a:cs typeface="Calibri" pitchFamily="34" charset="-120"/>
              </a:rPr>
              <a:t>This prompt is not wrong. It just hands every decision to the model. We will see what that produces in a moment.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3 · HOW TO DO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11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Words that work better than "nice"</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3 How</a:t>
            </a:r>
            <a:endParaRPr lang="en-US" sz="750" dirty="0"/>
          </a:p>
        </p:txBody>
      </p:sp>
      <p:sp>
        <p:nvSpPr>
          <p:cNvPr id="8" name="Shape 6"/>
          <p:cNvSpPr/>
          <p:nvPr/>
        </p:nvSpPr>
        <p:spPr>
          <a:xfrm>
            <a:off x="3094330"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210312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57200">
                <a:tc>
                  <a:txBody>
                    <a:bodyPr/>
                    <a:lstStyle/>
                    <a:p>
                      <a:pPr marL="0" indent="0" algn="ctr">
                        <a:buNone/>
                      </a:pPr>
                      <a:r>
                        <a:rPr lang="en-US" sz="1300" b="1" dirty="0">
                          <a:solidFill>
                            <a:srgbClr val="FFFFFF"/>
                          </a:solidFill>
                        </a:rPr>
                        <a:t>Visual</a:t>
                      </a:r>
                      <a:endParaRPr lang="en-US" sz="1300" dirty="0"/>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111318"/>
                    </a:solidFill>
                  </a:tcPr>
                </a:tc>
                <a:tc>
                  <a:txBody>
                    <a:bodyPr/>
                    <a:lstStyle/>
                    <a:p>
                      <a:pPr marL="0" indent="0" algn="ctr">
                        <a:buNone/>
                      </a:pPr>
                      <a:r>
                        <a:rPr lang="en-US" sz="1300" b="1" dirty="0">
                          <a:solidFill>
                            <a:srgbClr val="FFFFFF"/>
                          </a:solidFill>
                        </a:rPr>
                        <a:t>Motion</a:t>
                      </a:r>
                      <a:endParaRPr lang="en-US" sz="1300" dirty="0"/>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111318"/>
                    </a:solidFill>
                  </a:tcPr>
                </a:tc>
                <a:tc>
                  <a:txBody>
                    <a:bodyPr/>
                    <a:lstStyle/>
                    <a:p>
                      <a:pPr marL="0" indent="0" algn="ctr">
                        <a:buNone/>
                      </a:pPr>
                      <a:r>
                        <a:rPr lang="en-US" sz="1300" b="1" dirty="0">
                          <a:solidFill>
                            <a:srgbClr val="FFFFFF"/>
                          </a:solidFill>
                        </a:rPr>
                        <a:t>Tone</a:t>
                      </a:r>
                      <a:endParaRPr lang="en-US" sz="1300" dirty="0"/>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111318"/>
                    </a:solidFill>
                  </a:tcPr>
                </a:tc>
                <a:tc>
                  <a:txBody>
                    <a:bodyPr/>
                    <a:lstStyle/>
                    <a:p>
                      <a:pPr marL="0" indent="0" algn="ctr">
                        <a:buNone/>
                      </a:pPr>
                      <a:r>
                        <a:rPr lang="en-US" sz="1300" b="1" dirty="0">
                          <a:solidFill>
                            <a:srgbClr val="FFFFFF"/>
                          </a:solidFill>
                        </a:rPr>
                        <a:t>Style</a:t>
                      </a:r>
                      <a:endParaRPr lang="en-US" sz="1300" dirty="0"/>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111318"/>
                    </a:solidFill>
                  </a:tcPr>
                </a:tc>
                <a:extLst>
                  <a:ext uri="{0D108BD9-81ED-4DB2-BD59-A6C34878D82A}">
                    <a16:rowId xmlns:a16="http://schemas.microsoft.com/office/drawing/2014/main" val="10000"/>
                  </a:ext>
                </a:extLst>
              </a:tr>
              <a:tr h="548640">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soft, dreamy</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smooth, slow, fluid</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playful, formal</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retro, brutalist</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cosy, warm</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springy, elastic</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gentle, sharp</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minimal, maximal</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548640">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dark, moody</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quick, responsive</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calming, bold</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318"/>
                          </a:solidFill>
                          <a:latin typeface="Courier New" pitchFamily="34" charset="0"/>
                          <a:ea typeface="Courier New" pitchFamily="34" charset="-122"/>
                          <a:cs typeface="Courier New" pitchFamily="34" charset="-120"/>
                        </a:rPr>
                        <a:t>glassy, grainy</a:t>
                      </a:r>
                      <a:endParaRPr lang="en-US" sz="1200" dirty="0">
                        <a:latin typeface="Courier New" charset="0"/>
                        <a:ea typeface="Courier New" charset="0"/>
                        <a:cs typeface="Courier New" charset="0"/>
                      </a:endParaRPr>
                    </a:p>
                  </a:txBody>
                  <a:tcPr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3"/>
          <p:cNvSpPr txBox="1"/>
          <p:nvPr/>
        </p:nvSpPr>
        <p:spPr>
          <a:xfrm>
            <a:off x="548640" y="3611880"/>
            <a:ext cx="8046720" cy="548640"/>
          </a:xfrm>
          <a:prstGeom prst="rect">
            <a:avLst/>
          </a:prstGeom>
          <a:noFill/>
          <a:ln/>
        </p:spPr>
        <p:txBody>
          <a:bodyPr wrap="square" lIns="0" tIns="0" rIns="0" bIns="0" rtlCol="0" anchor="t"/>
          <a:lstStyle/>
          <a:p>
            <a:pPr marL="0" indent="0" algn="ctr">
              <a:buNone/>
            </a:pPr>
            <a:r>
              <a:rPr lang="en-US" sz="1300" dirty="0">
                <a:solidFill>
                  <a:srgbClr val="6B7280"/>
                </a:solidFill>
                <a:latin typeface="Calibri" pitchFamily="34" charset="0"/>
                <a:ea typeface="Calibri" pitchFamily="34" charset="-122"/>
                <a:cs typeface="Calibri" pitchFamily="34" charset="-120"/>
              </a:rPr>
              <a:t>"Calm" becomes useful when you add a palette, a layout, a motion limit, and a reference: "like a Muji store".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3 · HOW TO DO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12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The same app, specified</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3 How</a:t>
            </a:r>
            <a:endParaRPr lang="en-US" sz="750" dirty="0"/>
          </a:p>
        </p:txBody>
      </p:sp>
      <p:sp>
        <p:nvSpPr>
          <p:cNvPr id="8" name="Shape 6"/>
          <p:cNvSpPr/>
          <p:nvPr/>
        </p:nvSpPr>
        <p:spPr>
          <a:xfrm>
            <a:off x="3094330"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8046720" cy="2834640"/>
          </a:xfrm>
          <a:prstGeom prst="roundRect">
            <a:avLst>
              <a:gd name="adj" fmla="val 3871"/>
            </a:avLst>
          </a:prstGeom>
          <a:solidFill>
            <a:srgbClr val="1B1F26"/>
          </a:solidFill>
          <a:ln w="12700">
            <a:solidFill>
              <a:srgbClr val="1B1F26"/>
            </a:solidFill>
            <a:prstDash val="solid"/>
          </a:ln>
        </p:spPr>
        <p:txBody>
          <a:bodyPr/>
          <a:lstStyle/>
          <a:p>
            <a:endParaRPr lang="en-US"/>
          </a:p>
        </p:txBody>
      </p:sp>
      <p:sp>
        <p:nvSpPr>
          <p:cNvPr id="17" name="Shape 14"/>
          <p:cNvSpPr/>
          <p:nvPr/>
        </p:nvSpPr>
        <p:spPr>
          <a:xfrm>
            <a:off x="777240" y="1417320"/>
            <a:ext cx="109728" cy="109728"/>
          </a:xfrm>
          <a:prstGeom prst="ellipse">
            <a:avLst/>
          </a:prstGeom>
          <a:solidFill>
            <a:srgbClr val="E24B4A"/>
          </a:solidFill>
          <a:ln w="12700">
            <a:solidFill>
              <a:srgbClr val="E24B4A"/>
            </a:solidFill>
            <a:prstDash val="solid"/>
          </a:ln>
        </p:spPr>
        <p:txBody>
          <a:bodyPr/>
          <a:lstStyle/>
          <a:p>
            <a:endParaRPr lang="en-US"/>
          </a:p>
        </p:txBody>
      </p:sp>
      <p:sp>
        <p:nvSpPr>
          <p:cNvPr id="18" name="Shape 15"/>
          <p:cNvSpPr/>
          <p:nvPr/>
        </p:nvSpPr>
        <p:spPr>
          <a:xfrm>
            <a:off x="960120" y="1417320"/>
            <a:ext cx="109728" cy="109728"/>
          </a:xfrm>
          <a:prstGeom prst="ellipse">
            <a:avLst/>
          </a:prstGeom>
          <a:solidFill>
            <a:srgbClr val="F2C14E"/>
          </a:solidFill>
          <a:ln w="12700">
            <a:solidFill>
              <a:srgbClr val="F2C14E"/>
            </a:solidFill>
            <a:prstDash val="solid"/>
          </a:ln>
        </p:spPr>
        <p:txBody>
          <a:bodyPr/>
          <a:lstStyle/>
          <a:p>
            <a:endParaRPr lang="en-US"/>
          </a:p>
        </p:txBody>
      </p:sp>
      <p:sp>
        <p:nvSpPr>
          <p:cNvPr id="19" name="Shape 16"/>
          <p:cNvSpPr/>
          <p:nvPr/>
        </p:nvSpPr>
        <p:spPr>
          <a:xfrm>
            <a:off x="1143000" y="1417320"/>
            <a:ext cx="109728" cy="109728"/>
          </a:xfrm>
          <a:prstGeom prst="ellipse">
            <a:avLst/>
          </a:prstGeom>
          <a:solidFill>
            <a:srgbClr val="C8F236"/>
          </a:solidFill>
          <a:ln w="12700">
            <a:solidFill>
              <a:srgbClr val="C8F236"/>
            </a:solidFill>
            <a:prstDash val="solid"/>
          </a:ln>
        </p:spPr>
        <p:txBody>
          <a:bodyPr/>
          <a:lstStyle/>
          <a:p>
            <a:endParaRPr lang="en-US"/>
          </a:p>
        </p:txBody>
      </p:sp>
      <p:sp>
        <p:nvSpPr>
          <p:cNvPr id="20" name="Text 17"/>
          <p:cNvSpPr txBox="1"/>
          <p:nvPr/>
        </p:nvSpPr>
        <p:spPr>
          <a:xfrm>
            <a:off x="1463040" y="1325880"/>
            <a:ext cx="6949440" cy="274320"/>
          </a:xfrm>
          <a:prstGeom prst="rect">
            <a:avLst/>
          </a:prstGeom>
          <a:noFill/>
          <a:ln/>
        </p:spPr>
        <p:txBody>
          <a:bodyPr wrap="square" lIns="0" tIns="0" rIns="0" bIns="0" rtlCol="0" anchor="t"/>
          <a:lstStyle/>
          <a:p>
            <a:pPr marL="0" indent="0">
              <a:buNone/>
            </a:pPr>
            <a:r>
              <a:rPr lang="en-US" sz="1000" kern="0" spc="100" dirty="0">
                <a:solidFill>
                  <a:srgbClr val="C8F236"/>
                </a:solidFill>
                <a:latin typeface="Courier New" pitchFamily="34" charset="0"/>
                <a:ea typeface="Courier New" pitchFamily="34" charset="-122"/>
                <a:cs typeface="Courier New" pitchFamily="34" charset="-120"/>
              </a:rPr>
              <a:t>BUILD "STILL", A MEDITATION PAGE FOR BUSY STUDENTS</a:t>
            </a:r>
            <a:endParaRPr lang="en-US" sz="1000" dirty="0"/>
          </a:p>
        </p:txBody>
      </p:sp>
      <p:sp>
        <p:nvSpPr>
          <p:cNvPr id="21" name="Text 18"/>
          <p:cNvSpPr txBox="1"/>
          <p:nvPr/>
        </p:nvSpPr>
        <p:spPr>
          <a:xfrm>
            <a:off x="777240" y="1737360"/>
            <a:ext cx="1600200" cy="402336"/>
          </a:xfrm>
          <a:prstGeom prst="rect">
            <a:avLst/>
          </a:prstGeom>
          <a:noFill/>
          <a:ln/>
        </p:spPr>
        <p:txBody>
          <a:bodyPr wrap="square" lIns="0" tIns="0" rIns="0" bIns="0" rtlCol="0" anchor="ctr"/>
          <a:lstStyle/>
          <a:p>
            <a:pPr marL="0" indent="0">
              <a:buNone/>
            </a:pPr>
            <a:r>
              <a:rPr lang="en-US" sz="1050" b="1" dirty="0">
                <a:solidFill>
                  <a:srgbClr val="C8F236"/>
                </a:solidFill>
                <a:latin typeface="Courier New" pitchFamily="34" charset="0"/>
                <a:ea typeface="Courier New" pitchFamily="34" charset="-122"/>
                <a:cs typeface="Courier New" pitchFamily="34" charset="-120"/>
              </a:rPr>
              <a:t>1  PURPOSE</a:t>
            </a:r>
            <a:endParaRPr lang="en-US" sz="1050" dirty="0"/>
          </a:p>
        </p:txBody>
      </p:sp>
      <p:sp>
        <p:nvSpPr>
          <p:cNvPr id="22" name="Text 19"/>
          <p:cNvSpPr txBox="1"/>
          <p:nvPr/>
        </p:nvSpPr>
        <p:spPr>
          <a:xfrm>
            <a:off x="2377440" y="1737360"/>
            <a:ext cx="6035040" cy="402336"/>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Busy students who want a short break between classes.</a:t>
            </a:r>
            <a:endParaRPr lang="en-US" sz="1000" dirty="0"/>
          </a:p>
        </p:txBody>
      </p:sp>
      <p:sp>
        <p:nvSpPr>
          <p:cNvPr id="23" name="Text 20"/>
          <p:cNvSpPr txBox="1"/>
          <p:nvPr/>
        </p:nvSpPr>
        <p:spPr>
          <a:xfrm>
            <a:off x="777240" y="2176272"/>
            <a:ext cx="1600200" cy="402336"/>
          </a:xfrm>
          <a:prstGeom prst="rect">
            <a:avLst/>
          </a:prstGeom>
          <a:noFill/>
          <a:ln/>
        </p:spPr>
        <p:txBody>
          <a:bodyPr wrap="square" lIns="0" tIns="0" rIns="0" bIns="0" rtlCol="0" anchor="ctr"/>
          <a:lstStyle/>
          <a:p>
            <a:pPr marL="0" indent="0">
              <a:buNone/>
            </a:pPr>
            <a:r>
              <a:rPr lang="en-US" sz="1050" b="1" dirty="0">
                <a:solidFill>
                  <a:srgbClr val="C8F236"/>
                </a:solidFill>
                <a:latin typeface="Courier New" pitchFamily="34" charset="0"/>
                <a:ea typeface="Courier New" pitchFamily="34" charset="-122"/>
                <a:cs typeface="Courier New" pitchFamily="34" charset="-120"/>
              </a:rPr>
              <a:t>2  DESIGN</a:t>
            </a:r>
            <a:endParaRPr lang="en-US" sz="1050" dirty="0"/>
          </a:p>
        </p:txBody>
      </p:sp>
      <p:sp>
        <p:nvSpPr>
          <p:cNvPr id="24" name="Text 21"/>
          <p:cNvSpPr txBox="1"/>
          <p:nvPr/>
        </p:nvSpPr>
        <p:spPr>
          <a:xfrm>
            <a:off x="2377440" y="2176272"/>
            <a:ext cx="6035040" cy="402336"/>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Warm cream, sage green, generous space, gentle motion.</a:t>
            </a:r>
            <a:endParaRPr lang="en-US" sz="1000" dirty="0"/>
          </a:p>
        </p:txBody>
      </p:sp>
      <p:sp>
        <p:nvSpPr>
          <p:cNvPr id="25" name="Text 22"/>
          <p:cNvSpPr txBox="1"/>
          <p:nvPr/>
        </p:nvSpPr>
        <p:spPr>
          <a:xfrm>
            <a:off x="777240" y="2615184"/>
            <a:ext cx="1600200" cy="402336"/>
          </a:xfrm>
          <a:prstGeom prst="rect">
            <a:avLst/>
          </a:prstGeom>
          <a:noFill/>
          <a:ln/>
        </p:spPr>
        <p:txBody>
          <a:bodyPr wrap="square" lIns="0" tIns="0" rIns="0" bIns="0" rtlCol="0" anchor="ctr"/>
          <a:lstStyle/>
          <a:p>
            <a:pPr marL="0" indent="0">
              <a:buNone/>
            </a:pPr>
            <a:r>
              <a:rPr lang="en-US" sz="1050" b="1" dirty="0">
                <a:solidFill>
                  <a:srgbClr val="C8F236"/>
                </a:solidFill>
                <a:latin typeface="Courier New" pitchFamily="34" charset="0"/>
                <a:ea typeface="Courier New" pitchFamily="34" charset="-122"/>
                <a:cs typeface="Courier New" pitchFamily="34" charset="-120"/>
              </a:rPr>
              <a:t>3  BEHAVIOUR</a:t>
            </a:r>
            <a:endParaRPr lang="en-US" sz="1050" dirty="0"/>
          </a:p>
        </p:txBody>
      </p:sp>
      <p:sp>
        <p:nvSpPr>
          <p:cNvPr id="26" name="Text 23"/>
          <p:cNvSpPr txBox="1"/>
          <p:nvPr/>
        </p:nvSpPr>
        <p:spPr>
          <a:xfrm>
            <a:off x="2377440" y="2615184"/>
            <a:ext cx="6035040" cy="402336"/>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Both buttons open a 60-second breathing timer with start, pause, reset, and a completion message.</a:t>
            </a:r>
            <a:endParaRPr lang="en-US" sz="1000" dirty="0"/>
          </a:p>
        </p:txBody>
      </p:sp>
      <p:sp>
        <p:nvSpPr>
          <p:cNvPr id="27" name="Text 24"/>
          <p:cNvSpPr txBox="1"/>
          <p:nvPr/>
        </p:nvSpPr>
        <p:spPr>
          <a:xfrm>
            <a:off x="777240" y="3054096"/>
            <a:ext cx="1600200" cy="402336"/>
          </a:xfrm>
          <a:prstGeom prst="rect">
            <a:avLst/>
          </a:prstGeom>
          <a:noFill/>
          <a:ln/>
        </p:spPr>
        <p:txBody>
          <a:bodyPr wrap="square" lIns="0" tIns="0" rIns="0" bIns="0" rtlCol="0" anchor="ctr"/>
          <a:lstStyle/>
          <a:p>
            <a:pPr marL="0" indent="0">
              <a:buNone/>
            </a:pPr>
            <a:r>
              <a:rPr lang="en-US" sz="1050" b="1" dirty="0">
                <a:solidFill>
                  <a:srgbClr val="C8F236"/>
                </a:solidFill>
                <a:latin typeface="Courier New" pitchFamily="34" charset="0"/>
                <a:ea typeface="Courier New" pitchFamily="34" charset="-122"/>
                <a:cs typeface="Courier New" pitchFamily="34" charset="-120"/>
              </a:rPr>
              <a:t>4  CONSTRAINTS</a:t>
            </a:r>
            <a:endParaRPr lang="en-US" sz="1050" dirty="0"/>
          </a:p>
        </p:txBody>
      </p:sp>
      <p:sp>
        <p:nvSpPr>
          <p:cNvPr id="28" name="Text 25"/>
          <p:cNvSpPr txBox="1"/>
          <p:nvPr/>
        </p:nvSpPr>
        <p:spPr>
          <a:xfrm>
            <a:off x="2377440" y="3054096"/>
            <a:ext cx="6035040" cy="402336"/>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React + Tailwind. Mobile layout. Keyboard access. Reduced motion. No login, backend, or paid services.</a:t>
            </a:r>
            <a:endParaRPr lang="en-US" sz="1000" dirty="0"/>
          </a:p>
        </p:txBody>
      </p:sp>
      <p:sp>
        <p:nvSpPr>
          <p:cNvPr id="29" name="Text 26"/>
          <p:cNvSpPr txBox="1"/>
          <p:nvPr/>
        </p:nvSpPr>
        <p:spPr>
          <a:xfrm>
            <a:off x="777240" y="3493008"/>
            <a:ext cx="1600200" cy="402336"/>
          </a:xfrm>
          <a:prstGeom prst="rect">
            <a:avLst/>
          </a:prstGeom>
          <a:noFill/>
          <a:ln/>
        </p:spPr>
        <p:txBody>
          <a:bodyPr wrap="square" lIns="0" tIns="0" rIns="0" bIns="0" rtlCol="0" anchor="ctr"/>
          <a:lstStyle/>
          <a:p>
            <a:pPr marL="0" indent="0">
              <a:buNone/>
            </a:pPr>
            <a:r>
              <a:rPr lang="en-US" sz="1050" b="1" dirty="0">
                <a:solidFill>
                  <a:srgbClr val="C8F236"/>
                </a:solidFill>
                <a:latin typeface="Courier New" pitchFamily="34" charset="0"/>
                <a:ea typeface="Courier New" pitchFamily="34" charset="-122"/>
                <a:cs typeface="Courier New" pitchFamily="34" charset="-120"/>
              </a:rPr>
              <a:t>5  VERIFY</a:t>
            </a:r>
            <a:endParaRPr lang="en-US" sz="1050" dirty="0"/>
          </a:p>
        </p:txBody>
      </p:sp>
      <p:sp>
        <p:nvSpPr>
          <p:cNvPr id="30" name="Text 27"/>
          <p:cNvSpPr txBox="1"/>
          <p:nvPr/>
        </p:nvSpPr>
        <p:spPr>
          <a:xfrm>
            <a:off x="2377440" y="3493008"/>
            <a:ext cx="6035040" cy="402336"/>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Check both buttons, the timer states, and that mobile has no horizontal overflow.</a:t>
            </a:r>
            <a:endParaRPr lang="en-US" sz="1000" dirty="0"/>
          </a:p>
        </p:txBody>
      </p:sp>
      <p:sp>
        <p:nvSpPr>
          <p:cNvPr id="31" name="Text 28"/>
          <p:cNvSpPr txBox="1"/>
          <p:nvPr/>
        </p:nvSpPr>
        <p:spPr>
          <a:xfrm>
            <a:off x="548640" y="4114800"/>
            <a:ext cx="8046720" cy="320040"/>
          </a:xfrm>
          <a:prstGeom prst="rect">
            <a:avLst/>
          </a:prstGeom>
          <a:noFill/>
          <a:ln/>
        </p:spPr>
        <p:txBody>
          <a:bodyPr wrap="square" lIns="0" tIns="0" rIns="0" bIns="0" rtlCol="0" anchor="t"/>
          <a:lstStyle/>
          <a:p>
            <a:pPr marL="0" indent="0" algn="ctr">
              <a:buNone/>
            </a:pPr>
            <a:r>
              <a:rPr lang="en-US" sz="1250" i="1" dirty="0">
                <a:solidFill>
                  <a:srgbClr val="111318"/>
                </a:solidFill>
                <a:latin typeface="Cambria" pitchFamily="34" charset="0"/>
                <a:ea typeface="Cambria" pitchFamily="34" charset="-122"/>
                <a:cs typeface="Cambria" pitchFamily="34" charset="-120"/>
              </a:rPr>
              <a:t>Purpose, design, behaviour, constraints, verify. The last one is the part everybody skips, and the part that saves you.</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3 · HOW TO DO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13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Feedback that changes the result</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3 How</a:t>
            </a:r>
            <a:endParaRPr lang="en-US" sz="750" dirty="0"/>
          </a:p>
        </p:txBody>
      </p:sp>
      <p:sp>
        <p:nvSpPr>
          <p:cNvPr id="8" name="Shape 6"/>
          <p:cNvSpPr/>
          <p:nvPr/>
        </p:nvSpPr>
        <p:spPr>
          <a:xfrm>
            <a:off x="3094330" y="4919472"/>
            <a:ext cx="343814" cy="27432"/>
          </a:xfrm>
          <a:prstGeom prst="rect">
            <a:avLst/>
          </a:prstGeom>
          <a:solidFill>
            <a:srgbClr val="C8F236"/>
          </a:solidFill>
          <a:ln w="12700">
            <a:solidFill>
              <a:srgbClr val="C8F236"/>
            </a:solidFill>
            <a:prstDash val="solid"/>
          </a:ln>
        </p:spPr>
        <p:txBody>
          <a:bodyPr/>
          <a:lstStyle/>
          <a:p>
            <a:endParaRPr lang="en-US"/>
          </a:p>
        </p:txBody>
      </p:sp>
      <p:sp>
        <p:nvSpPr>
          <p:cNvPr id="9" name="Text 7"/>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Text 13"/>
          <p:cNvSpPr txBox="1"/>
          <p:nvPr/>
        </p:nvSpPr>
        <p:spPr>
          <a:xfrm>
            <a:off x="548640" y="1143000"/>
            <a:ext cx="3931920" cy="274320"/>
          </a:xfrm>
          <a:prstGeom prst="rect">
            <a:avLst/>
          </a:prstGeom>
          <a:noFill/>
          <a:ln/>
        </p:spPr>
        <p:txBody>
          <a:bodyPr wrap="square" lIns="0" tIns="0" rIns="0" bIns="0" rtlCol="0" anchor="t"/>
          <a:lstStyle/>
          <a:p>
            <a:pPr marL="0" indent="0">
              <a:buNone/>
            </a:pPr>
            <a:r>
              <a:rPr lang="en-US" sz="950" kern="0" spc="200" dirty="0">
                <a:solidFill>
                  <a:srgbClr val="6B7280"/>
                </a:solidFill>
                <a:latin typeface="Courier New" pitchFamily="34" charset="0"/>
                <a:ea typeface="Courier New" pitchFamily="34" charset="-122"/>
                <a:cs typeface="Courier New" pitchFamily="34" charset="-120"/>
              </a:rPr>
              <a:t>TO CHANGE HOW IT FEELS</a:t>
            </a:r>
            <a:endParaRPr lang="en-US" sz="950" dirty="0"/>
          </a:p>
        </p:txBody>
      </p:sp>
      <p:sp>
        <p:nvSpPr>
          <p:cNvPr id="17" name="Text 14"/>
          <p:cNvSpPr txBox="1"/>
          <p:nvPr/>
        </p:nvSpPr>
        <p:spPr>
          <a:xfrm>
            <a:off x="4663440" y="1143000"/>
            <a:ext cx="3931920" cy="274320"/>
          </a:xfrm>
          <a:prstGeom prst="rect">
            <a:avLst/>
          </a:prstGeom>
          <a:noFill/>
          <a:ln/>
        </p:spPr>
        <p:txBody>
          <a:bodyPr wrap="square" lIns="0" tIns="0" rIns="0" bIns="0" rtlCol="0" anchor="t"/>
          <a:lstStyle/>
          <a:p>
            <a:pPr marL="0" indent="0">
              <a:buNone/>
            </a:pPr>
            <a:r>
              <a:rPr lang="en-US" sz="950" kern="0" spc="200" dirty="0">
                <a:solidFill>
                  <a:srgbClr val="6B7280"/>
                </a:solidFill>
                <a:latin typeface="Courier New" pitchFamily="34" charset="0"/>
                <a:ea typeface="Courier New" pitchFamily="34" charset="-122"/>
                <a:cs typeface="Courier New" pitchFamily="34" charset="-120"/>
              </a:rPr>
              <a:t>TO FIX WHAT BROKE</a:t>
            </a:r>
            <a:endParaRPr lang="en-US" sz="950" dirty="0"/>
          </a:p>
        </p:txBody>
      </p:sp>
      <p:sp>
        <p:nvSpPr>
          <p:cNvPr id="18" name="Shape 15"/>
          <p:cNvSpPr/>
          <p:nvPr/>
        </p:nvSpPr>
        <p:spPr>
          <a:xfrm>
            <a:off x="548640" y="1463040"/>
            <a:ext cx="3931920" cy="566928"/>
          </a:xfrm>
          <a:prstGeom prst="roundRect">
            <a:avLst>
              <a:gd name="adj" fmla="val 32258"/>
            </a:avLst>
          </a:prstGeom>
          <a:solidFill>
            <a:srgbClr val="F3F4F6"/>
          </a:solidFill>
          <a:ln w="12700">
            <a:solidFill>
              <a:srgbClr val="F3F4F6"/>
            </a:solidFill>
            <a:prstDash val="solid"/>
          </a:ln>
        </p:spPr>
        <p:txBody>
          <a:bodyPr/>
          <a:lstStyle/>
          <a:p>
            <a:endParaRPr lang="en-US"/>
          </a:p>
        </p:txBody>
      </p:sp>
      <p:sp>
        <p:nvSpPr>
          <p:cNvPr id="19" name="Text 16"/>
          <p:cNvSpPr txBox="1"/>
          <p:nvPr/>
        </p:nvSpPr>
        <p:spPr>
          <a:xfrm>
            <a:off x="777240" y="1463040"/>
            <a:ext cx="3520440" cy="566928"/>
          </a:xfrm>
          <a:prstGeom prst="rect">
            <a:avLst/>
          </a:prstGeom>
          <a:noFill/>
          <a:ln/>
        </p:spPr>
        <p:txBody>
          <a:bodyPr wrap="square" lIns="0" tIns="0" rIns="0" bIns="0" rtlCol="0" anchor="ctr"/>
          <a:lstStyle/>
          <a:p>
            <a:pPr marL="0" indent="0">
              <a:buNone/>
            </a:pPr>
            <a:r>
              <a:rPr lang="en-US" sz="1150" dirty="0">
                <a:solidFill>
                  <a:srgbClr val="111318"/>
                </a:solidFill>
                <a:latin typeface="Calibri" pitchFamily="34" charset="0"/>
                <a:ea typeface="Calibri" pitchFamily="34" charset="-122"/>
                <a:cs typeface="Calibri" pitchFamily="34" charset="-120"/>
              </a:rPr>
              <a:t>"Reduce the hero to one headline and one primary action."</a:t>
            </a:r>
            <a:endParaRPr lang="en-US" sz="1150" dirty="0"/>
          </a:p>
        </p:txBody>
      </p:sp>
      <p:sp>
        <p:nvSpPr>
          <p:cNvPr id="20" name="Shape 17"/>
          <p:cNvSpPr/>
          <p:nvPr/>
        </p:nvSpPr>
        <p:spPr>
          <a:xfrm>
            <a:off x="548640" y="2121408"/>
            <a:ext cx="3931920" cy="566928"/>
          </a:xfrm>
          <a:prstGeom prst="roundRect">
            <a:avLst>
              <a:gd name="adj" fmla="val 32258"/>
            </a:avLst>
          </a:prstGeom>
          <a:solidFill>
            <a:srgbClr val="F3F4F6"/>
          </a:solidFill>
          <a:ln w="12700">
            <a:solidFill>
              <a:srgbClr val="F3F4F6"/>
            </a:solidFill>
            <a:prstDash val="solid"/>
          </a:ln>
        </p:spPr>
        <p:txBody>
          <a:bodyPr/>
          <a:lstStyle/>
          <a:p>
            <a:endParaRPr lang="en-US"/>
          </a:p>
        </p:txBody>
      </p:sp>
      <p:sp>
        <p:nvSpPr>
          <p:cNvPr id="21" name="Text 18"/>
          <p:cNvSpPr txBox="1"/>
          <p:nvPr/>
        </p:nvSpPr>
        <p:spPr>
          <a:xfrm>
            <a:off x="777240" y="2121408"/>
            <a:ext cx="3520440" cy="566928"/>
          </a:xfrm>
          <a:prstGeom prst="rect">
            <a:avLst/>
          </a:prstGeom>
          <a:noFill/>
          <a:ln/>
        </p:spPr>
        <p:txBody>
          <a:bodyPr wrap="square" lIns="0" tIns="0" rIns="0" bIns="0" rtlCol="0" anchor="ctr"/>
          <a:lstStyle/>
          <a:p>
            <a:pPr marL="0" indent="0">
              <a:buNone/>
            </a:pPr>
            <a:r>
              <a:rPr lang="en-US" sz="1150" dirty="0">
                <a:solidFill>
                  <a:srgbClr val="111318"/>
                </a:solidFill>
                <a:latin typeface="Calibri" pitchFamily="34" charset="0"/>
                <a:ea typeface="Calibri" pitchFamily="34" charset="-122"/>
                <a:cs typeface="Calibri" pitchFamily="34" charset="-120"/>
              </a:rPr>
              <a:t>"Use a serif heading for a vintage feel."</a:t>
            </a:r>
            <a:endParaRPr lang="en-US" sz="1150" dirty="0"/>
          </a:p>
        </p:txBody>
      </p:sp>
      <p:sp>
        <p:nvSpPr>
          <p:cNvPr id="22" name="Shape 19"/>
          <p:cNvSpPr/>
          <p:nvPr/>
        </p:nvSpPr>
        <p:spPr>
          <a:xfrm>
            <a:off x="548640" y="2779776"/>
            <a:ext cx="3931920" cy="566928"/>
          </a:xfrm>
          <a:prstGeom prst="roundRect">
            <a:avLst>
              <a:gd name="adj" fmla="val 32258"/>
            </a:avLst>
          </a:prstGeom>
          <a:solidFill>
            <a:srgbClr val="F3F4F6"/>
          </a:solidFill>
          <a:ln w="12700">
            <a:solidFill>
              <a:srgbClr val="F3F4F6"/>
            </a:solidFill>
            <a:prstDash val="solid"/>
          </a:ln>
        </p:spPr>
        <p:txBody>
          <a:bodyPr/>
          <a:lstStyle/>
          <a:p>
            <a:endParaRPr lang="en-US"/>
          </a:p>
        </p:txBody>
      </p:sp>
      <p:sp>
        <p:nvSpPr>
          <p:cNvPr id="23" name="Text 20"/>
          <p:cNvSpPr txBox="1"/>
          <p:nvPr/>
        </p:nvSpPr>
        <p:spPr>
          <a:xfrm>
            <a:off x="777240" y="2779776"/>
            <a:ext cx="3520440" cy="566928"/>
          </a:xfrm>
          <a:prstGeom prst="rect">
            <a:avLst/>
          </a:prstGeom>
          <a:noFill/>
          <a:ln/>
        </p:spPr>
        <p:txBody>
          <a:bodyPr wrap="square" lIns="0" tIns="0" rIns="0" bIns="0" rtlCol="0" anchor="ctr"/>
          <a:lstStyle/>
          <a:p>
            <a:pPr marL="0" indent="0">
              <a:buNone/>
            </a:pPr>
            <a:r>
              <a:rPr lang="en-US" sz="1150" dirty="0">
                <a:solidFill>
                  <a:srgbClr val="111318"/>
                </a:solidFill>
                <a:latin typeface="Calibri" pitchFamily="34" charset="0"/>
                <a:ea typeface="Calibri" pitchFamily="34" charset="-122"/>
                <a:cs typeface="Calibri" pitchFamily="34" charset="-120"/>
              </a:rPr>
              <a:t>"Slow the motion, and respect reduced motion."</a:t>
            </a:r>
            <a:endParaRPr lang="en-US" sz="1150" dirty="0"/>
          </a:p>
        </p:txBody>
      </p:sp>
      <p:sp>
        <p:nvSpPr>
          <p:cNvPr id="24" name="Shape 21"/>
          <p:cNvSpPr/>
          <p:nvPr/>
        </p:nvSpPr>
        <p:spPr>
          <a:xfrm>
            <a:off x="548640" y="3438144"/>
            <a:ext cx="3931920" cy="566928"/>
          </a:xfrm>
          <a:prstGeom prst="roundRect">
            <a:avLst>
              <a:gd name="adj" fmla="val 32258"/>
            </a:avLst>
          </a:prstGeom>
          <a:solidFill>
            <a:srgbClr val="F3F4F6"/>
          </a:solidFill>
          <a:ln w="12700">
            <a:solidFill>
              <a:srgbClr val="F3F4F6"/>
            </a:solidFill>
            <a:prstDash val="solid"/>
          </a:ln>
        </p:spPr>
        <p:txBody>
          <a:bodyPr/>
          <a:lstStyle/>
          <a:p>
            <a:endParaRPr lang="en-US"/>
          </a:p>
        </p:txBody>
      </p:sp>
      <p:sp>
        <p:nvSpPr>
          <p:cNvPr id="25" name="Text 22"/>
          <p:cNvSpPr txBox="1"/>
          <p:nvPr/>
        </p:nvSpPr>
        <p:spPr>
          <a:xfrm>
            <a:off x="777240" y="3438144"/>
            <a:ext cx="3520440" cy="566928"/>
          </a:xfrm>
          <a:prstGeom prst="rect">
            <a:avLst/>
          </a:prstGeom>
          <a:noFill/>
          <a:ln/>
        </p:spPr>
        <p:txBody>
          <a:bodyPr wrap="square" lIns="0" tIns="0" rIns="0" bIns="0" rtlCol="0" anchor="ctr"/>
          <a:lstStyle/>
          <a:p>
            <a:pPr marL="0" indent="0">
              <a:buNone/>
            </a:pPr>
            <a:r>
              <a:rPr lang="en-US" sz="1150" dirty="0">
                <a:solidFill>
                  <a:srgbClr val="111318"/>
                </a:solidFill>
                <a:latin typeface="Calibri" pitchFamily="34" charset="0"/>
                <a:ea typeface="Calibri" pitchFamily="34" charset="-122"/>
                <a:cs typeface="Calibri" pitchFamily="34" charset="-120"/>
              </a:rPr>
              <a:t>"Keep the timer behaviour unchanged."</a:t>
            </a:r>
            <a:endParaRPr lang="en-US" sz="1150" dirty="0"/>
          </a:p>
        </p:txBody>
      </p:sp>
      <p:sp>
        <p:nvSpPr>
          <p:cNvPr id="26" name="Shape 23"/>
          <p:cNvSpPr/>
          <p:nvPr/>
        </p:nvSpPr>
        <p:spPr>
          <a:xfrm>
            <a:off x="4663440" y="1463040"/>
            <a:ext cx="3931920" cy="566928"/>
          </a:xfrm>
          <a:prstGeom prst="roundRect">
            <a:avLst>
              <a:gd name="adj" fmla="val 32258"/>
            </a:avLst>
          </a:prstGeom>
          <a:solidFill>
            <a:srgbClr val="0F1114"/>
          </a:solidFill>
          <a:ln w="12700">
            <a:solidFill>
              <a:srgbClr val="0F1114"/>
            </a:solidFill>
            <a:prstDash val="solid"/>
          </a:ln>
        </p:spPr>
        <p:txBody>
          <a:bodyPr/>
          <a:lstStyle/>
          <a:p>
            <a:endParaRPr lang="en-US"/>
          </a:p>
        </p:txBody>
      </p:sp>
      <p:sp>
        <p:nvSpPr>
          <p:cNvPr id="27" name="Text 24"/>
          <p:cNvSpPr txBox="1"/>
          <p:nvPr/>
        </p:nvSpPr>
        <p:spPr>
          <a:xfrm>
            <a:off x="4892040" y="1463040"/>
            <a:ext cx="35204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submit button does nothing. The console says: [paste error]."</a:t>
            </a:r>
            <a:endParaRPr lang="en-US" sz="1150" dirty="0"/>
          </a:p>
        </p:txBody>
      </p:sp>
      <p:sp>
        <p:nvSpPr>
          <p:cNvPr id="28" name="Shape 25"/>
          <p:cNvSpPr/>
          <p:nvPr/>
        </p:nvSpPr>
        <p:spPr>
          <a:xfrm>
            <a:off x="4663440" y="2121408"/>
            <a:ext cx="3931920" cy="566928"/>
          </a:xfrm>
          <a:prstGeom prst="roundRect">
            <a:avLst>
              <a:gd name="adj" fmla="val 32258"/>
            </a:avLst>
          </a:prstGeom>
          <a:solidFill>
            <a:srgbClr val="0F1114"/>
          </a:solidFill>
          <a:ln w="12700">
            <a:solidFill>
              <a:srgbClr val="0F1114"/>
            </a:solidFill>
            <a:prstDash val="solid"/>
          </a:ln>
        </p:spPr>
        <p:txBody>
          <a:bodyPr/>
          <a:lstStyle/>
          <a:p>
            <a:endParaRPr lang="en-US"/>
          </a:p>
        </p:txBody>
      </p:sp>
      <p:sp>
        <p:nvSpPr>
          <p:cNvPr id="29" name="Text 26"/>
          <p:cNvSpPr txBox="1"/>
          <p:nvPr/>
        </p:nvSpPr>
        <p:spPr>
          <a:xfrm>
            <a:off x="4892040" y="2121408"/>
            <a:ext cx="35204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"What are three possible causes? Do not fix anything yet."</a:t>
            </a:r>
            <a:endParaRPr lang="en-US" sz="1150" dirty="0"/>
          </a:p>
        </p:txBody>
      </p:sp>
      <p:sp>
        <p:nvSpPr>
          <p:cNvPr id="30" name="Shape 27"/>
          <p:cNvSpPr/>
          <p:nvPr/>
        </p:nvSpPr>
        <p:spPr>
          <a:xfrm>
            <a:off x="4663440" y="2779776"/>
            <a:ext cx="3931920" cy="566928"/>
          </a:xfrm>
          <a:prstGeom prst="roundRect">
            <a:avLst>
              <a:gd name="adj" fmla="val 32258"/>
            </a:avLst>
          </a:prstGeom>
          <a:solidFill>
            <a:srgbClr val="0F1114"/>
          </a:solidFill>
          <a:ln w="12700">
            <a:solidFill>
              <a:srgbClr val="0F1114"/>
            </a:solidFill>
            <a:prstDash val="solid"/>
          </a:ln>
        </p:spPr>
        <p:txBody>
          <a:bodyPr/>
          <a:lstStyle/>
          <a:p>
            <a:endParaRPr lang="en-US"/>
          </a:p>
        </p:txBody>
      </p:sp>
      <p:sp>
        <p:nvSpPr>
          <p:cNvPr id="31" name="Text 28"/>
          <p:cNvSpPr txBox="1"/>
          <p:nvPr/>
        </p:nvSpPr>
        <p:spPr>
          <a:xfrm>
            <a:off x="4892040" y="2779776"/>
            <a:ext cx="35204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"Add a test that would have caught this."</a:t>
            </a:r>
            <a:endParaRPr lang="en-US" sz="1150" dirty="0"/>
          </a:p>
        </p:txBody>
      </p:sp>
      <p:sp>
        <p:nvSpPr>
          <p:cNvPr id="32" name="Shape 29"/>
          <p:cNvSpPr/>
          <p:nvPr/>
        </p:nvSpPr>
        <p:spPr>
          <a:xfrm>
            <a:off x="4663440" y="3438144"/>
            <a:ext cx="3931920" cy="566928"/>
          </a:xfrm>
          <a:prstGeom prst="roundRect">
            <a:avLst>
              <a:gd name="adj" fmla="val 32258"/>
            </a:avLst>
          </a:prstGeom>
          <a:solidFill>
            <a:srgbClr val="0F1114"/>
          </a:solidFill>
          <a:ln w="12700">
            <a:solidFill>
              <a:srgbClr val="0F1114"/>
            </a:solidFill>
            <a:prstDash val="solid"/>
          </a:ln>
        </p:spPr>
        <p:txBody>
          <a:bodyPr/>
          <a:lstStyle/>
          <a:p>
            <a:endParaRPr lang="en-US"/>
          </a:p>
        </p:txBody>
      </p:sp>
      <p:sp>
        <p:nvSpPr>
          <p:cNvPr id="33" name="Text 30"/>
          <p:cNvSpPr txBox="1"/>
          <p:nvPr/>
        </p:nvSpPr>
        <p:spPr>
          <a:xfrm>
            <a:off x="4892040" y="3438144"/>
            <a:ext cx="35204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"Revert to the last version and try a different approach."</a:t>
            </a:r>
            <a:endParaRPr lang="en-US" sz="1150" dirty="0"/>
          </a:p>
        </p:txBody>
      </p:sp>
      <p:sp>
        <p:nvSpPr>
          <p:cNvPr id="34" name="Text 31"/>
          <p:cNvSpPr txBox="1"/>
          <p:nvPr/>
        </p:nvSpPr>
        <p:spPr>
          <a:xfrm>
            <a:off x="548640" y="4114800"/>
            <a:ext cx="8046720" cy="274320"/>
          </a:xfrm>
          <a:prstGeom prst="rect">
            <a:avLst/>
          </a:prstGeom>
          <a:noFill/>
          <a:ln/>
        </p:spPr>
        <p:txBody>
          <a:bodyPr wrap="square" lIns="0" tIns="0" rIns="0" bIns="0" rtlCol="0" anchor="t"/>
          <a:lstStyle/>
          <a:p>
            <a:pPr marL="0" indent="0" algn="ctr">
              <a:buNone/>
            </a:pPr>
            <a:r>
              <a:rPr lang="en-US" sz="1200" i="1" dirty="0">
                <a:solidFill>
                  <a:srgbClr val="6B7280"/>
                </a:solidFill>
                <a:latin typeface="Calibri" pitchFamily="34" charset="0"/>
                <a:ea typeface="Calibri" pitchFamily="34" charset="-122"/>
                <a:cs typeface="Calibri" pitchFamily="34" charset="-120"/>
              </a:rPr>
              <a:t>One dimension at a time. Say what to preserve. Say what you see versus what you expected.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4 · SEE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14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Same app, two prompts, same tool</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4 See it</a:t>
            </a:r>
            <a:endParaRPr lang="en-US" sz="750" dirty="0"/>
          </a:p>
        </p:txBody>
      </p:sp>
      <p:sp>
        <p:nvSpPr>
          <p:cNvPr id="9" name="Shape 7"/>
          <p:cNvSpPr/>
          <p:nvPr/>
        </p:nvSpPr>
        <p:spPr>
          <a:xfrm>
            <a:off x="3547872" y="4919472"/>
            <a:ext cx="513893" cy="27432"/>
          </a:xfrm>
          <a:prstGeom prst="rect">
            <a:avLst/>
          </a:prstGeom>
          <a:solidFill>
            <a:srgbClr val="C8F236"/>
          </a:solidFill>
          <a:ln w="12700">
            <a:solidFill>
              <a:srgbClr val="C8F236"/>
            </a:solidFill>
            <a:prstDash val="solid"/>
          </a:ln>
        </p:spPr>
        <p:txBody>
          <a:bodyPr/>
          <a:lstStyle/>
          <a:p>
            <a:endParaRPr lang="en-US"/>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pic>
        <p:nvPicPr>
          <p:cNvPr id="16" name="Image 1" descr="/private/tmp/claude-501/-Users-chaipinzheng-Dev-chai-second-brain--claude-worktrees-vibe-coding-presentation-script-23726b/263149a4-765e-445f-9129-03ce87a3da22/scratchpad/shots/bad-top.png"/>
          <p:cNvPicPr>
            <a:picLocks noChangeAspect="1"/>
          </p:cNvPicPr>
          <p:nvPr/>
        </p:nvPicPr>
        <p:blipFill>
          <a:blip r:embed="rId4"/>
          <a:stretch>
            <a:fillRect/>
          </a:stretch>
        </p:blipFill>
        <p:spPr>
          <a:xfrm>
            <a:off x="548640" y="1188720"/>
            <a:ext cx="3931920" cy="2459736"/>
          </a:xfrm>
          <a:prstGeom prst="rect">
            <a:avLst/>
          </a:prstGeom>
        </p:spPr>
      </p:pic>
      <p:pic>
        <p:nvPicPr>
          <p:cNvPr id="17" name="Image 2" descr="/private/tmp/claude-501/-Users-chaipinzheng-Dev-chai-second-brain--claude-worktrees-vibe-coding-presentation-script-23726b/263149a4-765e-445f-9129-03ce87a3da22/scratchpad/shots/good-top.png"/>
          <p:cNvPicPr>
            <a:picLocks noChangeAspect="1"/>
          </p:cNvPicPr>
          <p:nvPr/>
        </p:nvPicPr>
        <p:blipFill>
          <a:blip r:embed="rId5"/>
          <a:stretch>
            <a:fillRect/>
          </a:stretch>
        </p:blipFill>
        <p:spPr>
          <a:xfrm>
            <a:off x="4663440" y="1188720"/>
            <a:ext cx="3931920" cy="2459736"/>
          </a:xfrm>
          <a:prstGeom prst="rect">
            <a:avLst/>
          </a:prstGeom>
        </p:spPr>
      </p:pic>
      <p:sp>
        <p:nvSpPr>
          <p:cNvPr id="18" name="Shape 13"/>
          <p:cNvSpPr/>
          <p:nvPr/>
        </p:nvSpPr>
        <p:spPr>
          <a:xfrm>
            <a:off x="548640" y="1188720"/>
            <a:ext cx="3931920" cy="2459736"/>
          </a:xfrm>
          <a:prstGeom prst="rect">
            <a:avLst/>
          </a:prstGeom>
          <a:ln w="12700">
            <a:solidFill>
              <a:srgbClr val="E9EBEF"/>
            </a:solidFill>
            <a:prstDash val="solid"/>
          </a:ln>
        </p:spPr>
        <p:txBody>
          <a:bodyPr/>
          <a:lstStyle/>
          <a:p>
            <a:endParaRPr lang="en-US"/>
          </a:p>
        </p:txBody>
      </p:sp>
      <p:sp>
        <p:nvSpPr>
          <p:cNvPr id="19" name="Shape 14"/>
          <p:cNvSpPr/>
          <p:nvPr/>
        </p:nvSpPr>
        <p:spPr>
          <a:xfrm>
            <a:off x="4663440" y="1188720"/>
            <a:ext cx="3931920" cy="2459736"/>
          </a:xfrm>
          <a:prstGeom prst="rect">
            <a:avLst/>
          </a:prstGeom>
          <a:ln w="12700">
            <a:solidFill>
              <a:srgbClr val="E9EBEF"/>
            </a:solidFill>
            <a:prstDash val="solid"/>
          </a:ln>
        </p:spPr>
        <p:txBody>
          <a:bodyPr/>
          <a:lstStyle/>
          <a:p>
            <a:endParaRPr lang="en-US"/>
          </a:p>
        </p:txBody>
      </p:sp>
      <p:sp>
        <p:nvSpPr>
          <p:cNvPr id="20" name="Text 15"/>
          <p:cNvSpPr txBox="1"/>
          <p:nvPr/>
        </p:nvSpPr>
        <p:spPr>
          <a:xfrm>
            <a:off x="548640" y="3730752"/>
            <a:ext cx="3931920" cy="640080"/>
          </a:xfrm>
          <a:prstGeom prst="rect">
            <a:avLst/>
          </a:prstGeom>
          <a:noFill/>
          <a:ln/>
        </p:spPr>
        <p:txBody>
          <a:bodyPr wrap="square" lIns="0" tIns="0" rIns="0" bIns="0" rtlCol="0" anchor="t"/>
          <a:lstStyle/>
          <a:p>
            <a:pPr marL="0" indent="0">
              <a:buNone/>
            </a:pPr>
            <a:r>
              <a:rPr lang="en-US" sz="1150" b="1" dirty="0">
                <a:solidFill>
                  <a:srgbClr val="111318"/>
                </a:solidFill>
                <a:latin typeface="Calibri" pitchFamily="34" charset="0"/>
                <a:ea typeface="Calibri" pitchFamily="34" charset="-122"/>
                <a:cs typeface="Calibri" pitchFamily="34" charset="-120"/>
              </a:rPr>
              <a:t>A  Vague prompt. </a:t>
            </a:r>
            <a:r>
              <a:rPr lang="en-US" sz="1150" dirty="0">
                <a:solidFill>
                  <a:srgbClr val="6B7280"/>
                </a:solidFill>
                <a:latin typeface="Calibri" pitchFamily="34" charset="0"/>
                <a:ea typeface="Calibri" pitchFamily="34" charset="-122"/>
                <a:cs typeface="Calibri" pitchFamily="34" charset="-120"/>
              </a:rPr>
              <a:t>Looks great. The buttons are placeholders, and it invented "700k+ people" out of thin air.</a:t>
            </a:r>
            <a:endParaRPr lang="en-US" sz="1150" dirty="0"/>
          </a:p>
        </p:txBody>
      </p:sp>
      <p:sp>
        <p:nvSpPr>
          <p:cNvPr id="21" name="Text 16"/>
          <p:cNvSpPr txBox="1"/>
          <p:nvPr/>
        </p:nvSpPr>
        <p:spPr>
          <a:xfrm>
            <a:off x="4663440" y="3730752"/>
            <a:ext cx="3931920" cy="640080"/>
          </a:xfrm>
          <a:prstGeom prst="rect">
            <a:avLst/>
          </a:prstGeom>
          <a:noFill/>
          <a:ln/>
        </p:spPr>
        <p:txBody>
          <a:bodyPr wrap="square" lIns="0" tIns="0" rIns="0" bIns="0" rtlCol="0" anchor="t"/>
          <a:lstStyle/>
          <a:p>
            <a:pPr marL="0" indent="0">
              <a:buNone/>
            </a:pPr>
            <a:r>
              <a:rPr lang="en-US" sz="1150" b="1" dirty="0">
                <a:solidFill>
                  <a:srgbClr val="111318"/>
                </a:solidFill>
                <a:latin typeface="Calibri" pitchFamily="34" charset="0"/>
                <a:ea typeface="Calibri" pitchFamily="34" charset="-122"/>
                <a:cs typeface="Calibri" pitchFamily="34" charset="-120"/>
              </a:rPr>
              <a:t>B  Specific prompt. </a:t>
            </a:r>
            <a:r>
              <a:rPr lang="en-US" sz="1150" dirty="0">
                <a:solidFill>
                  <a:srgbClr val="6B7280"/>
                </a:solidFill>
                <a:latin typeface="Calibri" pitchFamily="34" charset="0"/>
                <a:ea typeface="Calibri" pitchFamily="34" charset="-122"/>
                <a:cs typeface="Calibri" pitchFamily="34" charset="-120"/>
              </a:rPr>
              <a:t>Less flashy. Both buttons open a working 60-second breathing timer, on mobile, with keyboard access.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4 · SEE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15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Live build: Founder Dinner RSVP</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4 See it</a:t>
            </a:r>
            <a:endParaRPr lang="en-US" sz="750" dirty="0"/>
          </a:p>
        </p:txBody>
      </p:sp>
      <p:sp>
        <p:nvSpPr>
          <p:cNvPr id="9" name="Shape 7"/>
          <p:cNvSpPr/>
          <p:nvPr/>
        </p:nvSpPr>
        <p:spPr>
          <a:xfrm>
            <a:off x="3547872" y="4919472"/>
            <a:ext cx="513893" cy="27432"/>
          </a:xfrm>
          <a:prstGeom prst="rect">
            <a:avLst/>
          </a:prstGeom>
          <a:solidFill>
            <a:srgbClr val="C8F236"/>
          </a:solidFill>
          <a:ln w="12700">
            <a:solidFill>
              <a:srgbClr val="C8F236"/>
            </a:solidFill>
            <a:prstDash val="solid"/>
          </a:ln>
        </p:spPr>
        <p:txBody>
          <a:bodyPr/>
          <a:lstStyle/>
          <a:p>
            <a:endParaRPr lang="en-US"/>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Text 13"/>
          <p:cNvSpPr txBox="1"/>
          <p:nvPr/>
        </p:nvSpPr>
        <p:spPr>
          <a:xfrm>
            <a:off x="548640" y="1188720"/>
            <a:ext cx="4937760" cy="1463040"/>
          </a:xfrm>
          <a:prstGeom prst="rect">
            <a:avLst/>
          </a:prstGeom>
          <a:noFill/>
          <a:ln/>
        </p:spPr>
        <p:txBody>
          <a:bodyPr wrap="square" lIns="0" tIns="0" rIns="0" bIns="0" rtlCol="0" anchor="ctr"/>
          <a:lstStyle/>
          <a:p>
            <a:pPr marL="0" indent="0">
              <a:buNone/>
            </a:pPr>
            <a:r>
              <a:rPr lang="en-US" sz="9200" b="1" dirty="0">
                <a:solidFill>
                  <a:srgbClr val="111318"/>
                </a:solidFill>
                <a:latin typeface="Courier New" pitchFamily="34" charset="0"/>
                <a:ea typeface="Courier New" pitchFamily="34" charset="-122"/>
                <a:cs typeface="Courier New" pitchFamily="34" charset="-120"/>
              </a:rPr>
              <a:t>10:00</a:t>
            </a:r>
            <a:endParaRPr lang="en-US" sz="9200" dirty="0"/>
          </a:p>
        </p:txBody>
      </p:sp>
      <p:sp>
        <p:nvSpPr>
          <p:cNvPr id="17" name="Text 14"/>
          <p:cNvSpPr txBox="1"/>
          <p:nvPr/>
        </p:nvSpPr>
        <p:spPr>
          <a:xfrm>
            <a:off x="548640" y="2606040"/>
            <a:ext cx="3657600" cy="274320"/>
          </a:xfrm>
          <a:prstGeom prst="rect">
            <a:avLst/>
          </a:prstGeom>
          <a:noFill/>
          <a:ln/>
        </p:spPr>
        <p:txBody>
          <a:bodyPr wrap="square" lIns="0" tIns="0" rIns="0" bIns="0" rtlCol="0" anchor="t"/>
          <a:lstStyle/>
          <a:p>
            <a:pPr marL="0" indent="0">
              <a:buNone/>
            </a:pPr>
            <a:r>
              <a:rPr lang="en-US" sz="1000" kern="0" spc="200" dirty="0">
                <a:solidFill>
                  <a:srgbClr val="6B7280"/>
                </a:solidFill>
                <a:latin typeface="Courier New" pitchFamily="34" charset="0"/>
                <a:ea typeface="Courier New" pitchFamily="34" charset="-122"/>
                <a:cs typeface="Courier New" pitchFamily="34" charset="-120"/>
              </a:rPr>
              <a:t>ON THE CLOCK</a:t>
            </a:r>
            <a:endParaRPr lang="en-US" sz="1000" dirty="0"/>
          </a:p>
        </p:txBody>
      </p:sp>
      <p:sp>
        <p:nvSpPr>
          <p:cNvPr id="18" name="Shape 15"/>
          <p:cNvSpPr/>
          <p:nvPr/>
        </p:nvSpPr>
        <p:spPr>
          <a:xfrm>
            <a:off x="548640" y="3017520"/>
            <a:ext cx="4937760" cy="1325880"/>
          </a:xfrm>
          <a:prstGeom prst="roundRect">
            <a:avLst>
              <a:gd name="adj" fmla="val 5517"/>
            </a:avLst>
          </a:prstGeom>
          <a:solidFill>
            <a:srgbClr val="F3F4F6"/>
          </a:solidFill>
          <a:ln w="12700">
            <a:solidFill>
              <a:srgbClr val="F3F4F6"/>
            </a:solidFill>
            <a:prstDash val="solid"/>
          </a:ln>
        </p:spPr>
        <p:txBody>
          <a:bodyPr/>
          <a:lstStyle/>
          <a:p>
            <a:endParaRPr lang="en-US"/>
          </a:p>
        </p:txBody>
      </p:sp>
      <p:sp>
        <p:nvSpPr>
          <p:cNvPr id="19" name="Text 16"/>
          <p:cNvSpPr txBox="1"/>
          <p:nvPr/>
        </p:nvSpPr>
        <p:spPr>
          <a:xfrm>
            <a:off x="731520" y="3108960"/>
            <a:ext cx="4572000" cy="1143000"/>
          </a:xfrm>
          <a:prstGeom prst="rect">
            <a:avLst/>
          </a:prstGeom>
          <a:noFill/>
          <a:ln/>
        </p:spPr>
        <p:txBody>
          <a:bodyPr wrap="square" lIns="0" tIns="0" rIns="0" bIns="0" rtlCol="0" anchor="t"/>
          <a:lstStyle/>
          <a:p>
            <a:pPr marL="0" indent="0">
              <a:spcAft>
                <a:spcPts val="400"/>
              </a:spcAft>
              <a:buNone/>
            </a:pPr>
            <a:r>
              <a:rPr lang="en-US" sz="1350" b="1" dirty="0">
                <a:solidFill>
                  <a:srgbClr val="111318"/>
                </a:solidFill>
                <a:latin typeface="Calibri" pitchFamily="34" charset="0"/>
                <a:ea typeface="Calibri" pitchFamily="34" charset="-122"/>
                <a:cs typeface="Calibri" pitchFamily="34" charset="-120"/>
              </a:rPr>
              <a:t>You shape it. Two things from the room:</a:t>
            </a:r>
            <a:endParaRPr lang="en-US" sz="1350" dirty="0"/>
          </a:p>
          <a:p>
            <a:pPr marL="342900" indent="-342900">
              <a:spcAft>
                <a:spcPts val="400"/>
              </a:spcAft>
              <a:buSzPct val="100000"/>
              <a:buChar char="•"/>
            </a:pPr>
            <a:r>
              <a:rPr lang="en-US" sz="1250" dirty="0">
                <a:solidFill>
                  <a:srgbClr val="111318"/>
                </a:solidFill>
                <a:latin typeface="Calibri" pitchFamily="34" charset="0"/>
                <a:ea typeface="Calibri" pitchFamily="34" charset="-122"/>
                <a:cs typeface="Calibri" pitchFamily="34" charset="-120"/>
              </a:rPr>
              <a:t>What is the dinner for?</a:t>
            </a:r>
            <a:endParaRPr lang="en-US" sz="1350" dirty="0"/>
          </a:p>
          <a:p>
            <a:pPr marL="342900" indent="-342900">
              <a:spcAft>
                <a:spcPts val="400"/>
              </a:spcAft>
              <a:buSzPct val="100000"/>
              <a:buChar char="•"/>
            </a:pPr>
            <a:r>
              <a:rPr lang="en-US" sz="1250" dirty="0">
                <a:solidFill>
                  <a:srgbClr val="111318"/>
                </a:solidFill>
                <a:latin typeface="Calibri" pitchFamily="34" charset="0"/>
                <a:ea typeface="Calibri" pitchFamily="34" charset="-122"/>
                <a:cs typeface="Calibri" pitchFamily="34" charset="-120"/>
              </a:rPr>
              <a:t>One question the RSVP form should ask that I wouldn't think of.</a:t>
            </a:r>
            <a:endParaRPr lang="en-US" sz="1350" dirty="0"/>
          </a:p>
        </p:txBody>
      </p:sp>
      <p:sp>
        <p:nvSpPr>
          <p:cNvPr id="20" name="Shape 17"/>
          <p:cNvSpPr/>
          <p:nvPr/>
        </p:nvSpPr>
        <p:spPr>
          <a:xfrm>
            <a:off x="5943600" y="1188720"/>
            <a:ext cx="2651760" cy="2651760"/>
          </a:xfrm>
          <a:prstGeom prst="roundRect">
            <a:avLst>
              <a:gd name="adj" fmla="val 1724"/>
            </a:avLst>
          </a:prstGeom>
          <a:solidFill>
            <a:srgbClr val="F3F4F6"/>
          </a:solidFill>
          <a:ln w="9525">
            <a:solidFill>
              <a:srgbClr val="6B7280"/>
            </a:solidFill>
            <a:prstDash val="dash"/>
          </a:ln>
        </p:spPr>
        <p:txBody>
          <a:bodyPr/>
          <a:lstStyle/>
          <a:p>
            <a:endParaRPr lang="en-US"/>
          </a:p>
        </p:txBody>
      </p:sp>
      <p:sp>
        <p:nvSpPr>
          <p:cNvPr id="21" name="Text 18"/>
          <p:cNvSpPr txBox="1"/>
          <p:nvPr/>
        </p:nvSpPr>
        <p:spPr>
          <a:xfrm>
            <a:off x="5943600" y="1188720"/>
            <a:ext cx="2651760" cy="2651760"/>
          </a:xfrm>
          <a:prstGeom prst="rect">
            <a:avLst/>
          </a:prstGeom>
          <a:noFill/>
          <a:ln/>
        </p:spPr>
        <p:txBody>
          <a:bodyPr wrap="square" lIns="635" tIns="635" rIns="635" bIns="635" rtlCol="0" anchor="ctr"/>
          <a:lstStyle/>
          <a:p>
            <a:pPr marL="0" indent="0" algn="ctr">
              <a:buNone/>
            </a:pPr>
            <a:r>
              <a:rPr lang="en-US" sz="900" dirty="0">
                <a:solidFill>
                  <a:srgbClr val="6B7280"/>
                </a:solidFill>
                <a:latin typeface="Courier New" pitchFamily="34" charset="0"/>
                <a:ea typeface="Courier New" pitchFamily="34" charset="-122"/>
                <a:cs typeface="Courier New" pitchFamily="34" charset="-120"/>
              </a:rPr>
              <a:t>QR: PUBLISHED PAGE</a:t>
            </a:r>
            <a:endParaRPr lang="en-US" sz="900" dirty="0"/>
          </a:p>
          <a:p>
            <a:pPr marL="0" indent="0" algn="ctr">
              <a:buNone/>
            </a:pPr>
            <a:endParaRPr lang="en-US" sz="900" dirty="0"/>
          </a:p>
          <a:p>
            <a:pPr marL="0" indent="0" algn="ctr">
              <a:buNone/>
            </a:pPr>
            <a:r>
              <a:rPr lang="en-US" sz="900" dirty="0">
                <a:solidFill>
                  <a:srgbClr val="6B7280"/>
                </a:solidFill>
                <a:latin typeface="Courier New" pitchFamily="34" charset="0"/>
                <a:ea typeface="Courier New" pitchFamily="34" charset="-122"/>
                <a:cs typeface="Courier New" pitchFamily="34" charset="-120"/>
              </a:rPr>
              <a:t>appears around minute 7</a:t>
            </a:r>
            <a:endParaRPr lang="en-US" sz="900" dirty="0"/>
          </a:p>
        </p:txBody>
      </p:sp>
      <p:sp>
        <p:nvSpPr>
          <p:cNvPr id="22" name="Text 19"/>
          <p:cNvSpPr txBox="1"/>
          <p:nvPr/>
        </p:nvSpPr>
        <p:spPr>
          <a:xfrm>
            <a:off x="5943600" y="3931920"/>
            <a:ext cx="2651760" cy="365760"/>
          </a:xfrm>
          <a:prstGeom prst="rect">
            <a:avLst/>
          </a:prstGeom>
          <a:noFill/>
          <a:ln/>
        </p:spPr>
        <p:txBody>
          <a:bodyPr wrap="square" lIns="0" tIns="0" rIns="0" bIns="0" rtlCol="0" anchor="t"/>
          <a:lstStyle/>
          <a:p>
            <a:pPr marL="0" indent="0" algn="ctr">
              <a:buNone/>
            </a:pPr>
            <a:r>
              <a:rPr lang="en-US" sz="1200" dirty="0">
                <a:solidFill>
                  <a:srgbClr val="6B7280"/>
                </a:solidFill>
                <a:latin typeface="Calibri" pitchFamily="34" charset="0"/>
                <a:ea typeface="Calibri" pitchFamily="34" charset="-122"/>
                <a:cs typeface="Calibri" pitchFamily="34" charset="-120"/>
              </a:rPr>
              <a:t>Scan and RSVP from your phone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4 · SEE IT</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16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What counts as done?</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4 See it</a:t>
            </a:r>
            <a:endParaRPr lang="en-US" sz="750" dirty="0"/>
          </a:p>
        </p:txBody>
      </p:sp>
      <p:sp>
        <p:nvSpPr>
          <p:cNvPr id="9" name="Shape 7"/>
          <p:cNvSpPr/>
          <p:nvPr/>
        </p:nvSpPr>
        <p:spPr>
          <a:xfrm>
            <a:off x="3547872" y="4919472"/>
            <a:ext cx="513893" cy="27432"/>
          </a:xfrm>
          <a:prstGeom prst="rect">
            <a:avLst/>
          </a:prstGeom>
          <a:solidFill>
            <a:srgbClr val="C8F236"/>
          </a:solidFill>
          <a:ln w="12700">
            <a:solidFill>
              <a:srgbClr val="C8F236"/>
            </a:solidFill>
            <a:prstDash val="solid"/>
          </a:ln>
        </p:spPr>
        <p:txBody>
          <a:bodyPr/>
          <a:lstStyle/>
          <a:p>
            <a:endParaRPr lang="en-US"/>
          </a:p>
        </p:txBody>
      </p:sp>
      <p:sp>
        <p:nvSpPr>
          <p:cNvPr id="10" name="Text 8"/>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3931920" cy="2468880"/>
          </a:xfrm>
          <a:prstGeom prst="roundRect">
            <a:avLst>
              <a:gd name="adj" fmla="val 2963"/>
            </a:avLst>
          </a:prstGeom>
          <a:solidFill>
            <a:srgbClr val="F3F4F6"/>
          </a:solidFill>
          <a:ln w="12700">
            <a:solidFill>
              <a:srgbClr val="F3F4F6"/>
            </a:solidFill>
            <a:prstDash val="solid"/>
          </a:ln>
        </p:spPr>
        <p:txBody>
          <a:bodyPr/>
          <a:lstStyle/>
          <a:p>
            <a:endParaRPr lang="en-US"/>
          </a:p>
        </p:txBody>
      </p:sp>
      <p:sp>
        <p:nvSpPr>
          <p:cNvPr id="17" name="Text 14"/>
          <p:cNvSpPr txBox="1"/>
          <p:nvPr/>
        </p:nvSpPr>
        <p:spPr>
          <a:xfrm>
            <a:off x="731520" y="1325880"/>
            <a:ext cx="3566160" cy="274320"/>
          </a:xfrm>
          <a:prstGeom prst="rect">
            <a:avLst/>
          </a:prstGeom>
          <a:noFill/>
          <a:ln/>
        </p:spPr>
        <p:txBody>
          <a:bodyPr wrap="square" lIns="0" tIns="0" rIns="0" bIns="0" rtlCol="0" anchor="t"/>
          <a:lstStyle/>
          <a:p>
            <a:pPr marL="0" indent="0">
              <a:buNone/>
            </a:pPr>
            <a:r>
              <a:rPr lang="en-US" sz="1000" kern="0" spc="200" dirty="0">
                <a:solidFill>
                  <a:srgbClr val="6B7280"/>
                </a:solidFill>
                <a:latin typeface="Courier New" pitchFamily="34" charset="0"/>
                <a:ea typeface="Courier New" pitchFamily="34" charset="-122"/>
                <a:cs typeface="Courier New" pitchFamily="34" charset="-120"/>
              </a:rPr>
              <a:t>WHAT I CHECKED</a:t>
            </a:r>
            <a:endParaRPr lang="en-US" sz="1000" dirty="0"/>
          </a:p>
        </p:txBody>
      </p:sp>
      <p:pic>
        <p:nvPicPr>
          <p:cNvPr id="18" name="Image 1" descr="preencoded.png"/>
          <p:cNvPicPr>
            <a:picLocks noChangeAspect="1"/>
          </p:cNvPicPr>
          <p:nvPr/>
        </p:nvPicPr>
        <p:blipFill>
          <a:blip r:embed="rId4"/>
          <a:stretch>
            <a:fillRect/>
          </a:stretch>
        </p:blipFill>
        <p:spPr>
          <a:xfrm>
            <a:off x="777240" y="1719072"/>
            <a:ext cx="237744" cy="237744"/>
          </a:xfrm>
          <a:prstGeom prst="rect">
            <a:avLst/>
          </a:prstGeom>
        </p:spPr>
      </p:pic>
      <p:sp>
        <p:nvSpPr>
          <p:cNvPr id="19" name="Text 15"/>
          <p:cNvSpPr txBox="1"/>
          <p:nvPr/>
        </p:nvSpPr>
        <p:spPr>
          <a:xfrm>
            <a:off x="1143000" y="16916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The form saves, and I saw the row appear</a:t>
            </a:r>
            <a:endParaRPr lang="en-US" sz="1250" dirty="0"/>
          </a:p>
        </p:txBody>
      </p:sp>
      <p:pic>
        <p:nvPicPr>
          <p:cNvPr id="20" name="Image 2" descr="preencoded.png"/>
          <p:cNvPicPr>
            <a:picLocks noChangeAspect="1"/>
          </p:cNvPicPr>
          <p:nvPr/>
        </p:nvPicPr>
        <p:blipFill>
          <a:blip r:embed="rId4"/>
          <a:stretch>
            <a:fillRect/>
          </a:stretch>
        </p:blipFill>
        <p:spPr>
          <a:xfrm>
            <a:off x="777240" y="2176272"/>
            <a:ext cx="237744" cy="237744"/>
          </a:xfrm>
          <a:prstGeom prst="rect">
            <a:avLst/>
          </a:prstGeom>
        </p:spPr>
      </p:pic>
      <p:sp>
        <p:nvSpPr>
          <p:cNvPr id="21" name="Text 16"/>
          <p:cNvSpPr txBox="1"/>
          <p:nvPr/>
        </p:nvSpPr>
        <p:spPr>
          <a:xfrm>
            <a:off x="1143000" y="21488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It works on a real phone, not just the preview</a:t>
            </a:r>
            <a:endParaRPr lang="en-US" sz="1250" dirty="0"/>
          </a:p>
        </p:txBody>
      </p:sp>
      <p:pic>
        <p:nvPicPr>
          <p:cNvPr id="22" name="Image 3" descr="preencoded.png"/>
          <p:cNvPicPr>
            <a:picLocks noChangeAspect="1"/>
          </p:cNvPicPr>
          <p:nvPr/>
        </p:nvPicPr>
        <p:blipFill>
          <a:blip r:embed="rId4"/>
          <a:stretch>
            <a:fillRect/>
          </a:stretch>
        </p:blipFill>
        <p:spPr>
          <a:xfrm>
            <a:off x="777240" y="2633472"/>
            <a:ext cx="237744" cy="237744"/>
          </a:xfrm>
          <a:prstGeom prst="rect">
            <a:avLst/>
          </a:prstGeom>
        </p:spPr>
      </p:pic>
      <p:sp>
        <p:nvSpPr>
          <p:cNvPr id="23" name="Text 17"/>
          <p:cNvSpPr txBox="1"/>
          <p:nvPr/>
        </p:nvSpPr>
        <p:spPr>
          <a:xfrm>
            <a:off x="1143000" y="26060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The confirmation says what I asked it to say</a:t>
            </a:r>
            <a:endParaRPr lang="en-US" sz="1250" dirty="0"/>
          </a:p>
        </p:txBody>
      </p:sp>
      <p:pic>
        <p:nvPicPr>
          <p:cNvPr id="24" name="Image 4" descr="preencoded.png"/>
          <p:cNvPicPr>
            <a:picLocks noChangeAspect="1"/>
          </p:cNvPicPr>
          <p:nvPr/>
        </p:nvPicPr>
        <p:blipFill>
          <a:blip r:embed="rId4"/>
          <a:stretch>
            <a:fillRect/>
          </a:stretch>
        </p:blipFill>
        <p:spPr>
          <a:xfrm>
            <a:off x="777240" y="3090672"/>
            <a:ext cx="237744" cy="237744"/>
          </a:xfrm>
          <a:prstGeom prst="rect">
            <a:avLst/>
          </a:prstGeom>
        </p:spPr>
      </p:pic>
      <p:sp>
        <p:nvSpPr>
          <p:cNvPr id="25" name="Text 18"/>
          <p:cNvSpPr txBox="1"/>
          <p:nvPr/>
        </p:nvSpPr>
        <p:spPr>
          <a:xfrm>
            <a:off x="1143000" y="30632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The admin list shows the count</a:t>
            </a:r>
            <a:endParaRPr lang="en-US" sz="1250" dirty="0"/>
          </a:p>
        </p:txBody>
      </p:sp>
      <p:sp>
        <p:nvSpPr>
          <p:cNvPr id="26" name="Shape 19"/>
          <p:cNvSpPr/>
          <p:nvPr/>
        </p:nvSpPr>
        <p:spPr>
          <a:xfrm>
            <a:off x="4663440" y="1188720"/>
            <a:ext cx="3931920" cy="2468880"/>
          </a:xfrm>
          <a:prstGeom prst="roundRect">
            <a:avLst>
              <a:gd name="adj" fmla="val 2963"/>
            </a:avLst>
          </a:prstGeom>
          <a:solidFill>
            <a:srgbClr val="F3F4F6"/>
          </a:solidFill>
          <a:ln w="12700">
            <a:solidFill>
              <a:srgbClr val="F3F4F6"/>
            </a:solidFill>
            <a:prstDash val="solid"/>
          </a:ln>
        </p:spPr>
        <p:txBody>
          <a:bodyPr/>
          <a:lstStyle/>
          <a:p>
            <a:endParaRPr lang="en-US"/>
          </a:p>
        </p:txBody>
      </p:sp>
      <p:sp>
        <p:nvSpPr>
          <p:cNvPr id="27" name="Text 20"/>
          <p:cNvSpPr txBox="1"/>
          <p:nvPr/>
        </p:nvSpPr>
        <p:spPr>
          <a:xfrm>
            <a:off x="4846320" y="1325880"/>
            <a:ext cx="3566160" cy="274320"/>
          </a:xfrm>
          <a:prstGeom prst="rect">
            <a:avLst/>
          </a:prstGeom>
          <a:noFill/>
          <a:ln/>
        </p:spPr>
        <p:txBody>
          <a:bodyPr wrap="square" lIns="0" tIns="0" rIns="0" bIns="0" rtlCol="0" anchor="t"/>
          <a:lstStyle/>
          <a:p>
            <a:pPr marL="0" indent="0">
              <a:buNone/>
            </a:pPr>
            <a:r>
              <a:rPr lang="en-US" sz="1000" kern="0" spc="200" dirty="0">
                <a:solidFill>
                  <a:srgbClr val="6B7280"/>
                </a:solidFill>
                <a:latin typeface="Courier New" pitchFamily="34" charset="0"/>
                <a:ea typeface="Courier New" pitchFamily="34" charset="-122"/>
                <a:cs typeface="Courier New" pitchFamily="34" charset="-120"/>
              </a:rPr>
              <a:t>WHAT I SKIPPED, ON PURPOSE</a:t>
            </a:r>
            <a:endParaRPr lang="en-US" sz="1000" dirty="0"/>
          </a:p>
        </p:txBody>
      </p:sp>
      <p:pic>
        <p:nvPicPr>
          <p:cNvPr id="28" name="Image 5" descr="preencoded.png"/>
          <p:cNvPicPr>
            <a:picLocks noChangeAspect="1"/>
          </p:cNvPicPr>
          <p:nvPr/>
        </p:nvPicPr>
        <p:blipFill>
          <a:blip r:embed="rId5"/>
          <a:stretch>
            <a:fillRect/>
          </a:stretch>
        </p:blipFill>
        <p:spPr>
          <a:xfrm>
            <a:off x="4892040" y="1719072"/>
            <a:ext cx="237744" cy="237744"/>
          </a:xfrm>
          <a:prstGeom prst="rect">
            <a:avLst/>
          </a:prstGeom>
        </p:spPr>
      </p:pic>
      <p:sp>
        <p:nvSpPr>
          <p:cNvPr id="29" name="Text 21"/>
          <p:cNvSpPr txBox="1"/>
          <p:nvPr/>
        </p:nvSpPr>
        <p:spPr>
          <a:xfrm>
            <a:off x="5257800" y="16916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Login</a:t>
            </a:r>
            <a:endParaRPr lang="en-US" sz="1250" dirty="0"/>
          </a:p>
        </p:txBody>
      </p:sp>
      <p:pic>
        <p:nvPicPr>
          <p:cNvPr id="30" name="Image 6" descr="preencoded.png"/>
          <p:cNvPicPr>
            <a:picLocks noChangeAspect="1"/>
          </p:cNvPicPr>
          <p:nvPr/>
        </p:nvPicPr>
        <p:blipFill>
          <a:blip r:embed="rId5"/>
          <a:stretch>
            <a:fillRect/>
          </a:stretch>
        </p:blipFill>
        <p:spPr>
          <a:xfrm>
            <a:off x="4892040" y="2176272"/>
            <a:ext cx="237744" cy="237744"/>
          </a:xfrm>
          <a:prstGeom prst="rect">
            <a:avLst/>
          </a:prstGeom>
        </p:spPr>
      </p:pic>
      <p:sp>
        <p:nvSpPr>
          <p:cNvPr id="31" name="Text 22"/>
          <p:cNvSpPr txBox="1"/>
          <p:nvPr/>
        </p:nvSpPr>
        <p:spPr>
          <a:xfrm>
            <a:off x="5257800" y="21488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Spam protection and rate limits</a:t>
            </a:r>
            <a:endParaRPr lang="en-US" sz="1250" dirty="0"/>
          </a:p>
        </p:txBody>
      </p:sp>
      <p:pic>
        <p:nvPicPr>
          <p:cNvPr id="32" name="Image 7" descr="preencoded.png"/>
          <p:cNvPicPr>
            <a:picLocks noChangeAspect="1"/>
          </p:cNvPicPr>
          <p:nvPr/>
        </p:nvPicPr>
        <p:blipFill>
          <a:blip r:embed="rId5"/>
          <a:stretch>
            <a:fillRect/>
          </a:stretch>
        </p:blipFill>
        <p:spPr>
          <a:xfrm>
            <a:off x="4892040" y="2633472"/>
            <a:ext cx="237744" cy="237744"/>
          </a:xfrm>
          <a:prstGeom prst="rect">
            <a:avLst/>
          </a:prstGeom>
        </p:spPr>
      </p:pic>
      <p:sp>
        <p:nvSpPr>
          <p:cNvPr id="33" name="Text 23"/>
          <p:cNvSpPr txBox="1"/>
          <p:nvPr/>
        </p:nvSpPr>
        <p:spPr>
          <a:xfrm>
            <a:off x="5257800" y="26060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Data privacy: where the emails live, who can read them</a:t>
            </a:r>
            <a:endParaRPr lang="en-US" sz="1250" dirty="0"/>
          </a:p>
        </p:txBody>
      </p:sp>
      <p:pic>
        <p:nvPicPr>
          <p:cNvPr id="34" name="Image 8" descr="preencoded.png"/>
          <p:cNvPicPr>
            <a:picLocks noChangeAspect="1"/>
          </p:cNvPicPr>
          <p:nvPr/>
        </p:nvPicPr>
        <p:blipFill>
          <a:blip r:embed="rId5"/>
          <a:stretch>
            <a:fillRect/>
          </a:stretch>
        </p:blipFill>
        <p:spPr>
          <a:xfrm>
            <a:off x="4892040" y="3090672"/>
            <a:ext cx="237744" cy="237744"/>
          </a:xfrm>
          <a:prstGeom prst="rect">
            <a:avLst/>
          </a:prstGeom>
        </p:spPr>
      </p:pic>
      <p:sp>
        <p:nvSpPr>
          <p:cNvPr id="35" name="Text 24"/>
          <p:cNvSpPr txBox="1"/>
          <p:nvPr/>
        </p:nvSpPr>
        <p:spPr>
          <a:xfrm>
            <a:off x="5257800" y="3063240"/>
            <a:ext cx="3200400" cy="411480"/>
          </a:xfrm>
          <a:prstGeom prst="rect">
            <a:avLst/>
          </a:prstGeom>
          <a:noFill/>
          <a:ln/>
        </p:spPr>
        <p:txBody>
          <a:bodyPr wrap="square" lIns="0" tIns="0" rIns="0" bIns="0" rtlCol="0" anchor="ctr"/>
          <a:lstStyle/>
          <a:p>
            <a:pPr marL="0" indent="0">
              <a:buNone/>
            </a:pPr>
            <a:r>
              <a:rPr lang="en-US" sz="1250" dirty="0">
                <a:solidFill>
                  <a:srgbClr val="111318"/>
                </a:solidFill>
                <a:latin typeface="Calibri" pitchFamily="34" charset="0"/>
                <a:ea typeface="Calibri" pitchFamily="34" charset="-122"/>
                <a:cs typeface="Calibri" pitchFamily="34" charset="-120"/>
              </a:rPr>
              <a:t>Backups</a:t>
            </a:r>
            <a:endParaRPr lang="en-US" sz="1250" dirty="0"/>
          </a:p>
        </p:txBody>
      </p:sp>
      <p:sp>
        <p:nvSpPr>
          <p:cNvPr id="36" name="Shape 25"/>
          <p:cNvSpPr/>
          <p:nvPr/>
        </p:nvSpPr>
        <p:spPr>
          <a:xfrm>
            <a:off x="548640" y="3794760"/>
            <a:ext cx="8046720" cy="566928"/>
          </a:xfrm>
          <a:prstGeom prst="roundRect">
            <a:avLst>
              <a:gd name="adj" fmla="val 12903"/>
            </a:avLst>
          </a:prstGeom>
          <a:solidFill>
            <a:srgbClr val="0F1114"/>
          </a:solidFill>
          <a:ln w="12700">
            <a:solidFill>
              <a:srgbClr val="0F1114"/>
            </a:solidFill>
            <a:prstDash val="solid"/>
          </a:ln>
        </p:spPr>
        <p:txBody>
          <a:bodyPr/>
          <a:lstStyle/>
          <a:p>
            <a:endParaRPr lang="en-US"/>
          </a:p>
        </p:txBody>
      </p:sp>
      <p:sp>
        <p:nvSpPr>
          <p:cNvPr id="37" name="Text 26"/>
          <p:cNvSpPr txBox="1"/>
          <p:nvPr/>
        </p:nvSpPr>
        <p:spPr>
          <a:xfrm>
            <a:off x="731520" y="3794760"/>
            <a:ext cx="7680960" cy="56692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Fine for a demo. Fine for a dinner for 40 friends. </a:t>
            </a:r>
            <a:r>
              <a:rPr lang="en-US" sz="1300" b="1" dirty="0">
                <a:solidFill>
                  <a:srgbClr val="C8F236"/>
                </a:solidFill>
                <a:latin typeface="Calibri" pitchFamily="34" charset="0"/>
                <a:ea typeface="Calibri" pitchFamily="34" charset="-122"/>
                <a:cs typeface="Calibri" pitchFamily="34" charset="-120"/>
              </a:rPr>
              <a:t>Not fine for 400 sign-ups holding people's personal data.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5 · WHERE IT BREAKS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17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Five ways this goes wrong</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9" name="Text 7"/>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5 Where it breaks</a:t>
            </a:r>
            <a:endParaRPr lang="en-US" sz="750" dirty="0"/>
          </a:p>
        </p:txBody>
      </p:sp>
      <p:sp>
        <p:nvSpPr>
          <p:cNvPr id="10" name="Shape 8"/>
          <p:cNvSpPr/>
          <p:nvPr/>
        </p:nvSpPr>
        <p:spPr>
          <a:xfrm>
            <a:off x="4171493" y="4919472"/>
            <a:ext cx="1024128" cy="27432"/>
          </a:xfrm>
          <a:prstGeom prst="rect">
            <a:avLst/>
          </a:prstGeom>
          <a:solidFill>
            <a:srgbClr val="C8F236"/>
          </a:solidFill>
          <a:ln w="12700">
            <a:solidFill>
              <a:srgbClr val="C8F236"/>
            </a:solidFill>
            <a:prstDash val="solid"/>
          </a:ln>
        </p:spPr>
        <p:txBody>
          <a:bodyPr/>
          <a:lstStyle/>
          <a:p>
            <a:endParaRPr lang="en-US"/>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43000"/>
            <a:ext cx="8046720" cy="585216"/>
          </a:xfrm>
          <a:prstGeom prst="roundRect">
            <a:avLst>
              <a:gd name="adj" fmla="val 12500"/>
            </a:avLst>
          </a:prstGeom>
          <a:solidFill>
            <a:srgbClr val="F3F4F6"/>
          </a:solidFill>
          <a:ln w="12700">
            <a:solidFill>
              <a:srgbClr val="F3F4F6"/>
            </a:solidFill>
            <a:prstDash val="solid"/>
          </a:ln>
        </p:spPr>
        <p:txBody>
          <a:bodyPr/>
          <a:lstStyle/>
          <a:p>
            <a:endParaRPr lang="en-US"/>
          </a:p>
        </p:txBody>
      </p:sp>
      <p:sp>
        <p:nvSpPr>
          <p:cNvPr id="17" name="Shape 14"/>
          <p:cNvSpPr/>
          <p:nvPr/>
        </p:nvSpPr>
        <p:spPr>
          <a:xfrm>
            <a:off x="713232" y="1261872"/>
            <a:ext cx="338328" cy="338328"/>
          </a:xfrm>
          <a:prstGeom prst="ellipse">
            <a:avLst/>
          </a:prstGeom>
          <a:solidFill>
            <a:srgbClr val="C8F236"/>
          </a:solidFill>
          <a:ln w="12700">
            <a:solidFill>
              <a:srgbClr val="C8F236"/>
            </a:solidFill>
            <a:prstDash val="solid"/>
          </a:ln>
        </p:spPr>
        <p:txBody>
          <a:bodyPr/>
          <a:lstStyle/>
          <a:p>
            <a:endParaRPr lang="en-US"/>
          </a:p>
        </p:txBody>
      </p:sp>
      <p:sp>
        <p:nvSpPr>
          <p:cNvPr id="18" name="Text 15"/>
          <p:cNvSpPr txBox="1"/>
          <p:nvPr/>
        </p:nvSpPr>
        <p:spPr>
          <a:xfrm>
            <a:off x="713232" y="1261872"/>
            <a:ext cx="338328" cy="338328"/>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1</a:t>
            </a:r>
            <a:endParaRPr lang="en-US" sz="1200" dirty="0"/>
          </a:p>
        </p:txBody>
      </p:sp>
      <p:sp>
        <p:nvSpPr>
          <p:cNvPr id="19" name="Text 16"/>
          <p:cNvSpPr txBox="1"/>
          <p:nvPr/>
        </p:nvSpPr>
        <p:spPr>
          <a:xfrm>
            <a:off x="1234440" y="1143000"/>
            <a:ext cx="2148840" cy="585216"/>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It is confidently wrong</a:t>
            </a:r>
            <a:endParaRPr lang="en-US" sz="1300" dirty="0"/>
          </a:p>
        </p:txBody>
      </p:sp>
      <p:sp>
        <p:nvSpPr>
          <p:cNvPr id="20" name="Text 17"/>
          <p:cNvSpPr txBox="1"/>
          <p:nvPr/>
        </p:nvSpPr>
        <p:spPr>
          <a:xfrm>
            <a:off x="3429000" y="1143000"/>
            <a:ext cx="5029200" cy="58521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It will say "done, this works" when it doesn't. It will invent a number. Trust the screen, not the sentence.</a:t>
            </a:r>
            <a:endParaRPr lang="en-US" sz="1050" dirty="0"/>
          </a:p>
        </p:txBody>
      </p:sp>
      <p:sp>
        <p:nvSpPr>
          <p:cNvPr id="21" name="Shape 18"/>
          <p:cNvSpPr/>
          <p:nvPr/>
        </p:nvSpPr>
        <p:spPr>
          <a:xfrm>
            <a:off x="548640" y="1801368"/>
            <a:ext cx="8046720" cy="585216"/>
          </a:xfrm>
          <a:prstGeom prst="roundRect">
            <a:avLst>
              <a:gd name="adj" fmla="val 12500"/>
            </a:avLst>
          </a:prstGeom>
          <a:solidFill>
            <a:srgbClr val="FFFFFF"/>
          </a:solidFill>
          <a:ln w="12700">
            <a:solidFill>
              <a:srgbClr val="FFFFFF"/>
            </a:solidFill>
            <a:prstDash val="solid"/>
          </a:ln>
        </p:spPr>
        <p:txBody>
          <a:bodyPr/>
          <a:lstStyle/>
          <a:p>
            <a:endParaRPr lang="en-US"/>
          </a:p>
        </p:txBody>
      </p:sp>
      <p:sp>
        <p:nvSpPr>
          <p:cNvPr id="22" name="Shape 19"/>
          <p:cNvSpPr/>
          <p:nvPr/>
        </p:nvSpPr>
        <p:spPr>
          <a:xfrm>
            <a:off x="713232" y="1920240"/>
            <a:ext cx="338328" cy="338328"/>
          </a:xfrm>
          <a:prstGeom prst="ellipse">
            <a:avLst/>
          </a:prstGeom>
          <a:solidFill>
            <a:srgbClr val="C8F236"/>
          </a:solidFill>
          <a:ln w="12700">
            <a:solidFill>
              <a:srgbClr val="C8F236"/>
            </a:solidFill>
            <a:prstDash val="solid"/>
          </a:ln>
        </p:spPr>
        <p:txBody>
          <a:bodyPr/>
          <a:lstStyle/>
          <a:p>
            <a:endParaRPr lang="en-US"/>
          </a:p>
        </p:txBody>
      </p:sp>
      <p:sp>
        <p:nvSpPr>
          <p:cNvPr id="23" name="Text 20"/>
          <p:cNvSpPr txBox="1"/>
          <p:nvPr/>
        </p:nvSpPr>
        <p:spPr>
          <a:xfrm>
            <a:off x="713232" y="1920240"/>
            <a:ext cx="338328" cy="338328"/>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2</a:t>
            </a:r>
            <a:endParaRPr lang="en-US" sz="1200" dirty="0"/>
          </a:p>
        </p:txBody>
      </p:sp>
      <p:sp>
        <p:nvSpPr>
          <p:cNvPr id="24" name="Text 21"/>
          <p:cNvSpPr txBox="1"/>
          <p:nvPr/>
        </p:nvSpPr>
        <p:spPr>
          <a:xfrm>
            <a:off x="1234440" y="1801368"/>
            <a:ext cx="2148840" cy="585216"/>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Secrets leak</a:t>
            </a:r>
            <a:endParaRPr lang="en-US" sz="1300" dirty="0"/>
          </a:p>
        </p:txBody>
      </p:sp>
      <p:sp>
        <p:nvSpPr>
          <p:cNvPr id="25" name="Text 22"/>
          <p:cNvSpPr txBox="1"/>
          <p:nvPr/>
        </p:nvSpPr>
        <p:spPr>
          <a:xfrm>
            <a:off x="3429000" y="1801368"/>
            <a:ext cx="5029200" cy="58521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Never paste passwords, API keys, or customer data into a prompt. Vibe-coded apps regularly ship with the database open to the internet.</a:t>
            </a:r>
            <a:endParaRPr lang="en-US" sz="1050" dirty="0"/>
          </a:p>
        </p:txBody>
      </p:sp>
      <p:sp>
        <p:nvSpPr>
          <p:cNvPr id="26" name="Shape 23"/>
          <p:cNvSpPr/>
          <p:nvPr/>
        </p:nvSpPr>
        <p:spPr>
          <a:xfrm>
            <a:off x="548640" y="2459736"/>
            <a:ext cx="8046720" cy="585216"/>
          </a:xfrm>
          <a:prstGeom prst="roundRect">
            <a:avLst>
              <a:gd name="adj" fmla="val 12500"/>
            </a:avLst>
          </a:prstGeom>
          <a:solidFill>
            <a:srgbClr val="F3F4F6"/>
          </a:solidFill>
          <a:ln w="12700">
            <a:solidFill>
              <a:srgbClr val="F3F4F6"/>
            </a:solidFill>
            <a:prstDash val="solid"/>
          </a:ln>
        </p:spPr>
        <p:txBody>
          <a:bodyPr/>
          <a:lstStyle/>
          <a:p>
            <a:endParaRPr lang="en-US"/>
          </a:p>
        </p:txBody>
      </p:sp>
      <p:sp>
        <p:nvSpPr>
          <p:cNvPr id="27" name="Shape 24"/>
          <p:cNvSpPr/>
          <p:nvPr/>
        </p:nvSpPr>
        <p:spPr>
          <a:xfrm>
            <a:off x="713232" y="2578608"/>
            <a:ext cx="338328" cy="338328"/>
          </a:xfrm>
          <a:prstGeom prst="ellipse">
            <a:avLst/>
          </a:prstGeom>
          <a:solidFill>
            <a:srgbClr val="C8F236"/>
          </a:solidFill>
          <a:ln w="12700">
            <a:solidFill>
              <a:srgbClr val="C8F236"/>
            </a:solidFill>
            <a:prstDash val="solid"/>
          </a:ln>
        </p:spPr>
        <p:txBody>
          <a:bodyPr/>
          <a:lstStyle/>
          <a:p>
            <a:endParaRPr lang="en-US"/>
          </a:p>
        </p:txBody>
      </p:sp>
      <p:sp>
        <p:nvSpPr>
          <p:cNvPr id="28" name="Text 25"/>
          <p:cNvSpPr txBox="1"/>
          <p:nvPr/>
        </p:nvSpPr>
        <p:spPr>
          <a:xfrm>
            <a:off x="713232" y="2578608"/>
            <a:ext cx="338328" cy="338328"/>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3</a:t>
            </a:r>
            <a:endParaRPr lang="en-US" sz="1200" dirty="0"/>
          </a:p>
        </p:txBody>
      </p:sp>
      <p:sp>
        <p:nvSpPr>
          <p:cNvPr id="29" name="Text 26"/>
          <p:cNvSpPr txBox="1"/>
          <p:nvPr/>
        </p:nvSpPr>
        <p:spPr>
          <a:xfrm>
            <a:off x="1234440" y="2459736"/>
            <a:ext cx="2148840" cy="585216"/>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It can destroy things</a:t>
            </a:r>
            <a:endParaRPr lang="en-US" sz="1300" dirty="0"/>
          </a:p>
        </p:txBody>
      </p:sp>
      <p:sp>
        <p:nvSpPr>
          <p:cNvPr id="30" name="Text 27"/>
          <p:cNvSpPr txBox="1"/>
          <p:nvPr/>
        </p:nvSpPr>
        <p:spPr>
          <a:xfrm>
            <a:off x="3429000" y="2459736"/>
            <a:ext cx="5029200" cy="58521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July 2025: an AI agent on Replit deleted a startup's production database during a code freeze, after being told not to touch anything.</a:t>
            </a:r>
            <a:endParaRPr lang="en-US" sz="1050" dirty="0"/>
          </a:p>
        </p:txBody>
      </p:sp>
      <p:sp>
        <p:nvSpPr>
          <p:cNvPr id="31" name="Shape 28"/>
          <p:cNvSpPr/>
          <p:nvPr/>
        </p:nvSpPr>
        <p:spPr>
          <a:xfrm>
            <a:off x="548640" y="3118104"/>
            <a:ext cx="8046720" cy="585216"/>
          </a:xfrm>
          <a:prstGeom prst="roundRect">
            <a:avLst>
              <a:gd name="adj" fmla="val 12500"/>
            </a:avLst>
          </a:prstGeom>
          <a:solidFill>
            <a:srgbClr val="FFFFFF"/>
          </a:solidFill>
          <a:ln w="12700">
            <a:solidFill>
              <a:srgbClr val="FFFFFF"/>
            </a:solidFill>
            <a:prstDash val="solid"/>
          </a:ln>
        </p:spPr>
        <p:txBody>
          <a:bodyPr/>
          <a:lstStyle/>
          <a:p>
            <a:endParaRPr lang="en-US"/>
          </a:p>
        </p:txBody>
      </p:sp>
      <p:sp>
        <p:nvSpPr>
          <p:cNvPr id="32" name="Shape 29"/>
          <p:cNvSpPr/>
          <p:nvPr/>
        </p:nvSpPr>
        <p:spPr>
          <a:xfrm>
            <a:off x="713232" y="3236976"/>
            <a:ext cx="338328" cy="338328"/>
          </a:xfrm>
          <a:prstGeom prst="ellipse">
            <a:avLst/>
          </a:prstGeom>
          <a:solidFill>
            <a:srgbClr val="C8F236"/>
          </a:solidFill>
          <a:ln w="12700">
            <a:solidFill>
              <a:srgbClr val="C8F236"/>
            </a:solidFill>
            <a:prstDash val="solid"/>
          </a:ln>
        </p:spPr>
        <p:txBody>
          <a:bodyPr/>
          <a:lstStyle/>
          <a:p>
            <a:endParaRPr lang="en-US"/>
          </a:p>
        </p:txBody>
      </p:sp>
      <p:sp>
        <p:nvSpPr>
          <p:cNvPr id="33" name="Text 30"/>
          <p:cNvSpPr txBox="1"/>
          <p:nvPr/>
        </p:nvSpPr>
        <p:spPr>
          <a:xfrm>
            <a:off x="713232" y="3236976"/>
            <a:ext cx="338328" cy="338328"/>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4</a:t>
            </a:r>
            <a:endParaRPr lang="en-US" sz="1200" dirty="0"/>
          </a:p>
        </p:txBody>
      </p:sp>
      <p:sp>
        <p:nvSpPr>
          <p:cNvPr id="34" name="Text 31"/>
          <p:cNvSpPr txBox="1"/>
          <p:nvPr/>
        </p:nvSpPr>
        <p:spPr>
          <a:xfrm>
            <a:off x="1234440" y="3118104"/>
            <a:ext cx="2148840" cy="585216"/>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The 80 percent cliff</a:t>
            </a:r>
            <a:endParaRPr lang="en-US" sz="1300" dirty="0"/>
          </a:p>
        </p:txBody>
      </p:sp>
      <p:sp>
        <p:nvSpPr>
          <p:cNvPr id="35" name="Text 32"/>
          <p:cNvSpPr txBox="1"/>
          <p:nvPr/>
        </p:nvSpPr>
        <p:spPr>
          <a:xfrm>
            <a:off x="3429000" y="3118104"/>
            <a:ext cx="5029200" cy="58521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The first 80 percent takes an afternoon. The last 20 percent (edge cases, payments, permissions) is where projects die if nobody understands them.</a:t>
            </a:r>
            <a:endParaRPr lang="en-US" sz="1050" dirty="0"/>
          </a:p>
        </p:txBody>
      </p:sp>
      <p:sp>
        <p:nvSpPr>
          <p:cNvPr id="36" name="Shape 33"/>
          <p:cNvSpPr/>
          <p:nvPr/>
        </p:nvSpPr>
        <p:spPr>
          <a:xfrm>
            <a:off x="548640" y="3776472"/>
            <a:ext cx="8046720" cy="585216"/>
          </a:xfrm>
          <a:prstGeom prst="roundRect">
            <a:avLst>
              <a:gd name="adj" fmla="val 12500"/>
            </a:avLst>
          </a:prstGeom>
          <a:solidFill>
            <a:srgbClr val="F3F4F6"/>
          </a:solidFill>
          <a:ln w="12700">
            <a:solidFill>
              <a:srgbClr val="F3F4F6"/>
            </a:solidFill>
            <a:prstDash val="solid"/>
          </a:ln>
        </p:spPr>
        <p:txBody>
          <a:bodyPr/>
          <a:lstStyle/>
          <a:p>
            <a:endParaRPr lang="en-US"/>
          </a:p>
        </p:txBody>
      </p:sp>
      <p:sp>
        <p:nvSpPr>
          <p:cNvPr id="37" name="Shape 34"/>
          <p:cNvSpPr/>
          <p:nvPr/>
        </p:nvSpPr>
        <p:spPr>
          <a:xfrm>
            <a:off x="713232" y="3895344"/>
            <a:ext cx="338328" cy="338328"/>
          </a:xfrm>
          <a:prstGeom prst="ellipse">
            <a:avLst/>
          </a:prstGeom>
          <a:solidFill>
            <a:srgbClr val="C8F236"/>
          </a:solidFill>
          <a:ln w="12700">
            <a:solidFill>
              <a:srgbClr val="C8F236"/>
            </a:solidFill>
            <a:prstDash val="solid"/>
          </a:ln>
        </p:spPr>
        <p:txBody>
          <a:bodyPr/>
          <a:lstStyle/>
          <a:p>
            <a:endParaRPr lang="en-US"/>
          </a:p>
        </p:txBody>
      </p:sp>
      <p:sp>
        <p:nvSpPr>
          <p:cNvPr id="38" name="Text 35"/>
          <p:cNvSpPr txBox="1"/>
          <p:nvPr/>
        </p:nvSpPr>
        <p:spPr>
          <a:xfrm>
            <a:off x="713232" y="3895344"/>
            <a:ext cx="338328" cy="338328"/>
          </a:xfrm>
          <a:prstGeom prst="rect">
            <a:avLst/>
          </a:prstGeom>
          <a:noFill/>
          <a:ln/>
        </p:spPr>
        <p:txBody>
          <a:bodyPr wrap="square" lIns="0" tIns="0" rIns="0" bIns="0" rtlCol="0" anchor="ctr"/>
          <a:lstStyle/>
          <a:p>
            <a:pPr marL="0" indent="0" algn="ctr">
              <a:buNone/>
            </a:pPr>
            <a:r>
              <a:rPr lang="en-US" sz="1200" b="1" dirty="0">
                <a:solidFill>
                  <a:srgbClr val="111318"/>
                </a:solidFill>
                <a:latin typeface="Courier New" pitchFamily="34" charset="0"/>
                <a:ea typeface="Courier New" pitchFamily="34" charset="-122"/>
                <a:cs typeface="Courier New" pitchFamily="34" charset="-120"/>
              </a:rPr>
              <a:t>5</a:t>
            </a:r>
            <a:endParaRPr lang="en-US" sz="1200" dirty="0"/>
          </a:p>
        </p:txBody>
      </p:sp>
      <p:sp>
        <p:nvSpPr>
          <p:cNvPr id="39" name="Text 36"/>
          <p:cNvSpPr txBox="1"/>
          <p:nvPr/>
        </p:nvSpPr>
        <p:spPr>
          <a:xfrm>
            <a:off x="1234440" y="3776472"/>
            <a:ext cx="2148840" cy="585216"/>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You still own it</a:t>
            </a:r>
            <a:endParaRPr lang="en-US" sz="1300" dirty="0"/>
          </a:p>
        </p:txBody>
      </p:sp>
      <p:sp>
        <p:nvSpPr>
          <p:cNvPr id="40" name="Text 37"/>
          <p:cNvSpPr txBox="1"/>
          <p:nvPr/>
        </p:nvSpPr>
        <p:spPr>
          <a:xfrm>
            <a:off x="3429000" y="3776472"/>
            <a:ext cx="5029200" cy="58521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March 2025: a founder announced his SaaS was 100 percent vibe-coded. Within days people bypassed his paywall and ran up his API bill. He couldn't fix it.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5 · WHERE IT BREAKS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18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Plausible output can still be wrong</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9" name="Text 7"/>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5 Where it breaks</a:t>
            </a:r>
            <a:endParaRPr lang="en-US" sz="750" dirty="0"/>
          </a:p>
        </p:txBody>
      </p:sp>
      <p:sp>
        <p:nvSpPr>
          <p:cNvPr id="10" name="Shape 8"/>
          <p:cNvSpPr/>
          <p:nvPr/>
        </p:nvSpPr>
        <p:spPr>
          <a:xfrm>
            <a:off x="4171493" y="4919472"/>
            <a:ext cx="1024128" cy="27432"/>
          </a:xfrm>
          <a:prstGeom prst="rect">
            <a:avLst/>
          </a:prstGeom>
          <a:solidFill>
            <a:srgbClr val="C8F236"/>
          </a:solidFill>
          <a:ln w="12700">
            <a:solidFill>
              <a:srgbClr val="C8F236"/>
            </a:solidFill>
            <a:prstDash val="solid"/>
          </a:ln>
        </p:spPr>
        <p:txBody>
          <a:bodyPr/>
          <a:lstStyle/>
          <a:p>
            <a:endParaRPr lang="en-US"/>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8046720" cy="530352"/>
          </a:xfrm>
          <a:prstGeom prst="roundRect">
            <a:avLst>
              <a:gd name="adj" fmla="val 10345"/>
            </a:avLst>
          </a:prstGeom>
          <a:solidFill>
            <a:srgbClr val="FFFFFF"/>
          </a:solidFill>
          <a:ln w="12700">
            <a:solidFill>
              <a:srgbClr val="FFFFFF"/>
            </a:solidFill>
            <a:prstDash val="solid"/>
          </a:ln>
        </p:spPr>
        <p:txBody>
          <a:bodyPr/>
          <a:lstStyle/>
          <a:p>
            <a:endParaRPr lang="en-US"/>
          </a:p>
        </p:txBody>
      </p:sp>
      <p:sp>
        <p:nvSpPr>
          <p:cNvPr id="17" name="Shape 14"/>
          <p:cNvSpPr/>
          <p:nvPr/>
        </p:nvSpPr>
        <p:spPr>
          <a:xfrm>
            <a:off x="685800" y="1271016"/>
            <a:ext cx="365760" cy="365760"/>
          </a:xfrm>
          <a:prstGeom prst="ellipse">
            <a:avLst/>
          </a:prstGeom>
          <a:solidFill>
            <a:srgbClr val="E9EBEF"/>
          </a:solidFill>
          <a:ln w="12700">
            <a:solidFill>
              <a:srgbClr val="E9EBEF"/>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780898" y="1366114"/>
            <a:ext cx="175565" cy="175565"/>
          </a:xfrm>
          <a:prstGeom prst="rect">
            <a:avLst/>
          </a:prstGeom>
        </p:spPr>
      </p:pic>
      <p:sp>
        <p:nvSpPr>
          <p:cNvPr id="19" name="Text 15"/>
          <p:cNvSpPr txBox="1"/>
          <p:nvPr/>
        </p:nvSpPr>
        <p:spPr>
          <a:xfrm>
            <a:off x="1234440" y="1188720"/>
            <a:ext cx="2377440" cy="530352"/>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Invented facts</a:t>
            </a:r>
            <a:endParaRPr lang="en-US" sz="1300" dirty="0"/>
          </a:p>
        </p:txBody>
      </p:sp>
      <p:sp>
        <p:nvSpPr>
          <p:cNvPr id="20" name="Text 16"/>
          <p:cNvSpPr txBox="1"/>
          <p:nvPr/>
        </p:nvSpPr>
        <p:spPr>
          <a:xfrm>
            <a:off x="3657600" y="1188720"/>
            <a:ext cx="4800600" cy="530352"/>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Does the API, package, number, or citation actually exist?</a:t>
            </a:r>
            <a:endParaRPr lang="en-US" sz="1200" dirty="0"/>
          </a:p>
        </p:txBody>
      </p:sp>
      <p:sp>
        <p:nvSpPr>
          <p:cNvPr id="21" name="Shape 17"/>
          <p:cNvSpPr/>
          <p:nvPr/>
        </p:nvSpPr>
        <p:spPr>
          <a:xfrm>
            <a:off x="548640" y="1792224"/>
            <a:ext cx="8046720" cy="530352"/>
          </a:xfrm>
          <a:prstGeom prst="roundRect">
            <a:avLst>
              <a:gd name="adj" fmla="val 10345"/>
            </a:avLst>
          </a:prstGeom>
          <a:solidFill>
            <a:srgbClr val="F3F4F6"/>
          </a:solidFill>
          <a:ln w="12700">
            <a:solidFill>
              <a:srgbClr val="F3F4F6"/>
            </a:solidFill>
            <a:prstDash val="solid"/>
          </a:ln>
        </p:spPr>
        <p:txBody>
          <a:bodyPr/>
          <a:lstStyle/>
          <a:p>
            <a:endParaRPr lang="en-US"/>
          </a:p>
        </p:txBody>
      </p:sp>
      <p:sp>
        <p:nvSpPr>
          <p:cNvPr id="22" name="Shape 18"/>
          <p:cNvSpPr/>
          <p:nvPr/>
        </p:nvSpPr>
        <p:spPr>
          <a:xfrm>
            <a:off x="685800" y="1874520"/>
            <a:ext cx="365760" cy="365760"/>
          </a:xfrm>
          <a:prstGeom prst="ellipse">
            <a:avLst/>
          </a:prstGeom>
          <a:solidFill>
            <a:srgbClr val="E9EBEF"/>
          </a:solidFill>
          <a:ln w="12700">
            <a:solidFill>
              <a:srgbClr val="E9EBEF"/>
            </a:solidFill>
            <a:prstDash val="solid"/>
          </a:ln>
        </p:spPr>
        <p:txBody>
          <a:bodyPr/>
          <a:lstStyle/>
          <a:p>
            <a:endParaRPr lang="en-US"/>
          </a:p>
        </p:txBody>
      </p:sp>
      <p:pic>
        <p:nvPicPr>
          <p:cNvPr id="23" name="Image 2" descr="preencoded.png"/>
          <p:cNvPicPr>
            <a:picLocks noChangeAspect="1"/>
          </p:cNvPicPr>
          <p:nvPr/>
        </p:nvPicPr>
        <p:blipFill>
          <a:blip r:embed="rId4"/>
          <a:stretch>
            <a:fillRect/>
          </a:stretch>
        </p:blipFill>
        <p:spPr>
          <a:xfrm>
            <a:off x="780898" y="1969618"/>
            <a:ext cx="175565" cy="175565"/>
          </a:xfrm>
          <a:prstGeom prst="rect">
            <a:avLst/>
          </a:prstGeom>
        </p:spPr>
      </p:pic>
      <p:sp>
        <p:nvSpPr>
          <p:cNvPr id="24" name="Text 19"/>
          <p:cNvSpPr txBox="1"/>
          <p:nvPr/>
        </p:nvSpPr>
        <p:spPr>
          <a:xfrm>
            <a:off x="1234440" y="1792224"/>
            <a:ext cx="2377440" cy="530352"/>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Contradictions</a:t>
            </a:r>
            <a:endParaRPr lang="en-US" sz="1300" dirty="0"/>
          </a:p>
        </p:txBody>
      </p:sp>
      <p:sp>
        <p:nvSpPr>
          <p:cNvPr id="25" name="Text 20"/>
          <p:cNvSpPr txBox="1"/>
          <p:nvPr/>
        </p:nvSpPr>
        <p:spPr>
          <a:xfrm>
            <a:off x="3657600" y="1792224"/>
            <a:ext cx="4800600" cy="530352"/>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Do the code, the explanation, and the requirements agree?</a:t>
            </a:r>
            <a:endParaRPr lang="en-US" sz="1200" dirty="0"/>
          </a:p>
        </p:txBody>
      </p:sp>
      <p:sp>
        <p:nvSpPr>
          <p:cNvPr id="26" name="Shape 21"/>
          <p:cNvSpPr/>
          <p:nvPr/>
        </p:nvSpPr>
        <p:spPr>
          <a:xfrm>
            <a:off x="548640" y="2395728"/>
            <a:ext cx="8046720" cy="530352"/>
          </a:xfrm>
          <a:prstGeom prst="roundRect">
            <a:avLst>
              <a:gd name="adj" fmla="val 10345"/>
            </a:avLst>
          </a:prstGeom>
          <a:solidFill>
            <a:srgbClr val="FFFFFF"/>
          </a:solidFill>
          <a:ln w="12700">
            <a:solidFill>
              <a:srgbClr val="FFFFFF"/>
            </a:solidFill>
            <a:prstDash val="solid"/>
          </a:ln>
        </p:spPr>
        <p:txBody>
          <a:bodyPr/>
          <a:lstStyle/>
          <a:p>
            <a:endParaRPr lang="en-US"/>
          </a:p>
        </p:txBody>
      </p:sp>
      <p:sp>
        <p:nvSpPr>
          <p:cNvPr id="27" name="Shape 22"/>
          <p:cNvSpPr/>
          <p:nvPr/>
        </p:nvSpPr>
        <p:spPr>
          <a:xfrm>
            <a:off x="685800" y="2478024"/>
            <a:ext cx="365760" cy="365760"/>
          </a:xfrm>
          <a:prstGeom prst="ellipse">
            <a:avLst/>
          </a:prstGeom>
          <a:solidFill>
            <a:srgbClr val="E9EBEF"/>
          </a:solidFill>
          <a:ln w="12700">
            <a:solidFill>
              <a:srgbClr val="E9EBEF"/>
            </a:solidFill>
            <a:prstDash val="solid"/>
          </a:ln>
        </p:spPr>
        <p:txBody>
          <a:bodyPr/>
          <a:lstStyle/>
          <a:p>
            <a:endParaRPr lang="en-US"/>
          </a:p>
        </p:txBody>
      </p:sp>
      <p:pic>
        <p:nvPicPr>
          <p:cNvPr id="28" name="Image 3" descr="preencoded.png"/>
          <p:cNvPicPr>
            <a:picLocks noChangeAspect="1"/>
          </p:cNvPicPr>
          <p:nvPr/>
        </p:nvPicPr>
        <p:blipFill>
          <a:blip r:embed="rId4"/>
          <a:stretch>
            <a:fillRect/>
          </a:stretch>
        </p:blipFill>
        <p:spPr>
          <a:xfrm>
            <a:off x="780898" y="2573122"/>
            <a:ext cx="175565" cy="175565"/>
          </a:xfrm>
          <a:prstGeom prst="rect">
            <a:avLst/>
          </a:prstGeom>
        </p:spPr>
      </p:pic>
      <p:sp>
        <p:nvSpPr>
          <p:cNvPr id="29" name="Text 23"/>
          <p:cNvSpPr txBox="1"/>
          <p:nvPr/>
        </p:nvSpPr>
        <p:spPr>
          <a:xfrm>
            <a:off x="1234440" y="2395728"/>
            <a:ext cx="2377440" cy="530352"/>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Repetition or ambiguity</a:t>
            </a:r>
            <a:endParaRPr lang="en-US" sz="1300" dirty="0"/>
          </a:p>
        </p:txBody>
      </p:sp>
      <p:sp>
        <p:nvSpPr>
          <p:cNvPr id="30" name="Text 24"/>
          <p:cNvSpPr txBox="1"/>
          <p:nvPr/>
        </p:nvSpPr>
        <p:spPr>
          <a:xfrm>
            <a:off x="3657600" y="2395728"/>
            <a:ext cx="4800600" cy="530352"/>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Does it repeat work, or leave behaviour unclear?</a:t>
            </a:r>
            <a:endParaRPr lang="en-US" sz="1200" dirty="0"/>
          </a:p>
        </p:txBody>
      </p:sp>
      <p:sp>
        <p:nvSpPr>
          <p:cNvPr id="31" name="Shape 25"/>
          <p:cNvSpPr/>
          <p:nvPr/>
        </p:nvSpPr>
        <p:spPr>
          <a:xfrm>
            <a:off x="548640" y="2999232"/>
            <a:ext cx="8046720" cy="530352"/>
          </a:xfrm>
          <a:prstGeom prst="roundRect">
            <a:avLst>
              <a:gd name="adj" fmla="val 10345"/>
            </a:avLst>
          </a:prstGeom>
          <a:solidFill>
            <a:srgbClr val="F3F4F6"/>
          </a:solidFill>
          <a:ln w="12700">
            <a:solidFill>
              <a:srgbClr val="F3F4F6"/>
            </a:solidFill>
            <a:prstDash val="solid"/>
          </a:ln>
        </p:spPr>
        <p:txBody>
          <a:bodyPr/>
          <a:lstStyle/>
          <a:p>
            <a:endParaRPr lang="en-US"/>
          </a:p>
        </p:txBody>
      </p:sp>
      <p:sp>
        <p:nvSpPr>
          <p:cNvPr id="32" name="Shape 26"/>
          <p:cNvSpPr/>
          <p:nvPr/>
        </p:nvSpPr>
        <p:spPr>
          <a:xfrm>
            <a:off x="685800" y="3081528"/>
            <a:ext cx="365760" cy="365760"/>
          </a:xfrm>
          <a:prstGeom prst="ellipse">
            <a:avLst/>
          </a:prstGeom>
          <a:solidFill>
            <a:srgbClr val="E9EBEF"/>
          </a:solidFill>
          <a:ln w="12700">
            <a:solidFill>
              <a:srgbClr val="E9EBEF"/>
            </a:solidFill>
            <a:prstDash val="solid"/>
          </a:ln>
        </p:spPr>
        <p:txBody>
          <a:bodyPr/>
          <a:lstStyle/>
          <a:p>
            <a:endParaRPr lang="en-US"/>
          </a:p>
        </p:txBody>
      </p:sp>
      <p:pic>
        <p:nvPicPr>
          <p:cNvPr id="33" name="Image 4" descr="preencoded.png"/>
          <p:cNvPicPr>
            <a:picLocks noChangeAspect="1"/>
          </p:cNvPicPr>
          <p:nvPr/>
        </p:nvPicPr>
        <p:blipFill>
          <a:blip r:embed="rId4"/>
          <a:stretch>
            <a:fillRect/>
          </a:stretch>
        </p:blipFill>
        <p:spPr>
          <a:xfrm>
            <a:off x="780898" y="3176626"/>
            <a:ext cx="175565" cy="175565"/>
          </a:xfrm>
          <a:prstGeom prst="rect">
            <a:avLst/>
          </a:prstGeom>
        </p:spPr>
      </p:pic>
      <p:sp>
        <p:nvSpPr>
          <p:cNvPr id="34" name="Text 27"/>
          <p:cNvSpPr txBox="1"/>
          <p:nvPr/>
        </p:nvSpPr>
        <p:spPr>
          <a:xfrm>
            <a:off x="1234440" y="2999232"/>
            <a:ext cx="2377440" cy="530352"/>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Bias and stereotyping</a:t>
            </a:r>
            <a:endParaRPr lang="en-US" sz="1300" dirty="0"/>
          </a:p>
        </p:txBody>
      </p:sp>
      <p:sp>
        <p:nvSpPr>
          <p:cNvPr id="35" name="Text 28"/>
          <p:cNvSpPr txBox="1"/>
          <p:nvPr/>
        </p:nvSpPr>
        <p:spPr>
          <a:xfrm>
            <a:off x="3657600" y="2999232"/>
            <a:ext cx="4800600" cy="530352"/>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Who could the wording or the assumptions exclude?</a:t>
            </a:r>
            <a:endParaRPr lang="en-US" sz="1200" dirty="0"/>
          </a:p>
        </p:txBody>
      </p:sp>
      <p:sp>
        <p:nvSpPr>
          <p:cNvPr id="36" name="Shape 29"/>
          <p:cNvSpPr/>
          <p:nvPr/>
        </p:nvSpPr>
        <p:spPr>
          <a:xfrm>
            <a:off x="548640" y="3602736"/>
            <a:ext cx="8046720" cy="530352"/>
          </a:xfrm>
          <a:prstGeom prst="roundRect">
            <a:avLst>
              <a:gd name="adj" fmla="val 10345"/>
            </a:avLst>
          </a:prstGeom>
          <a:solidFill>
            <a:srgbClr val="FFFFFF"/>
          </a:solidFill>
          <a:ln w="12700">
            <a:solidFill>
              <a:srgbClr val="FFFFFF"/>
            </a:solidFill>
            <a:prstDash val="solid"/>
          </a:ln>
        </p:spPr>
        <p:txBody>
          <a:bodyPr/>
          <a:lstStyle/>
          <a:p>
            <a:endParaRPr lang="en-US"/>
          </a:p>
        </p:txBody>
      </p:sp>
      <p:sp>
        <p:nvSpPr>
          <p:cNvPr id="37" name="Shape 30"/>
          <p:cNvSpPr/>
          <p:nvPr/>
        </p:nvSpPr>
        <p:spPr>
          <a:xfrm>
            <a:off x="685800" y="3685032"/>
            <a:ext cx="365760" cy="365760"/>
          </a:xfrm>
          <a:prstGeom prst="ellipse">
            <a:avLst/>
          </a:prstGeom>
          <a:solidFill>
            <a:srgbClr val="E9EBEF"/>
          </a:solidFill>
          <a:ln w="12700">
            <a:solidFill>
              <a:srgbClr val="E9EBEF"/>
            </a:solidFill>
            <a:prstDash val="solid"/>
          </a:ln>
        </p:spPr>
        <p:txBody>
          <a:bodyPr/>
          <a:lstStyle/>
          <a:p>
            <a:endParaRPr lang="en-US"/>
          </a:p>
        </p:txBody>
      </p:sp>
      <p:pic>
        <p:nvPicPr>
          <p:cNvPr id="38" name="Image 5" descr="preencoded.png"/>
          <p:cNvPicPr>
            <a:picLocks noChangeAspect="1"/>
          </p:cNvPicPr>
          <p:nvPr/>
        </p:nvPicPr>
        <p:blipFill>
          <a:blip r:embed="rId4"/>
          <a:stretch>
            <a:fillRect/>
          </a:stretch>
        </p:blipFill>
        <p:spPr>
          <a:xfrm>
            <a:off x="780898" y="3780130"/>
            <a:ext cx="175565" cy="175565"/>
          </a:xfrm>
          <a:prstGeom prst="rect">
            <a:avLst/>
          </a:prstGeom>
        </p:spPr>
      </p:pic>
      <p:sp>
        <p:nvSpPr>
          <p:cNvPr id="39" name="Text 31"/>
          <p:cNvSpPr txBox="1"/>
          <p:nvPr/>
        </p:nvSpPr>
        <p:spPr>
          <a:xfrm>
            <a:off x="1234440" y="3602736"/>
            <a:ext cx="2377440" cy="530352"/>
          </a:xfrm>
          <a:prstGeom prst="rect">
            <a:avLst/>
          </a:prstGeom>
          <a:noFill/>
          <a:ln/>
        </p:spPr>
        <p:txBody>
          <a:bodyPr wrap="square" lIns="0" tIns="0" rIns="0" bIns="0" rtlCol="0" anchor="ctr"/>
          <a:lstStyle/>
          <a:p>
            <a:pPr marL="0" indent="0">
              <a:buNone/>
            </a:pPr>
            <a:r>
              <a:rPr lang="en-US" sz="1300" b="1" dirty="0">
                <a:solidFill>
                  <a:srgbClr val="111318"/>
                </a:solidFill>
                <a:latin typeface="Calibri" pitchFamily="34" charset="0"/>
                <a:ea typeface="Calibri" pitchFamily="34" charset="-122"/>
                <a:cs typeface="Calibri" pitchFamily="34" charset="-120"/>
              </a:rPr>
              <a:t>Overgeneralisation</a:t>
            </a:r>
            <a:endParaRPr lang="en-US" sz="1300" dirty="0"/>
          </a:p>
        </p:txBody>
      </p:sp>
      <p:sp>
        <p:nvSpPr>
          <p:cNvPr id="40" name="Text 32"/>
          <p:cNvSpPr txBox="1"/>
          <p:nvPr/>
        </p:nvSpPr>
        <p:spPr>
          <a:xfrm>
            <a:off x="3657600" y="3602736"/>
            <a:ext cx="4800600" cy="530352"/>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Does a fix for one case quietly break three others?</a:t>
            </a:r>
            <a:endParaRPr lang="en-US" sz="1200" dirty="0"/>
          </a:p>
        </p:txBody>
      </p:sp>
      <p:sp>
        <p:nvSpPr>
          <p:cNvPr id="41" name="Text 33"/>
          <p:cNvSpPr txBox="1"/>
          <p:nvPr/>
        </p:nvSpPr>
        <p:spPr>
          <a:xfrm>
            <a:off x="548640" y="4251960"/>
            <a:ext cx="8046720" cy="274320"/>
          </a:xfrm>
          <a:prstGeom prst="rect">
            <a:avLst/>
          </a:prstGeom>
          <a:noFill/>
          <a:ln/>
        </p:spPr>
        <p:txBody>
          <a:bodyPr wrap="square" lIns="0" tIns="0" rIns="0" bIns="0" rtlCol="0" anchor="t"/>
          <a:lstStyle/>
          <a:p>
            <a:pPr marL="0" indent="0" algn="ctr">
              <a:buNone/>
            </a:pPr>
            <a:r>
              <a:rPr lang="en-US" sz="1200" i="1" dirty="0">
                <a:solidFill>
                  <a:srgbClr val="6B7280"/>
                </a:solidFill>
                <a:latin typeface="Calibri" pitchFamily="34" charset="0"/>
                <a:ea typeface="Calibri" pitchFamily="34" charset="-122"/>
                <a:cs typeface="Calibri" pitchFamily="34" charset="-120"/>
              </a:rPr>
              <a:t>Five review questions to ask of any output. Run them. Do not accept a generated claim about them.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5 · WHERE IT BREAKS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19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Cheap habits that prevent expensive days</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9" name="Text 7"/>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5 Where it breaks</a:t>
            </a:r>
            <a:endParaRPr lang="en-US" sz="750" dirty="0"/>
          </a:p>
        </p:txBody>
      </p:sp>
      <p:sp>
        <p:nvSpPr>
          <p:cNvPr id="10" name="Shape 8"/>
          <p:cNvSpPr/>
          <p:nvPr/>
        </p:nvSpPr>
        <p:spPr>
          <a:xfrm>
            <a:off x="4171493" y="4919472"/>
            <a:ext cx="1024128" cy="27432"/>
          </a:xfrm>
          <a:prstGeom prst="rect">
            <a:avLst/>
          </a:prstGeom>
          <a:solidFill>
            <a:srgbClr val="C8F236"/>
          </a:solidFill>
          <a:ln w="12700">
            <a:solidFill>
              <a:srgbClr val="C8F236"/>
            </a:solidFill>
            <a:prstDash val="solid"/>
          </a:ln>
        </p:spPr>
        <p:txBody>
          <a:bodyPr/>
          <a:lstStyle/>
          <a:p>
            <a:endParaRPr lang="en-US"/>
          </a:p>
        </p:txBody>
      </p:sp>
      <p:sp>
        <p:nvSpPr>
          <p:cNvPr id="11" name="Text 9"/>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188720"/>
            <a:ext cx="3931920" cy="850392"/>
          </a:xfrm>
          <a:prstGeom prst="roundRect">
            <a:avLst>
              <a:gd name="adj" fmla="val 8602"/>
            </a:avLst>
          </a:prstGeom>
          <a:solidFill>
            <a:srgbClr val="F3F4F6"/>
          </a:solidFill>
          <a:ln w="12700">
            <a:solidFill>
              <a:srgbClr val="F3F4F6"/>
            </a:solidFill>
            <a:prstDash val="solid"/>
          </a:ln>
        </p:spPr>
        <p:txBody>
          <a:bodyPr/>
          <a:lstStyle/>
          <a:p>
            <a:endParaRPr lang="en-US"/>
          </a:p>
        </p:txBody>
      </p:sp>
      <p:sp>
        <p:nvSpPr>
          <p:cNvPr id="17" name="Shape 14"/>
          <p:cNvSpPr/>
          <p:nvPr/>
        </p:nvSpPr>
        <p:spPr>
          <a:xfrm>
            <a:off x="713232" y="1371600"/>
            <a:ext cx="493776" cy="493776"/>
          </a:xfrm>
          <a:prstGeom prst="ellipse">
            <a:avLst/>
          </a:prstGeom>
          <a:solidFill>
            <a:srgbClr val="FFFFFF"/>
          </a:solidFill>
          <a:ln w="12700">
            <a:solidFill>
              <a:srgbClr val="FFFFFF"/>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841614" y="1499982"/>
            <a:ext cx="237012" cy="237012"/>
          </a:xfrm>
          <a:prstGeom prst="rect">
            <a:avLst/>
          </a:prstGeom>
        </p:spPr>
      </p:pic>
      <p:sp>
        <p:nvSpPr>
          <p:cNvPr id="19" name="Text 15"/>
          <p:cNvSpPr txBox="1"/>
          <p:nvPr/>
        </p:nvSpPr>
        <p:spPr>
          <a:xfrm>
            <a:off x="1371600" y="1261872"/>
            <a:ext cx="2971800" cy="713232"/>
          </a:xfrm>
          <a:prstGeom prst="rect">
            <a:avLst/>
          </a:prstGeom>
          <a:noFill/>
          <a:ln/>
        </p:spPr>
        <p:txBody>
          <a:bodyPr wrap="square" lIns="0" tIns="0" rIns="0" bIns="0" rtlCol="0" anchor="ctr"/>
          <a:lstStyle/>
          <a:p>
            <a:pPr marL="0" indent="0">
              <a:buNone/>
            </a:pPr>
            <a:r>
              <a:rPr lang="en-US" sz="1200" dirty="0">
                <a:solidFill>
                  <a:srgbClr val="111318"/>
                </a:solidFill>
                <a:latin typeface="Calibri" pitchFamily="34" charset="0"/>
                <a:ea typeface="Calibri" pitchFamily="34" charset="-122"/>
                <a:cs typeface="Calibri" pitchFamily="34" charset="-120"/>
              </a:rPr>
              <a:t>Checkpoint after every win. Version history, or git.</a:t>
            </a:r>
            <a:endParaRPr lang="en-US" sz="1200" dirty="0"/>
          </a:p>
        </p:txBody>
      </p:sp>
      <p:sp>
        <p:nvSpPr>
          <p:cNvPr id="20" name="Shape 16"/>
          <p:cNvSpPr/>
          <p:nvPr/>
        </p:nvSpPr>
        <p:spPr>
          <a:xfrm>
            <a:off x="4663440" y="1188720"/>
            <a:ext cx="3931920" cy="850392"/>
          </a:xfrm>
          <a:prstGeom prst="roundRect">
            <a:avLst>
              <a:gd name="adj" fmla="val 8602"/>
            </a:avLst>
          </a:prstGeom>
          <a:solidFill>
            <a:srgbClr val="F3F4F6"/>
          </a:solidFill>
          <a:ln w="12700">
            <a:solidFill>
              <a:srgbClr val="F3F4F6"/>
            </a:solidFill>
            <a:prstDash val="solid"/>
          </a:ln>
        </p:spPr>
        <p:txBody>
          <a:bodyPr/>
          <a:lstStyle/>
          <a:p>
            <a:endParaRPr lang="en-US"/>
          </a:p>
        </p:txBody>
      </p:sp>
      <p:sp>
        <p:nvSpPr>
          <p:cNvPr id="21" name="Shape 17"/>
          <p:cNvSpPr/>
          <p:nvPr/>
        </p:nvSpPr>
        <p:spPr>
          <a:xfrm>
            <a:off x="4828032" y="1371600"/>
            <a:ext cx="493776" cy="493776"/>
          </a:xfrm>
          <a:prstGeom prst="ellipse">
            <a:avLst/>
          </a:prstGeom>
          <a:solidFill>
            <a:srgbClr val="FFFFFF"/>
          </a:solidFill>
          <a:ln w="12700">
            <a:solidFill>
              <a:srgbClr val="FFFFFF"/>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4956414" y="1499982"/>
            <a:ext cx="237012" cy="237012"/>
          </a:xfrm>
          <a:prstGeom prst="rect">
            <a:avLst/>
          </a:prstGeom>
        </p:spPr>
      </p:pic>
      <p:sp>
        <p:nvSpPr>
          <p:cNvPr id="23" name="Text 18"/>
          <p:cNvSpPr txBox="1"/>
          <p:nvPr/>
        </p:nvSpPr>
        <p:spPr>
          <a:xfrm>
            <a:off x="5486400" y="1261872"/>
            <a:ext cx="2971800" cy="713232"/>
          </a:xfrm>
          <a:prstGeom prst="rect">
            <a:avLst/>
          </a:prstGeom>
          <a:noFill/>
          <a:ln/>
        </p:spPr>
        <p:txBody>
          <a:bodyPr wrap="square" lIns="0" tIns="0" rIns="0" bIns="0" rtlCol="0" anchor="ctr"/>
          <a:lstStyle/>
          <a:p>
            <a:pPr marL="0" indent="0">
              <a:buNone/>
            </a:pPr>
            <a:r>
              <a:rPr lang="en-US" sz="1200" dirty="0">
                <a:solidFill>
                  <a:srgbClr val="111318"/>
                </a:solidFill>
                <a:latin typeface="Calibri" pitchFamily="34" charset="0"/>
                <a:ea typeface="Calibri" pitchFamily="34" charset="-122"/>
                <a:cs typeface="Calibri" pitchFamily="34" charset="-120"/>
              </a:rPr>
              <a:t>Ask it to write tests, then make it run them and show you the output.</a:t>
            </a:r>
            <a:endParaRPr lang="en-US" sz="1200" dirty="0"/>
          </a:p>
        </p:txBody>
      </p:sp>
      <p:sp>
        <p:nvSpPr>
          <p:cNvPr id="24" name="Shape 19"/>
          <p:cNvSpPr/>
          <p:nvPr/>
        </p:nvSpPr>
        <p:spPr>
          <a:xfrm>
            <a:off x="548640" y="2148840"/>
            <a:ext cx="3931920" cy="850392"/>
          </a:xfrm>
          <a:prstGeom prst="roundRect">
            <a:avLst>
              <a:gd name="adj" fmla="val 8602"/>
            </a:avLst>
          </a:prstGeom>
          <a:solidFill>
            <a:srgbClr val="F3F4F6"/>
          </a:solidFill>
          <a:ln w="12700">
            <a:solidFill>
              <a:srgbClr val="F3F4F6"/>
            </a:solidFill>
            <a:prstDash val="solid"/>
          </a:ln>
        </p:spPr>
        <p:txBody>
          <a:bodyPr/>
          <a:lstStyle/>
          <a:p>
            <a:endParaRPr lang="en-US"/>
          </a:p>
        </p:txBody>
      </p:sp>
      <p:sp>
        <p:nvSpPr>
          <p:cNvPr id="25" name="Shape 20"/>
          <p:cNvSpPr/>
          <p:nvPr/>
        </p:nvSpPr>
        <p:spPr>
          <a:xfrm>
            <a:off x="713232" y="2331720"/>
            <a:ext cx="493776" cy="493776"/>
          </a:xfrm>
          <a:prstGeom prst="ellipse">
            <a:avLst/>
          </a:prstGeom>
          <a:solidFill>
            <a:srgbClr val="FFFFFF"/>
          </a:solidFill>
          <a:ln w="12700">
            <a:solidFill>
              <a:srgbClr val="FFFFFF"/>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841614" y="2460102"/>
            <a:ext cx="237012" cy="237012"/>
          </a:xfrm>
          <a:prstGeom prst="rect">
            <a:avLst/>
          </a:prstGeom>
        </p:spPr>
      </p:pic>
      <p:sp>
        <p:nvSpPr>
          <p:cNvPr id="27" name="Text 21"/>
          <p:cNvSpPr txBox="1"/>
          <p:nvPr/>
        </p:nvSpPr>
        <p:spPr>
          <a:xfrm>
            <a:off x="1371600" y="2221992"/>
            <a:ext cx="2971800" cy="713232"/>
          </a:xfrm>
          <a:prstGeom prst="rect">
            <a:avLst/>
          </a:prstGeom>
          <a:noFill/>
          <a:ln/>
        </p:spPr>
        <p:txBody>
          <a:bodyPr wrap="square" lIns="0" tIns="0" rIns="0" bIns="0" rtlCol="0" anchor="ctr"/>
          <a:lstStyle/>
          <a:p>
            <a:pPr marL="0" indent="0">
              <a:buNone/>
            </a:pPr>
            <a:r>
              <a:rPr lang="en-US" sz="1200" dirty="0">
                <a:solidFill>
                  <a:srgbClr val="111318"/>
                </a:solidFill>
                <a:latin typeface="Calibri" pitchFamily="34" charset="0"/>
                <a:ea typeface="Calibri" pitchFamily="34" charset="-122"/>
                <a:cs typeface="Calibri" pitchFamily="34" charset="-120"/>
              </a:rPr>
              <a:t>Ask it to run the app and screenshot it. Not just say it works.</a:t>
            </a:r>
            <a:endParaRPr lang="en-US" sz="1200" dirty="0"/>
          </a:p>
        </p:txBody>
      </p:sp>
      <p:sp>
        <p:nvSpPr>
          <p:cNvPr id="28" name="Shape 22"/>
          <p:cNvSpPr/>
          <p:nvPr/>
        </p:nvSpPr>
        <p:spPr>
          <a:xfrm>
            <a:off x="4663440" y="2148840"/>
            <a:ext cx="3931920" cy="850392"/>
          </a:xfrm>
          <a:prstGeom prst="roundRect">
            <a:avLst>
              <a:gd name="adj" fmla="val 8602"/>
            </a:avLst>
          </a:prstGeom>
          <a:solidFill>
            <a:srgbClr val="F3F4F6"/>
          </a:solidFill>
          <a:ln w="12700">
            <a:solidFill>
              <a:srgbClr val="F3F4F6"/>
            </a:solidFill>
            <a:prstDash val="solid"/>
          </a:ln>
        </p:spPr>
        <p:txBody>
          <a:bodyPr/>
          <a:lstStyle/>
          <a:p>
            <a:endParaRPr lang="en-US"/>
          </a:p>
        </p:txBody>
      </p:sp>
      <p:sp>
        <p:nvSpPr>
          <p:cNvPr id="29" name="Shape 23"/>
          <p:cNvSpPr/>
          <p:nvPr/>
        </p:nvSpPr>
        <p:spPr>
          <a:xfrm>
            <a:off x="4828032" y="2331720"/>
            <a:ext cx="493776" cy="493776"/>
          </a:xfrm>
          <a:prstGeom prst="ellipse">
            <a:avLst/>
          </a:prstGeom>
          <a:solidFill>
            <a:srgbClr val="FFFFFF"/>
          </a:solidFill>
          <a:ln w="12700">
            <a:solidFill>
              <a:srgbClr val="FFFFFF"/>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956414" y="2460102"/>
            <a:ext cx="237012" cy="237012"/>
          </a:xfrm>
          <a:prstGeom prst="rect">
            <a:avLst/>
          </a:prstGeom>
        </p:spPr>
      </p:pic>
      <p:sp>
        <p:nvSpPr>
          <p:cNvPr id="31" name="Text 24"/>
          <p:cNvSpPr txBox="1"/>
          <p:nvPr/>
        </p:nvSpPr>
        <p:spPr>
          <a:xfrm>
            <a:off x="5486400" y="2203704"/>
            <a:ext cx="2971800" cy="758952"/>
          </a:xfrm>
          <a:prstGeom prst="rect">
            <a:avLst/>
          </a:prstGeom>
          <a:noFill/>
          <a:ln/>
        </p:spPr>
        <p:txBody>
          <a:bodyPr wrap="square" lIns="0" tIns="0" rIns="0" bIns="0" rtlCol="0" anchor="ctr"/>
          <a:lstStyle/>
          <a:p>
            <a:pPr marL="0" indent="0">
              <a:spcAft>
                <a:spcPts val="200"/>
              </a:spcAft>
              <a:buNone/>
            </a:pPr>
            <a:r>
              <a:rPr lang="en-US" sz="1100" dirty="0">
                <a:solidFill>
                  <a:srgbClr val="6B7280"/>
                </a:solidFill>
                <a:latin typeface="Calibri" pitchFamily="34" charset="0"/>
                <a:ea typeface="Calibri" pitchFamily="34" charset="-122"/>
                <a:cs typeface="Calibri" pitchFamily="34" charset="-120"/>
              </a:rPr>
              <a:t>Ask, in these words: </a:t>
            </a:r>
            <a:endParaRPr lang="en-US" sz="1100" dirty="0"/>
          </a:p>
          <a:p>
            <a:pPr marL="0" indent="0">
              <a:spcAft>
                <a:spcPts val="200"/>
              </a:spcAft>
              <a:buNone/>
            </a:pPr>
            <a:r>
              <a:rPr lang="en-US" sz="950" dirty="0">
                <a:solidFill>
                  <a:srgbClr val="111318"/>
                </a:solidFill>
                <a:latin typeface="Courier New" pitchFamily="34" charset="0"/>
                <a:ea typeface="Courier New" pitchFamily="34" charset="-122"/>
                <a:cs typeface="Courier New" pitchFamily="34" charset="-120"/>
              </a:rPr>
              <a:t>"Is anything here exposed to the public internet that shouldn't be? Check the database rules."</a:t>
            </a:r>
            <a:endParaRPr lang="en-US" sz="1100" dirty="0"/>
          </a:p>
        </p:txBody>
      </p:sp>
      <p:sp>
        <p:nvSpPr>
          <p:cNvPr id="32" name="Shape 25"/>
          <p:cNvSpPr/>
          <p:nvPr/>
        </p:nvSpPr>
        <p:spPr>
          <a:xfrm>
            <a:off x="548640" y="3108960"/>
            <a:ext cx="3931920" cy="850392"/>
          </a:xfrm>
          <a:prstGeom prst="roundRect">
            <a:avLst>
              <a:gd name="adj" fmla="val 8602"/>
            </a:avLst>
          </a:prstGeom>
          <a:solidFill>
            <a:srgbClr val="F3F4F6"/>
          </a:solidFill>
          <a:ln w="12700">
            <a:solidFill>
              <a:srgbClr val="F3F4F6"/>
            </a:solidFill>
            <a:prstDash val="solid"/>
          </a:ln>
        </p:spPr>
        <p:txBody>
          <a:bodyPr/>
          <a:lstStyle/>
          <a:p>
            <a:endParaRPr lang="en-US"/>
          </a:p>
        </p:txBody>
      </p:sp>
      <p:sp>
        <p:nvSpPr>
          <p:cNvPr id="33" name="Shape 26"/>
          <p:cNvSpPr/>
          <p:nvPr/>
        </p:nvSpPr>
        <p:spPr>
          <a:xfrm>
            <a:off x="713232" y="3291840"/>
            <a:ext cx="493776" cy="493776"/>
          </a:xfrm>
          <a:prstGeom prst="ellipse">
            <a:avLst/>
          </a:prstGeom>
          <a:solidFill>
            <a:srgbClr val="FFFFFF"/>
          </a:solidFill>
          <a:ln w="12700">
            <a:solidFill>
              <a:srgbClr val="FFFFFF"/>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841614" y="3420222"/>
            <a:ext cx="237012" cy="237012"/>
          </a:xfrm>
          <a:prstGeom prst="rect">
            <a:avLst/>
          </a:prstGeom>
        </p:spPr>
      </p:pic>
      <p:sp>
        <p:nvSpPr>
          <p:cNvPr id="35" name="Text 27"/>
          <p:cNvSpPr txBox="1"/>
          <p:nvPr/>
        </p:nvSpPr>
        <p:spPr>
          <a:xfrm>
            <a:off x="1371600" y="3182112"/>
            <a:ext cx="2971800" cy="713232"/>
          </a:xfrm>
          <a:prstGeom prst="rect">
            <a:avLst/>
          </a:prstGeom>
          <a:noFill/>
          <a:ln/>
        </p:spPr>
        <p:txBody>
          <a:bodyPr wrap="square" lIns="0" tIns="0" rIns="0" bIns="0" rtlCol="0" anchor="ctr"/>
          <a:lstStyle/>
          <a:p>
            <a:pPr marL="0" indent="0">
              <a:buNone/>
            </a:pPr>
            <a:r>
              <a:rPr lang="en-US" sz="1200" dirty="0">
                <a:solidFill>
                  <a:srgbClr val="111318"/>
                </a:solidFill>
                <a:latin typeface="Calibri" pitchFamily="34" charset="0"/>
                <a:ea typeface="Calibri" pitchFamily="34" charset="-122"/>
                <a:cs typeface="Calibri" pitchFamily="34" charset="-120"/>
              </a:rPr>
              <a:t>Keep prototype and production apart. Different project, different data, no real customer data.</a:t>
            </a:r>
            <a:endParaRPr lang="en-US" sz="1200" dirty="0"/>
          </a:p>
        </p:txBody>
      </p:sp>
      <p:sp>
        <p:nvSpPr>
          <p:cNvPr id="36" name="Shape 28"/>
          <p:cNvSpPr/>
          <p:nvPr/>
        </p:nvSpPr>
        <p:spPr>
          <a:xfrm>
            <a:off x="4663440" y="3108960"/>
            <a:ext cx="3931920" cy="850392"/>
          </a:xfrm>
          <a:prstGeom prst="roundRect">
            <a:avLst>
              <a:gd name="adj" fmla="val 8602"/>
            </a:avLst>
          </a:prstGeom>
          <a:solidFill>
            <a:srgbClr val="F3F4F6"/>
          </a:solidFill>
          <a:ln w="12700">
            <a:solidFill>
              <a:srgbClr val="F3F4F6"/>
            </a:solidFill>
            <a:prstDash val="solid"/>
          </a:ln>
        </p:spPr>
        <p:txBody>
          <a:bodyPr/>
          <a:lstStyle/>
          <a:p>
            <a:endParaRPr lang="en-US"/>
          </a:p>
        </p:txBody>
      </p:sp>
      <p:sp>
        <p:nvSpPr>
          <p:cNvPr id="37" name="Shape 29"/>
          <p:cNvSpPr/>
          <p:nvPr/>
        </p:nvSpPr>
        <p:spPr>
          <a:xfrm>
            <a:off x="4828032" y="3291840"/>
            <a:ext cx="493776" cy="493776"/>
          </a:xfrm>
          <a:prstGeom prst="ellipse">
            <a:avLst/>
          </a:prstGeom>
          <a:solidFill>
            <a:srgbClr val="FFFFFF"/>
          </a:solidFill>
          <a:ln w="12700">
            <a:solidFill>
              <a:srgbClr val="FFFFFF"/>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4956414" y="3420222"/>
            <a:ext cx="237012" cy="237012"/>
          </a:xfrm>
          <a:prstGeom prst="rect">
            <a:avLst/>
          </a:prstGeom>
        </p:spPr>
      </p:pic>
      <p:sp>
        <p:nvSpPr>
          <p:cNvPr id="39" name="Text 30"/>
          <p:cNvSpPr txBox="1"/>
          <p:nvPr/>
        </p:nvSpPr>
        <p:spPr>
          <a:xfrm>
            <a:off x="5486400" y="3182112"/>
            <a:ext cx="2971800" cy="713232"/>
          </a:xfrm>
          <a:prstGeom prst="rect">
            <a:avLst/>
          </a:prstGeom>
          <a:noFill/>
          <a:ln/>
        </p:spPr>
        <p:txBody>
          <a:bodyPr wrap="square" lIns="0" tIns="0" rIns="0" bIns="0" rtlCol="0" anchor="ctr"/>
          <a:lstStyle/>
          <a:p>
            <a:pPr marL="0" indent="0">
              <a:buNone/>
            </a:pPr>
            <a:r>
              <a:rPr lang="en-US" sz="1200" dirty="0">
                <a:solidFill>
                  <a:srgbClr val="111318"/>
                </a:solidFill>
                <a:latin typeface="Calibri" pitchFamily="34" charset="0"/>
                <a:ea typeface="Calibri" pitchFamily="34" charset="-122"/>
                <a:cs typeface="Calibri" pitchFamily="34" charset="-120"/>
              </a:rPr>
              <a:t>Before real users, money, or personal data: one engineer reviews login, payments, and data access. One hour.</a:t>
            </a:r>
            <a:endParaRPr lang="en-US" sz="1200" dirty="0"/>
          </a:p>
        </p:txBody>
      </p:sp>
      <p:sp>
        <p:nvSpPr>
          <p:cNvPr id="40" name="Shape 31"/>
          <p:cNvSpPr/>
          <p:nvPr/>
        </p:nvSpPr>
        <p:spPr>
          <a:xfrm>
            <a:off x="548640" y="4096512"/>
            <a:ext cx="8046720" cy="329184"/>
          </a:xfrm>
          <a:prstGeom prst="roundRect">
            <a:avLst>
              <a:gd name="adj" fmla="val 16667"/>
            </a:avLst>
          </a:prstGeom>
          <a:solidFill>
            <a:srgbClr val="0F1114"/>
          </a:solidFill>
          <a:ln w="12700">
            <a:solidFill>
              <a:srgbClr val="0F1114"/>
            </a:solidFill>
            <a:prstDash val="solid"/>
          </a:ln>
        </p:spPr>
        <p:txBody>
          <a:bodyPr/>
          <a:lstStyle/>
          <a:p>
            <a:endParaRPr lang="en-US"/>
          </a:p>
        </p:txBody>
      </p:sp>
      <p:sp>
        <p:nvSpPr>
          <p:cNvPr id="41" name="Text 32"/>
          <p:cNvSpPr txBox="1"/>
          <p:nvPr/>
        </p:nvSpPr>
        <p:spPr>
          <a:xfrm>
            <a:off x="731520" y="4096512"/>
            <a:ext cx="7680960" cy="329184"/>
          </a:xfrm>
          <a:prstGeom prst="rect">
            <a:avLst/>
          </a:prstGeom>
          <a:noFill/>
          <a:ln/>
        </p:spPr>
        <p:txBody>
          <a:bodyPr wrap="square" lIns="0" tIns="0" rIns="0" bIns="0" rtlCol="0" anchor="ctr"/>
          <a:lstStyle/>
          <a:p>
            <a:pPr marL="0" indent="0" algn="ctr">
              <a:buNone/>
            </a:pPr>
            <a:r>
              <a:rPr lang="en-US" sz="1150" b="1" dirty="0">
                <a:solidFill>
                  <a:srgbClr val="C8F236"/>
                </a:solidFill>
                <a:latin typeface="Calibri" pitchFamily="34" charset="0"/>
                <a:ea typeface="Calibri" pitchFamily="34" charset="-122"/>
                <a:cs typeface="Calibri" pitchFamily="34" charset="-120"/>
              </a:rPr>
              <a:t>The human must be in the loop. </a:t>
            </a:r>
            <a:r>
              <a:rPr lang="en-US" sz="1150" dirty="0">
                <a:solidFill>
                  <a:srgbClr val="FFFFFF"/>
                </a:solidFill>
                <a:latin typeface="Calibri" pitchFamily="34" charset="0"/>
                <a:ea typeface="Calibri" pitchFamily="34" charset="-122"/>
                <a:cs typeface="Calibri" pitchFamily="34" charset="-120"/>
              </a:rPr>
              <a:t>Prompting is the new syntax. Checking is the new job.</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6 · WHEN IT MATTERS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20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Vibe coding vs vibe engineering</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9" name="Text 7"/>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0" name="Text 8"/>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6 When it matters</a:t>
            </a:r>
            <a:endParaRPr lang="en-US" sz="750" dirty="0"/>
          </a:p>
        </p:txBody>
      </p:sp>
      <p:sp>
        <p:nvSpPr>
          <p:cNvPr id="11" name="Shape 9"/>
          <p:cNvSpPr/>
          <p:nvPr/>
        </p:nvSpPr>
        <p:spPr>
          <a:xfrm>
            <a:off x="5305349" y="4919472"/>
            <a:ext cx="1024128" cy="27432"/>
          </a:xfrm>
          <a:prstGeom prst="rect">
            <a:avLst/>
          </a:prstGeom>
          <a:solidFill>
            <a:srgbClr val="C8F236"/>
          </a:solidFill>
          <a:ln w="12700">
            <a:solidFill>
              <a:srgbClr val="C8F236"/>
            </a:solidFill>
            <a:prstDash val="solid"/>
          </a:ln>
        </p:spPr>
        <p:txBody>
          <a:bodyPr/>
          <a:lstStyle/>
          <a:p>
            <a:endParaRPr lang="en-US"/>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2880360"/>
        </p:xfrm>
        <a:graphic>
          <a:graphicData uri="http://schemas.openxmlformats.org/drawingml/2006/table">
            <a:tbl>
              <a:tblPr/>
              <a:tblGrid>
                <a:gridCol w="13716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411480">
                <a:tc>
                  <a:txBody>
                    <a:bodyPr/>
                    <a:lstStyle/>
                    <a:p>
                      <a:pPr marL="0" indent="0" algn="ctr">
                        <a:buNone/>
                      </a:pPr>
                      <a:endParaRPr lang="en-US" sz="12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111318"/>
                    </a:solidFill>
                  </a:tcPr>
                </a:tc>
                <a:tc>
                  <a:txBody>
                    <a:bodyPr/>
                    <a:lstStyle/>
                    <a:p>
                      <a:pPr marL="0" indent="0" algn="ctr">
                        <a:buNone/>
                      </a:pPr>
                      <a:r>
                        <a:rPr lang="en-US" sz="1250" b="1" dirty="0">
                          <a:solidFill>
                            <a:srgbClr val="111318"/>
                          </a:solidFill>
                        </a:rPr>
                        <a:t>Vibe coding</a:t>
                      </a:r>
                      <a:endParaRPr lang="en-US" sz="12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E9EBEF"/>
                    </a:solidFill>
                  </a:tcPr>
                </a:tc>
                <a:tc>
                  <a:txBody>
                    <a:bodyPr/>
                    <a:lstStyle/>
                    <a:p>
                      <a:pPr marL="0" indent="0" algn="ctr">
                        <a:buNone/>
                      </a:pPr>
                      <a:r>
                        <a:rPr lang="en-US" sz="1250" b="1" dirty="0">
                          <a:solidFill>
                            <a:srgbClr val="111318"/>
                          </a:solidFill>
                        </a:rPr>
                        <a:t>Vibe engineering</a:t>
                      </a:r>
                      <a:endParaRPr lang="en-US" sz="12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C8F236"/>
                    </a:solidFill>
                  </a:tcPr>
                </a:tc>
                <a:extLst>
                  <a:ext uri="{0D108BD9-81ED-4DB2-BD59-A6C34878D82A}">
                    <a16:rowId xmlns:a16="http://schemas.microsoft.com/office/drawing/2014/main" val="10000"/>
                  </a:ext>
                </a:extLst>
              </a:tr>
              <a:tr h="493776">
                <a:tc>
                  <a:txBody>
                    <a:bodyPr/>
                    <a:lstStyle/>
                    <a:p>
                      <a:pPr marL="0" indent="0">
                        <a:buNone/>
                      </a:pPr>
                      <a:r>
                        <a:rPr lang="en-US" sz="1200" b="1" dirty="0">
                          <a:solidFill>
                            <a:srgbClr val="111318"/>
                          </a:solidFill>
                        </a:rPr>
                        <a:t>Focus</a:t>
                      </a:r>
                      <a:endParaRPr lang="en-US" sz="120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buNone/>
                      </a:pPr>
                      <a:r>
                        <a:rPr lang="en-US" sz="1150" dirty="0">
                          <a:solidFill>
                            <a:srgbClr val="111318"/>
                          </a:solidFill>
                        </a:rPr>
                        <a:t>Explore a working idea</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50" dirty="0">
                          <a:solidFill>
                            <a:srgbClr val="111318"/>
                          </a:solidFill>
                        </a:rPr>
                        <a:t>Deliver maintainable software</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1200" b="1" dirty="0">
                          <a:solidFill>
                            <a:srgbClr val="111318"/>
                          </a:solidFill>
                        </a:rPr>
                        <a:t>AI's role</a:t>
                      </a:r>
                      <a:endParaRPr lang="en-US" sz="120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buNone/>
                      </a:pPr>
                      <a:r>
                        <a:rPr lang="en-US" sz="1150" dirty="0">
                          <a:solidFill>
                            <a:srgbClr val="111318"/>
                          </a:solidFill>
                        </a:rPr>
                        <a:t>Generate a draft</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50" dirty="0">
                          <a:solidFill>
                            <a:srgbClr val="111318"/>
                          </a:solidFill>
                        </a:rPr>
                        <a:t>Work within a defined task, as a team member</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buNone/>
                      </a:pPr>
                      <a:r>
                        <a:rPr lang="en-US" sz="1200" b="1" dirty="0">
                          <a:solidFill>
                            <a:srgbClr val="111318"/>
                          </a:solidFill>
                        </a:rPr>
                        <a:t>Workflow</a:t>
                      </a:r>
                      <a:endParaRPr lang="en-US" sz="120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buNone/>
                      </a:pPr>
                      <a:r>
                        <a:rPr lang="en-US" sz="1150" dirty="0">
                          <a:solidFill>
                            <a:srgbClr val="111318"/>
                          </a:solidFill>
                        </a:rPr>
                        <a:t>Prompt and refine</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50" dirty="0">
                          <a:solidFill>
                            <a:srgbClr val="111318"/>
                          </a:solidFill>
                        </a:rPr>
                        <a:t>Specify, build, review, verify, record</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1200" b="1" dirty="0">
                          <a:solidFill>
                            <a:srgbClr val="111318"/>
                          </a:solidFill>
                        </a:rPr>
                        <a:t>Quality</a:t>
                      </a:r>
                      <a:endParaRPr lang="en-US" sz="120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buNone/>
                      </a:pPr>
                      <a:r>
                        <a:rPr lang="en-US" sz="1150" dirty="0">
                          <a:solidFill>
                            <a:srgbClr val="111318"/>
                          </a:solidFill>
                        </a:rPr>
                        <a:t>Looks right when tried</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50" dirty="0">
                          <a:solidFill>
                            <a:srgbClr val="111318"/>
                          </a:solidFill>
                        </a:rPr>
                        <a:t>Tests and previews show the required behaviour</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buNone/>
                      </a:pPr>
                      <a:r>
                        <a:rPr lang="en-US" sz="1200" b="1" dirty="0">
                          <a:solidFill>
                            <a:srgbClr val="111318"/>
                          </a:solidFill>
                        </a:rPr>
                        <a:t>Context</a:t>
                      </a:r>
                      <a:endParaRPr lang="en-US" sz="120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3F4F6"/>
                    </a:solidFill>
                  </a:tcPr>
                </a:tc>
                <a:tc>
                  <a:txBody>
                    <a:bodyPr/>
                    <a:lstStyle/>
                    <a:p>
                      <a:pPr marL="0" indent="0">
                        <a:buNone/>
                      </a:pPr>
                      <a:r>
                        <a:rPr lang="en-US" sz="1150" dirty="0">
                          <a:solidFill>
                            <a:srgbClr val="111318"/>
                          </a:solidFill>
                        </a:rPr>
                        <a:t>Mostly in the conversation</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50" dirty="0">
                          <a:solidFill>
                            <a:srgbClr val="111318"/>
                          </a:solidFill>
                        </a:rPr>
                        <a:t>Decisions stay with the project: instructions file, notes, git</a:t>
                      </a:r>
                      <a:endParaRPr lang="en-US" sz="1150" dirty="0"/>
                    </a:p>
                  </a:txBody>
                  <a:tcPr marL="73152" marR="73152" marT="73152" marB="73152"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7" name="Text 13"/>
          <p:cNvSpPr txBox="1"/>
          <p:nvPr/>
        </p:nvSpPr>
        <p:spPr>
          <a:xfrm>
            <a:off x="548640" y="4206240"/>
            <a:ext cx="8046720" cy="274320"/>
          </a:xfrm>
          <a:prstGeom prst="rect">
            <a:avLst/>
          </a:prstGeom>
          <a:noFill/>
          <a:ln/>
        </p:spPr>
        <p:txBody>
          <a:bodyPr wrap="square" lIns="0" tIns="0" rIns="0" bIns="0" rtlCol="0" anchor="t"/>
          <a:lstStyle/>
          <a:p>
            <a:pPr marL="0" indent="0" algn="ctr">
              <a:buNone/>
            </a:pPr>
            <a:r>
              <a:rPr lang="en-US" sz="1200" i="1" dirty="0">
                <a:solidFill>
                  <a:srgbClr val="6B7280"/>
                </a:solidFill>
                <a:latin typeface="Calibri" pitchFamily="34" charset="0"/>
                <a:ea typeface="Calibri" pitchFamily="34" charset="-122"/>
                <a:cs typeface="Calibri" pitchFamily="34" charset="-120"/>
              </a:rPr>
              <a:t>Same loop. More reading, more checking, and the decisions written down. This is where I work all 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6 · WHEN IT MATTERS</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21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The delivery workflow, one feature at a time</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9" name="Text 7"/>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0" name="Text 8"/>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6 When it matters</a:t>
            </a:r>
            <a:endParaRPr lang="en-US" sz="750" dirty="0"/>
          </a:p>
        </p:txBody>
      </p:sp>
      <p:sp>
        <p:nvSpPr>
          <p:cNvPr id="11" name="Shape 9"/>
          <p:cNvSpPr/>
          <p:nvPr/>
        </p:nvSpPr>
        <p:spPr>
          <a:xfrm>
            <a:off x="5305349" y="4919472"/>
            <a:ext cx="1024128" cy="27432"/>
          </a:xfrm>
          <a:prstGeom prst="rect">
            <a:avLst/>
          </a:prstGeom>
          <a:solidFill>
            <a:srgbClr val="C8F236"/>
          </a:solidFill>
          <a:ln w="12700">
            <a:solidFill>
              <a:srgbClr val="C8F236"/>
            </a:solidFill>
            <a:prstDash val="solid"/>
          </a:ln>
        </p:spPr>
        <p:txBody>
          <a:bodyPr/>
          <a:lstStyle/>
          <a:p>
            <a:endParaRPr lang="en-US"/>
          </a:p>
        </p:txBody>
      </p:sp>
      <p:sp>
        <p:nvSpPr>
          <p:cNvPr id="12" name="Text 10"/>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7 Close</a:t>
            </a:r>
            <a:endParaRPr lang="en-US" sz="750" dirty="0"/>
          </a:p>
        </p:txBody>
      </p:sp>
      <p:sp>
        <p:nvSpPr>
          <p:cNvPr id="13" name="Shape 11"/>
          <p:cNvSpPr/>
          <p:nvPr/>
        </p:nvSpPr>
        <p:spPr>
          <a:xfrm>
            <a:off x="8028432" y="4389120"/>
            <a:ext cx="566928" cy="566928"/>
          </a:xfrm>
          <a:prstGeom prst="roundRect">
            <a:avLst>
              <a:gd name="adj" fmla="val 6452"/>
            </a:avLst>
          </a:prstGeom>
          <a:solidFill>
            <a:srgbClr val="FFFFFF"/>
          </a:solidFill>
          <a:ln w="9525">
            <a:solidFill>
              <a:srgbClr val="E9EBEF"/>
            </a:solidFill>
            <a:prstDash val="solid"/>
          </a:ln>
        </p:spPr>
        <p:txBody>
          <a:bodyPr/>
          <a:lstStyle/>
          <a:p>
            <a:endParaRPr lang="en-US"/>
          </a:p>
        </p:txBody>
      </p:sp>
      <p:pic>
        <p:nvPicPr>
          <p:cNvPr id="14"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5" name="Text 12"/>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6B7280"/>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6B7280"/>
                </a:solidFill>
                <a:latin typeface="Calibri" pitchFamily="34" charset="0"/>
                <a:ea typeface="Calibri" pitchFamily="34" charset="-122"/>
                <a:cs typeface="Calibri" pitchFamily="34" charset="-120"/>
              </a:rPr>
              <a:t>Scan, ask anonymously</a:t>
            </a:r>
            <a:endParaRPr lang="en-US" sz="800" dirty="0"/>
          </a:p>
        </p:txBody>
      </p:sp>
      <p:sp>
        <p:nvSpPr>
          <p:cNvPr id="16" name="Shape 13"/>
          <p:cNvSpPr/>
          <p:nvPr/>
        </p:nvSpPr>
        <p:spPr>
          <a:xfrm>
            <a:off x="548640" y="1234440"/>
            <a:ext cx="1517904" cy="2286000"/>
          </a:xfrm>
          <a:prstGeom prst="roundRect">
            <a:avLst>
              <a:gd name="adj" fmla="val 4819"/>
            </a:avLst>
          </a:prstGeom>
          <a:solidFill>
            <a:srgbClr val="E9EBEF"/>
          </a:solidFill>
          <a:ln w="12700">
            <a:solidFill>
              <a:srgbClr val="E9EBEF"/>
            </a:solidFill>
            <a:prstDash val="solid"/>
          </a:ln>
        </p:spPr>
        <p:txBody>
          <a:bodyPr/>
          <a:lstStyle/>
          <a:p>
            <a:endParaRPr lang="en-US"/>
          </a:p>
        </p:txBody>
      </p:sp>
      <p:sp>
        <p:nvSpPr>
          <p:cNvPr id="17" name="Shape 14"/>
          <p:cNvSpPr/>
          <p:nvPr/>
        </p:nvSpPr>
        <p:spPr>
          <a:xfrm>
            <a:off x="713232" y="1389888"/>
            <a:ext cx="347472" cy="347472"/>
          </a:xfrm>
          <a:prstGeom prst="ellipse">
            <a:avLst/>
          </a:prstGeom>
          <a:solidFill>
            <a:srgbClr val="111318"/>
          </a:solidFill>
          <a:ln w="12700">
            <a:solidFill>
              <a:srgbClr val="111318"/>
            </a:solidFill>
            <a:prstDash val="solid"/>
          </a:ln>
        </p:spPr>
        <p:txBody>
          <a:bodyPr/>
          <a:lstStyle/>
          <a:p>
            <a:endParaRPr lang="en-US"/>
          </a:p>
        </p:txBody>
      </p:sp>
      <p:sp>
        <p:nvSpPr>
          <p:cNvPr id="18" name="Text 15"/>
          <p:cNvSpPr txBox="1"/>
          <p:nvPr/>
        </p:nvSpPr>
        <p:spPr>
          <a:xfrm>
            <a:off x="713232" y="1389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19" name="Text 16"/>
          <p:cNvSpPr txBox="1"/>
          <p:nvPr/>
        </p:nvSpPr>
        <p:spPr>
          <a:xfrm>
            <a:off x="713232" y="1874520"/>
            <a:ext cx="1207008" cy="155448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Specify</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Human defines the problem and the acceptance checks.</a:t>
            </a:r>
            <a:endParaRPr lang="en-US" sz="1400" dirty="0"/>
          </a:p>
        </p:txBody>
      </p:sp>
      <p:sp>
        <p:nvSpPr>
          <p:cNvPr id="20" name="Shape 17"/>
          <p:cNvSpPr/>
          <p:nvPr/>
        </p:nvSpPr>
        <p:spPr>
          <a:xfrm>
            <a:off x="2176272" y="1234440"/>
            <a:ext cx="1517904" cy="2286000"/>
          </a:xfrm>
          <a:prstGeom prst="roundRect">
            <a:avLst>
              <a:gd name="adj" fmla="val 4819"/>
            </a:avLst>
          </a:prstGeom>
          <a:solidFill>
            <a:srgbClr val="F3F4F6"/>
          </a:solidFill>
          <a:ln w="12700">
            <a:solidFill>
              <a:srgbClr val="F3F4F6"/>
            </a:solidFill>
            <a:prstDash val="solid"/>
          </a:ln>
        </p:spPr>
        <p:txBody>
          <a:bodyPr/>
          <a:lstStyle/>
          <a:p>
            <a:endParaRPr lang="en-US"/>
          </a:p>
        </p:txBody>
      </p:sp>
      <p:sp>
        <p:nvSpPr>
          <p:cNvPr id="21" name="Shape 18"/>
          <p:cNvSpPr/>
          <p:nvPr/>
        </p:nvSpPr>
        <p:spPr>
          <a:xfrm>
            <a:off x="2340864" y="1389888"/>
            <a:ext cx="347472" cy="347472"/>
          </a:xfrm>
          <a:prstGeom prst="ellipse">
            <a:avLst/>
          </a:prstGeom>
          <a:solidFill>
            <a:srgbClr val="111318"/>
          </a:solidFill>
          <a:ln w="12700">
            <a:solidFill>
              <a:srgbClr val="111318"/>
            </a:solidFill>
            <a:prstDash val="solid"/>
          </a:ln>
        </p:spPr>
        <p:txBody>
          <a:bodyPr/>
          <a:lstStyle/>
          <a:p>
            <a:endParaRPr lang="en-US"/>
          </a:p>
        </p:txBody>
      </p:sp>
      <p:sp>
        <p:nvSpPr>
          <p:cNvPr id="22" name="Text 19"/>
          <p:cNvSpPr txBox="1"/>
          <p:nvPr/>
        </p:nvSpPr>
        <p:spPr>
          <a:xfrm>
            <a:off x="2340864" y="1389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23" name="Text 20"/>
          <p:cNvSpPr txBox="1"/>
          <p:nvPr/>
        </p:nvSpPr>
        <p:spPr>
          <a:xfrm>
            <a:off x="2340864" y="1874520"/>
            <a:ext cx="1207008" cy="155448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Implement</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Agent drafts the code and the tests, in a small diff.</a:t>
            </a:r>
            <a:endParaRPr lang="en-US" sz="1400" dirty="0"/>
          </a:p>
        </p:txBody>
      </p:sp>
      <p:sp>
        <p:nvSpPr>
          <p:cNvPr id="24" name="Shape 21"/>
          <p:cNvSpPr/>
          <p:nvPr/>
        </p:nvSpPr>
        <p:spPr>
          <a:xfrm>
            <a:off x="3803904" y="1234440"/>
            <a:ext cx="1517904" cy="2286000"/>
          </a:xfrm>
          <a:prstGeom prst="roundRect">
            <a:avLst>
              <a:gd name="adj" fmla="val 4819"/>
            </a:avLst>
          </a:prstGeom>
          <a:solidFill>
            <a:srgbClr val="E9EBEF"/>
          </a:solidFill>
          <a:ln w="12700">
            <a:solidFill>
              <a:srgbClr val="E9EBEF"/>
            </a:solidFill>
            <a:prstDash val="solid"/>
          </a:ln>
        </p:spPr>
        <p:txBody>
          <a:bodyPr/>
          <a:lstStyle/>
          <a:p>
            <a:endParaRPr lang="en-US"/>
          </a:p>
        </p:txBody>
      </p:sp>
      <p:sp>
        <p:nvSpPr>
          <p:cNvPr id="25" name="Shape 22"/>
          <p:cNvSpPr/>
          <p:nvPr/>
        </p:nvSpPr>
        <p:spPr>
          <a:xfrm>
            <a:off x="3968496" y="1389888"/>
            <a:ext cx="347472" cy="347472"/>
          </a:xfrm>
          <a:prstGeom prst="ellipse">
            <a:avLst/>
          </a:prstGeom>
          <a:solidFill>
            <a:srgbClr val="111318"/>
          </a:solidFill>
          <a:ln w="12700">
            <a:solidFill>
              <a:srgbClr val="111318"/>
            </a:solidFill>
            <a:prstDash val="solid"/>
          </a:ln>
        </p:spPr>
        <p:txBody>
          <a:bodyPr/>
          <a:lstStyle/>
          <a:p>
            <a:endParaRPr lang="en-US"/>
          </a:p>
        </p:txBody>
      </p:sp>
      <p:sp>
        <p:nvSpPr>
          <p:cNvPr id="26" name="Text 23"/>
          <p:cNvSpPr txBox="1"/>
          <p:nvPr/>
        </p:nvSpPr>
        <p:spPr>
          <a:xfrm>
            <a:off x="3968496" y="1389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27" name="Text 24"/>
          <p:cNvSpPr txBox="1"/>
          <p:nvPr/>
        </p:nvSpPr>
        <p:spPr>
          <a:xfrm>
            <a:off x="3968496" y="1874520"/>
            <a:ext cx="1207008" cy="155448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Review</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Human reads the changes and the changed behaviour.</a:t>
            </a:r>
            <a:endParaRPr lang="en-US" sz="1400" dirty="0"/>
          </a:p>
        </p:txBody>
      </p:sp>
      <p:sp>
        <p:nvSpPr>
          <p:cNvPr id="28" name="Shape 25"/>
          <p:cNvSpPr/>
          <p:nvPr/>
        </p:nvSpPr>
        <p:spPr>
          <a:xfrm>
            <a:off x="5431536" y="1234440"/>
            <a:ext cx="1517904" cy="2286000"/>
          </a:xfrm>
          <a:prstGeom prst="roundRect">
            <a:avLst>
              <a:gd name="adj" fmla="val 4819"/>
            </a:avLst>
          </a:prstGeom>
          <a:solidFill>
            <a:srgbClr val="F3F4F6"/>
          </a:solidFill>
          <a:ln w="12700">
            <a:solidFill>
              <a:srgbClr val="F3F4F6"/>
            </a:solidFill>
            <a:prstDash val="solid"/>
          </a:ln>
        </p:spPr>
        <p:txBody>
          <a:bodyPr/>
          <a:lstStyle/>
          <a:p>
            <a:endParaRPr lang="en-US"/>
          </a:p>
        </p:txBody>
      </p:sp>
      <p:sp>
        <p:nvSpPr>
          <p:cNvPr id="29" name="Shape 26"/>
          <p:cNvSpPr/>
          <p:nvPr/>
        </p:nvSpPr>
        <p:spPr>
          <a:xfrm>
            <a:off x="5596128" y="1389888"/>
            <a:ext cx="347472" cy="347472"/>
          </a:xfrm>
          <a:prstGeom prst="ellipse">
            <a:avLst/>
          </a:prstGeom>
          <a:solidFill>
            <a:srgbClr val="111318"/>
          </a:solidFill>
          <a:ln w="12700">
            <a:solidFill>
              <a:srgbClr val="111318"/>
            </a:solidFill>
            <a:prstDash val="solid"/>
          </a:ln>
        </p:spPr>
        <p:txBody>
          <a:bodyPr/>
          <a:lstStyle/>
          <a:p>
            <a:endParaRPr lang="en-US"/>
          </a:p>
        </p:txBody>
      </p:sp>
      <p:sp>
        <p:nvSpPr>
          <p:cNvPr id="30" name="Text 27"/>
          <p:cNvSpPr txBox="1"/>
          <p:nvPr/>
        </p:nvSpPr>
        <p:spPr>
          <a:xfrm>
            <a:off x="5596128" y="1389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31" name="Text 28"/>
          <p:cNvSpPr txBox="1"/>
          <p:nvPr/>
        </p:nvSpPr>
        <p:spPr>
          <a:xfrm>
            <a:off x="5596128" y="1874520"/>
            <a:ext cx="1207008" cy="155448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Evidence</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Tests and a preview expose regressions. The agent never grades its own work.</a:t>
            </a:r>
            <a:endParaRPr lang="en-US" sz="1400" dirty="0"/>
          </a:p>
        </p:txBody>
      </p:sp>
      <p:sp>
        <p:nvSpPr>
          <p:cNvPr id="32" name="Shape 29"/>
          <p:cNvSpPr/>
          <p:nvPr/>
        </p:nvSpPr>
        <p:spPr>
          <a:xfrm>
            <a:off x="7059168" y="1234440"/>
            <a:ext cx="1517904" cy="2286000"/>
          </a:xfrm>
          <a:prstGeom prst="roundRect">
            <a:avLst>
              <a:gd name="adj" fmla="val 4819"/>
            </a:avLst>
          </a:prstGeom>
          <a:solidFill>
            <a:srgbClr val="E9EBEF"/>
          </a:solidFill>
          <a:ln w="12700">
            <a:solidFill>
              <a:srgbClr val="E9EBEF"/>
            </a:solidFill>
            <a:prstDash val="solid"/>
          </a:ln>
        </p:spPr>
        <p:txBody>
          <a:bodyPr/>
          <a:lstStyle/>
          <a:p>
            <a:endParaRPr lang="en-US"/>
          </a:p>
        </p:txBody>
      </p:sp>
      <p:sp>
        <p:nvSpPr>
          <p:cNvPr id="33" name="Shape 30"/>
          <p:cNvSpPr/>
          <p:nvPr/>
        </p:nvSpPr>
        <p:spPr>
          <a:xfrm>
            <a:off x="7223760" y="1389888"/>
            <a:ext cx="347472" cy="347472"/>
          </a:xfrm>
          <a:prstGeom prst="ellipse">
            <a:avLst/>
          </a:prstGeom>
          <a:solidFill>
            <a:srgbClr val="111318"/>
          </a:solidFill>
          <a:ln w="12700">
            <a:solidFill>
              <a:srgbClr val="111318"/>
            </a:solidFill>
            <a:prstDash val="solid"/>
          </a:ln>
        </p:spPr>
        <p:txBody>
          <a:bodyPr/>
          <a:lstStyle/>
          <a:p>
            <a:endParaRPr lang="en-US"/>
          </a:p>
        </p:txBody>
      </p:sp>
      <p:sp>
        <p:nvSpPr>
          <p:cNvPr id="34" name="Text 31"/>
          <p:cNvSpPr txBox="1"/>
          <p:nvPr/>
        </p:nvSpPr>
        <p:spPr>
          <a:xfrm>
            <a:off x="7223760" y="1389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35" name="Text 32"/>
          <p:cNvSpPr txBox="1"/>
          <p:nvPr/>
        </p:nvSpPr>
        <p:spPr>
          <a:xfrm>
            <a:off x="7223760" y="1874520"/>
            <a:ext cx="1207008" cy="1554480"/>
          </a:xfrm>
          <a:prstGeom prst="rect">
            <a:avLst/>
          </a:prstGeom>
          <a:noFill/>
          <a:ln/>
        </p:spPr>
        <p:txBody>
          <a:bodyPr wrap="square" lIns="0" tIns="0" rIns="0" bIns="0" rtlCol="0" anchor="t"/>
          <a:lstStyle/>
          <a:p>
            <a:pPr marL="0" indent="0">
              <a:spcAft>
                <a:spcPts val="400"/>
              </a:spcAft>
              <a:buNone/>
            </a:pPr>
            <a:r>
              <a:rPr lang="en-US" sz="1400" b="1" dirty="0">
                <a:solidFill>
                  <a:srgbClr val="111318"/>
                </a:solidFill>
                <a:latin typeface="Calibri" pitchFamily="34" charset="0"/>
                <a:ea typeface="Calibri" pitchFamily="34" charset="-122"/>
                <a:cs typeface="Calibri" pitchFamily="34" charset="-120"/>
              </a:rPr>
              <a:t>Record</a:t>
            </a:r>
            <a:endParaRPr lang="en-US" sz="1400" dirty="0"/>
          </a:p>
          <a:p>
            <a:pPr marL="0" indent="0">
              <a:spcAft>
                <a:spcPts val="400"/>
              </a:spcAft>
              <a:buNone/>
            </a:pPr>
            <a:r>
              <a:rPr lang="en-US" sz="1050" dirty="0">
                <a:solidFill>
                  <a:srgbClr val="6B7280"/>
                </a:solidFill>
                <a:latin typeface="Calibri" pitchFamily="34" charset="0"/>
                <a:ea typeface="Calibri" pitchFamily="34" charset="-122"/>
                <a:cs typeface="Calibri" pitchFamily="34" charset="-120"/>
              </a:rPr>
              <a:t>Save the code, the rationale, and the operating notes beside it.</a:t>
            </a:r>
            <a:endParaRPr lang="en-US" sz="1400" dirty="0"/>
          </a:p>
        </p:txBody>
      </p:sp>
      <p:sp>
        <p:nvSpPr>
          <p:cNvPr id="36" name="Shape 33"/>
          <p:cNvSpPr/>
          <p:nvPr/>
        </p:nvSpPr>
        <p:spPr>
          <a:xfrm>
            <a:off x="548640" y="3703320"/>
            <a:ext cx="8046720" cy="658368"/>
          </a:xfrm>
          <a:prstGeom prst="roundRect">
            <a:avLst>
              <a:gd name="adj" fmla="val 11111"/>
            </a:avLst>
          </a:prstGeom>
          <a:solidFill>
            <a:srgbClr val="0F1114"/>
          </a:solidFill>
          <a:ln w="12700">
            <a:solidFill>
              <a:srgbClr val="0F1114"/>
            </a:solidFill>
            <a:prstDash val="solid"/>
          </a:ln>
        </p:spPr>
        <p:txBody>
          <a:bodyPr/>
          <a:lstStyle/>
          <a:p>
            <a:endParaRPr lang="en-US"/>
          </a:p>
        </p:txBody>
      </p:sp>
      <p:sp>
        <p:nvSpPr>
          <p:cNvPr id="37" name="Text 34"/>
          <p:cNvSpPr txBox="1"/>
          <p:nvPr/>
        </p:nvSpPr>
        <p:spPr>
          <a:xfrm>
            <a:off x="731520" y="3703320"/>
            <a:ext cx="7680960" cy="658368"/>
          </a:xfrm>
          <a:prstGeom prst="rect">
            <a:avLst/>
          </a:prstGeom>
          <a:noFill/>
          <a:ln/>
        </p:spPr>
        <p:txBody>
          <a:bodyPr wrap="square" lIns="0" tIns="0" rIns="0" bIns="0" rtlCol="0" anchor="ctr"/>
          <a:lstStyle/>
          <a:p>
            <a:pPr marL="0" indent="0">
              <a:buNone/>
            </a:pPr>
            <a:r>
              <a:rPr lang="en-US" sz="1200" b="1" dirty="0">
                <a:solidFill>
                  <a:srgbClr val="C8F236"/>
                </a:solidFill>
                <a:latin typeface="Calibri" pitchFamily="34" charset="0"/>
                <a:ea typeface="Calibri" pitchFamily="34" charset="-122"/>
                <a:cs typeface="Calibri" pitchFamily="34" charset="-120"/>
              </a:rPr>
              <a:t>At my desk: </a:t>
            </a:r>
            <a:r>
              <a:rPr lang="en-US" sz="1200" dirty="0">
                <a:solidFill>
                  <a:srgbClr val="FFFFFF"/>
                </a:solidFill>
                <a:latin typeface="Calibri" pitchFamily="34" charset="0"/>
                <a:ea typeface="Calibri" pitchFamily="34" charset="-122"/>
                <a:cs typeface="Calibri" pitchFamily="34" charset="-120"/>
              </a:rPr>
              <a:t>plan first, small diffs, tests as the contract, an instructions file that tells the agent the house rules, and a separate check before anything merges.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6B7280"/>
                </a:solidFill>
                <a:latin typeface="Courier New" pitchFamily="34" charset="0"/>
                <a:ea typeface="Courier New" pitchFamily="34" charset="-122"/>
                <a:cs typeface="Courier New" pitchFamily="34" charset="-120"/>
              </a:rPr>
              <a:t>ACT 7 · CLOSE</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6B7280"/>
                </a:solidFill>
                <a:latin typeface="Courier New" pitchFamily="34" charset="0"/>
                <a:ea typeface="Courier New" pitchFamily="34" charset="-122"/>
                <a:cs typeface="Courier New" pitchFamily="34" charset="-120"/>
              </a:rPr>
              <a:t>22 / 24</a:t>
            </a:r>
            <a:endParaRPr lang="en-US" sz="900" dirty="0"/>
          </a:p>
        </p:txBody>
      </p:sp>
      <p:sp>
        <p:nvSpPr>
          <p:cNvPr id="4" name="Text 2"/>
          <p:cNvSpPr txBox="1"/>
          <p:nvPr/>
        </p:nvSpPr>
        <p:spPr>
          <a:xfrm>
            <a:off x="548640" y="530352"/>
            <a:ext cx="8046720" cy="548640"/>
          </a:xfrm>
          <a:prstGeom prst="rect">
            <a:avLst/>
          </a:prstGeom>
          <a:noFill/>
          <a:ln/>
        </p:spPr>
        <p:txBody>
          <a:bodyPr wrap="square" lIns="0" tIns="0" rIns="0" bIns="0" rtlCol="0" anchor="ctr"/>
          <a:lstStyle/>
          <a:p>
            <a:pPr marL="0" indent="0">
              <a:buNone/>
            </a:pPr>
            <a:r>
              <a:rPr lang="en-US" sz="3000" b="1" dirty="0">
                <a:solidFill>
                  <a:srgbClr val="111318"/>
                </a:solidFill>
                <a:latin typeface="Cambria" pitchFamily="34" charset="0"/>
                <a:ea typeface="Cambria" pitchFamily="34" charset="-122"/>
                <a:cs typeface="Cambria" pitchFamily="34" charset="-120"/>
              </a:rPr>
              <a:t>Tonight. One ugly thing that works.</a:t>
            </a:r>
            <a:endParaRPr lang="en-US" sz="3000" dirty="0"/>
          </a:p>
        </p:txBody>
      </p:sp>
      <p:sp>
        <p:nvSpPr>
          <p:cNvPr id="5" name="Text 3"/>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1 Why</a:t>
            </a:r>
            <a:endParaRPr lang="en-US" sz="750" dirty="0"/>
          </a:p>
        </p:txBody>
      </p:sp>
      <p:sp>
        <p:nvSpPr>
          <p:cNvPr id="6" name="Text 4"/>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2 What it is</a:t>
            </a:r>
            <a:endParaRPr lang="en-US" sz="750" dirty="0"/>
          </a:p>
        </p:txBody>
      </p:sp>
      <p:sp>
        <p:nvSpPr>
          <p:cNvPr id="7" name="Text 5"/>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3 How</a:t>
            </a:r>
            <a:endParaRPr lang="en-US" sz="750" dirty="0"/>
          </a:p>
        </p:txBody>
      </p:sp>
      <p:sp>
        <p:nvSpPr>
          <p:cNvPr id="8" name="Text 6"/>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4 See it</a:t>
            </a:r>
            <a:endParaRPr lang="en-US" sz="750" dirty="0"/>
          </a:p>
        </p:txBody>
      </p:sp>
      <p:sp>
        <p:nvSpPr>
          <p:cNvPr id="9" name="Text 7"/>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5 Where it breaks</a:t>
            </a:r>
            <a:endParaRPr lang="en-US" sz="750" dirty="0"/>
          </a:p>
        </p:txBody>
      </p:sp>
      <p:sp>
        <p:nvSpPr>
          <p:cNvPr id="10" name="Text 8"/>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B0B5BF"/>
                </a:solidFill>
                <a:latin typeface="Courier New" pitchFamily="34" charset="0"/>
                <a:ea typeface="Courier New" pitchFamily="34" charset="-122"/>
                <a:cs typeface="Courier New" pitchFamily="34" charset="-120"/>
              </a:rPr>
              <a:t>6 When it matters</a:t>
            </a:r>
            <a:endParaRPr lang="en-US" sz="750" dirty="0"/>
          </a:p>
        </p:txBody>
      </p:sp>
      <p:sp>
        <p:nvSpPr>
          <p:cNvPr id="11" name="Text 9"/>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b="1" dirty="0">
                <a:solidFill>
                  <a:srgbClr val="111318"/>
                </a:solidFill>
                <a:latin typeface="Courier New" pitchFamily="34" charset="0"/>
                <a:ea typeface="Courier New" pitchFamily="34" charset="-122"/>
                <a:cs typeface="Courier New" pitchFamily="34" charset="-120"/>
              </a:rPr>
              <a:t>7 Close</a:t>
            </a:r>
            <a:endParaRPr lang="en-US" sz="750" dirty="0"/>
          </a:p>
        </p:txBody>
      </p:sp>
      <p:sp>
        <p:nvSpPr>
          <p:cNvPr id="12" name="Shape 10"/>
          <p:cNvSpPr/>
          <p:nvPr/>
        </p:nvSpPr>
        <p:spPr>
          <a:xfrm>
            <a:off x="6439205" y="4919472"/>
            <a:ext cx="457200" cy="27432"/>
          </a:xfrm>
          <a:prstGeom prst="rect">
            <a:avLst/>
          </a:prstGeom>
          <a:solidFill>
            <a:srgbClr val="C8F236"/>
          </a:solidFill>
          <a:ln w="12700">
            <a:solidFill>
              <a:srgbClr val="C8F236"/>
            </a:solidFill>
            <a:prstDash val="solid"/>
          </a:ln>
        </p:spPr>
        <p:txBody>
          <a:bodyPr/>
          <a:lstStyle/>
          <a:p>
            <a:endParaRPr lang="en-US"/>
          </a:p>
        </p:txBody>
      </p:sp>
      <p:sp>
        <p:nvSpPr>
          <p:cNvPr id="13" name="Shape 11"/>
          <p:cNvSpPr/>
          <p:nvPr/>
        </p:nvSpPr>
        <p:spPr>
          <a:xfrm>
            <a:off x="548640" y="1188720"/>
            <a:ext cx="2560320" cy="2148840"/>
          </a:xfrm>
          <a:prstGeom prst="roundRect">
            <a:avLst>
              <a:gd name="adj" fmla="val 3404"/>
            </a:avLst>
          </a:prstGeom>
          <a:solidFill>
            <a:srgbClr val="F3F4F6"/>
          </a:solidFill>
          <a:ln w="12700">
            <a:solidFill>
              <a:srgbClr val="F3F4F6"/>
            </a:solidFill>
            <a:prstDash val="solid"/>
          </a:ln>
        </p:spPr>
        <p:txBody>
          <a:bodyPr/>
          <a:lstStyle/>
          <a:p>
            <a:endParaRPr lang="en-US"/>
          </a:p>
        </p:txBody>
      </p:sp>
      <p:sp>
        <p:nvSpPr>
          <p:cNvPr id="14" name="Text 12"/>
          <p:cNvSpPr txBox="1"/>
          <p:nvPr/>
        </p:nvSpPr>
        <p:spPr>
          <a:xfrm>
            <a:off x="731520" y="1298448"/>
            <a:ext cx="2194560" cy="274320"/>
          </a:xfrm>
          <a:prstGeom prst="rect">
            <a:avLst/>
          </a:prstGeom>
          <a:noFill/>
          <a:ln/>
        </p:spPr>
        <p:txBody>
          <a:bodyPr wrap="square" lIns="0" tIns="0" rIns="0" bIns="0" rtlCol="0" anchor="t"/>
          <a:lstStyle/>
          <a:p>
            <a:pPr marL="0" indent="0">
              <a:buNone/>
            </a:pPr>
            <a:r>
              <a:rPr lang="en-US" sz="1000" kern="0" spc="200" dirty="0">
                <a:solidFill>
                  <a:srgbClr val="6B7280"/>
                </a:solidFill>
                <a:latin typeface="Courier New" pitchFamily="34" charset="0"/>
                <a:ea typeface="Courier New" pitchFamily="34" charset="-122"/>
                <a:cs typeface="Courier New" pitchFamily="34" charset="-120"/>
              </a:rPr>
              <a:t>LEVEL 1</a:t>
            </a:r>
            <a:endParaRPr lang="en-US" sz="1000" dirty="0"/>
          </a:p>
        </p:txBody>
      </p:sp>
      <p:sp>
        <p:nvSpPr>
          <p:cNvPr id="15" name="Text 13"/>
          <p:cNvSpPr txBox="1"/>
          <p:nvPr/>
        </p:nvSpPr>
        <p:spPr>
          <a:xfrm>
            <a:off x="731520" y="1600200"/>
            <a:ext cx="2194560" cy="1691640"/>
          </a:xfrm>
          <a:prstGeom prst="rect">
            <a:avLst/>
          </a:prstGeom>
          <a:noFill/>
          <a:ln/>
        </p:spPr>
        <p:txBody>
          <a:bodyPr wrap="square" lIns="0" tIns="0" rIns="0" bIns="0" rtlCol="0" anchor="t"/>
          <a:lstStyle/>
          <a:p>
            <a:pPr marL="0" indent="0">
              <a:spcAft>
                <a:spcPts val="600"/>
              </a:spcAft>
              <a:buNone/>
            </a:pPr>
            <a:r>
              <a:rPr lang="en-US" sz="1500" b="1" dirty="0">
                <a:solidFill>
                  <a:srgbClr val="111318"/>
                </a:solidFill>
                <a:latin typeface="Calibri" pitchFamily="34" charset="0"/>
                <a:ea typeface="Calibri" pitchFamily="34" charset="-122"/>
                <a:cs typeface="Calibri" pitchFamily="34" charset="-120"/>
              </a:rPr>
              <a:t>No new account</a:t>
            </a:r>
            <a:endParaRPr lang="en-US" sz="1500" dirty="0"/>
          </a:p>
          <a:p>
            <a:pPr marL="0" indent="0">
              <a:spcAft>
                <a:spcPts val="600"/>
              </a:spcAft>
              <a:buNone/>
            </a:pPr>
            <a:r>
              <a:rPr lang="en-US" sz="1100" dirty="0">
                <a:solidFill>
                  <a:srgbClr val="6B7280"/>
                </a:solidFill>
                <a:latin typeface="Calibri" pitchFamily="34" charset="0"/>
                <a:ea typeface="Calibri" pitchFamily="34" charset="-122"/>
                <a:cs typeface="Calibri" pitchFamily="34" charset="-120"/>
              </a:rPr>
              <a:t>In ChatGPT, Claude, or Gemini: a single-page tool.</a:t>
            </a:r>
            <a:endParaRPr lang="en-US" sz="1500" dirty="0"/>
          </a:p>
          <a:p>
            <a:pPr marL="0" indent="0">
              <a:spcAft>
                <a:spcPts val="600"/>
              </a:spcAft>
              <a:buNone/>
            </a:pPr>
            <a:r>
              <a:rPr lang="en-US" sz="1150" dirty="0">
                <a:solidFill>
                  <a:srgbClr val="111318"/>
                </a:solidFill>
                <a:latin typeface="Calibri" pitchFamily="34" charset="0"/>
                <a:ea typeface="Calibri" pitchFamily="34" charset="-122"/>
                <a:cs typeface="Calibri" pitchFamily="34" charset="-120"/>
              </a:rPr>
              <a:t>A pitch timer with a 3-minute buzzer. A split-the-bill calculator. A "should I enter this hackathon" checklist.</a:t>
            </a:r>
            <a:endParaRPr lang="en-US" sz="1500" dirty="0"/>
          </a:p>
        </p:txBody>
      </p:sp>
      <p:sp>
        <p:nvSpPr>
          <p:cNvPr id="16" name="Shape 14"/>
          <p:cNvSpPr/>
          <p:nvPr/>
        </p:nvSpPr>
        <p:spPr>
          <a:xfrm>
            <a:off x="3291840" y="1188720"/>
            <a:ext cx="2560320" cy="2148840"/>
          </a:xfrm>
          <a:prstGeom prst="roundRect">
            <a:avLst>
              <a:gd name="adj" fmla="val 3404"/>
            </a:avLst>
          </a:prstGeom>
          <a:solidFill>
            <a:srgbClr val="F3F4F6"/>
          </a:solidFill>
          <a:ln w="12700">
            <a:solidFill>
              <a:srgbClr val="F3F4F6"/>
            </a:solidFill>
            <a:prstDash val="solid"/>
          </a:ln>
        </p:spPr>
        <p:txBody>
          <a:bodyPr/>
          <a:lstStyle/>
          <a:p>
            <a:endParaRPr lang="en-US"/>
          </a:p>
        </p:txBody>
      </p:sp>
      <p:sp>
        <p:nvSpPr>
          <p:cNvPr id="17" name="Text 15"/>
          <p:cNvSpPr txBox="1"/>
          <p:nvPr/>
        </p:nvSpPr>
        <p:spPr>
          <a:xfrm>
            <a:off x="3474720" y="1298448"/>
            <a:ext cx="2194560" cy="274320"/>
          </a:xfrm>
          <a:prstGeom prst="rect">
            <a:avLst/>
          </a:prstGeom>
          <a:noFill/>
          <a:ln/>
        </p:spPr>
        <p:txBody>
          <a:bodyPr wrap="square" lIns="0" tIns="0" rIns="0" bIns="0" rtlCol="0" anchor="t"/>
          <a:lstStyle/>
          <a:p>
            <a:pPr marL="0" indent="0">
              <a:buNone/>
            </a:pPr>
            <a:r>
              <a:rPr lang="en-US" sz="1000" kern="0" spc="200" dirty="0">
                <a:solidFill>
                  <a:srgbClr val="6B7280"/>
                </a:solidFill>
                <a:latin typeface="Courier New" pitchFamily="34" charset="0"/>
                <a:ea typeface="Courier New" pitchFamily="34" charset="-122"/>
                <a:cs typeface="Courier New" pitchFamily="34" charset="-120"/>
              </a:rPr>
              <a:t>LEVEL 2</a:t>
            </a:r>
            <a:endParaRPr lang="en-US" sz="1000" dirty="0"/>
          </a:p>
        </p:txBody>
      </p:sp>
      <p:sp>
        <p:nvSpPr>
          <p:cNvPr id="18" name="Text 16"/>
          <p:cNvSpPr txBox="1"/>
          <p:nvPr/>
        </p:nvSpPr>
        <p:spPr>
          <a:xfrm>
            <a:off x="3474720" y="1600200"/>
            <a:ext cx="2194560" cy="1691640"/>
          </a:xfrm>
          <a:prstGeom prst="rect">
            <a:avLst/>
          </a:prstGeom>
          <a:noFill/>
          <a:ln/>
        </p:spPr>
        <p:txBody>
          <a:bodyPr wrap="square" lIns="0" tIns="0" rIns="0" bIns="0" rtlCol="0" anchor="t"/>
          <a:lstStyle/>
          <a:p>
            <a:pPr marL="0" indent="0">
              <a:spcAft>
                <a:spcPts val="600"/>
              </a:spcAft>
              <a:buNone/>
            </a:pPr>
            <a:r>
              <a:rPr lang="en-US" sz="1500" b="1" dirty="0">
                <a:solidFill>
                  <a:srgbClr val="111318"/>
                </a:solidFill>
                <a:latin typeface="Calibri" pitchFamily="34" charset="0"/>
                <a:ea typeface="Calibri" pitchFamily="34" charset="-122"/>
                <a:cs typeface="Calibri" pitchFamily="34" charset="-120"/>
              </a:rPr>
              <a:t>Browser builder</a:t>
            </a:r>
            <a:endParaRPr lang="en-US" sz="1500" dirty="0"/>
          </a:p>
          <a:p>
            <a:pPr marL="0" indent="0">
              <a:spcAft>
                <a:spcPts val="600"/>
              </a:spcAft>
              <a:buNone/>
            </a:pPr>
            <a:r>
              <a:rPr lang="en-US" sz="1100" dirty="0">
                <a:solidFill>
                  <a:srgbClr val="6B7280"/>
                </a:solidFill>
                <a:latin typeface="Calibri" pitchFamily="34" charset="0"/>
                <a:ea typeface="Calibri" pitchFamily="34" charset="-122"/>
                <a:cs typeface="Calibri" pitchFamily="34" charset="-120"/>
              </a:rPr>
              <a:t>Lovable, Bolt, or v0.</a:t>
            </a:r>
            <a:endParaRPr lang="en-US" sz="1500" dirty="0"/>
          </a:p>
          <a:p>
            <a:pPr marL="0" indent="0">
              <a:spcAft>
                <a:spcPts val="600"/>
              </a:spcAft>
              <a:buNone/>
            </a:pPr>
            <a:r>
              <a:rPr lang="en-US" sz="1150" dirty="0">
                <a:solidFill>
                  <a:srgbClr val="111318"/>
                </a:solidFill>
                <a:latin typeface="Calibri" pitchFamily="34" charset="0"/>
                <a:ea typeface="Calibri" pitchFamily="34" charset="-122"/>
                <a:cs typeface="Calibri" pitchFamily="34" charset="-120"/>
              </a:rPr>
              <a:t>A landing page with a working waitlist for your idea. Or run both "Still" prompts yourself and compare.</a:t>
            </a:r>
            <a:endParaRPr lang="en-US" sz="1500" dirty="0"/>
          </a:p>
        </p:txBody>
      </p:sp>
      <p:sp>
        <p:nvSpPr>
          <p:cNvPr id="19" name="Shape 17"/>
          <p:cNvSpPr/>
          <p:nvPr/>
        </p:nvSpPr>
        <p:spPr>
          <a:xfrm>
            <a:off x="6035040" y="1188720"/>
            <a:ext cx="2560320" cy="2148840"/>
          </a:xfrm>
          <a:prstGeom prst="roundRect">
            <a:avLst>
              <a:gd name="adj" fmla="val 3404"/>
            </a:avLst>
          </a:prstGeom>
          <a:solidFill>
            <a:srgbClr val="F3F4F6"/>
          </a:solidFill>
          <a:ln w="12700">
            <a:solidFill>
              <a:srgbClr val="F3F4F6"/>
            </a:solidFill>
            <a:prstDash val="solid"/>
          </a:ln>
        </p:spPr>
        <p:txBody>
          <a:bodyPr/>
          <a:lstStyle/>
          <a:p>
            <a:endParaRPr lang="en-US"/>
          </a:p>
        </p:txBody>
      </p:sp>
      <p:sp>
        <p:nvSpPr>
          <p:cNvPr id="20" name="Text 18"/>
          <p:cNvSpPr txBox="1"/>
          <p:nvPr/>
        </p:nvSpPr>
        <p:spPr>
          <a:xfrm>
            <a:off x="6217920" y="1298448"/>
            <a:ext cx="2194560" cy="274320"/>
          </a:xfrm>
          <a:prstGeom prst="rect">
            <a:avLst/>
          </a:prstGeom>
          <a:noFill/>
          <a:ln/>
        </p:spPr>
        <p:txBody>
          <a:bodyPr wrap="square" lIns="0" tIns="0" rIns="0" bIns="0" rtlCol="0" anchor="t"/>
          <a:lstStyle/>
          <a:p>
            <a:pPr marL="0" indent="0">
              <a:buNone/>
            </a:pPr>
            <a:r>
              <a:rPr lang="en-US" sz="1000" kern="0" spc="200" dirty="0">
                <a:solidFill>
                  <a:srgbClr val="6B7280"/>
                </a:solidFill>
                <a:latin typeface="Courier New" pitchFamily="34" charset="0"/>
                <a:ea typeface="Courier New" pitchFamily="34" charset="-122"/>
                <a:cs typeface="Courier New" pitchFamily="34" charset="-120"/>
              </a:rPr>
              <a:t>LEVEL 3</a:t>
            </a:r>
            <a:endParaRPr lang="en-US" sz="1000" dirty="0"/>
          </a:p>
        </p:txBody>
      </p:sp>
      <p:sp>
        <p:nvSpPr>
          <p:cNvPr id="21" name="Text 19"/>
          <p:cNvSpPr txBox="1"/>
          <p:nvPr/>
        </p:nvSpPr>
        <p:spPr>
          <a:xfrm>
            <a:off x="6217920" y="1600200"/>
            <a:ext cx="2194560" cy="1691640"/>
          </a:xfrm>
          <a:prstGeom prst="rect">
            <a:avLst/>
          </a:prstGeom>
          <a:noFill/>
          <a:ln/>
        </p:spPr>
        <p:txBody>
          <a:bodyPr wrap="square" lIns="0" tIns="0" rIns="0" bIns="0" rtlCol="0" anchor="t"/>
          <a:lstStyle/>
          <a:p>
            <a:pPr marL="0" indent="0">
              <a:spcAft>
                <a:spcPts val="600"/>
              </a:spcAft>
              <a:buNone/>
            </a:pPr>
            <a:r>
              <a:rPr lang="en-US" sz="1500" b="1" dirty="0">
                <a:solidFill>
                  <a:srgbClr val="111318"/>
                </a:solidFill>
                <a:latin typeface="Calibri" pitchFamily="34" charset="0"/>
                <a:ea typeface="Calibri" pitchFamily="34" charset="-122"/>
                <a:cs typeface="Calibri" pitchFamily="34" charset="-120"/>
              </a:rPr>
              <a:t>You already code</a:t>
            </a:r>
            <a:endParaRPr lang="en-US" sz="1500" dirty="0"/>
          </a:p>
          <a:p>
            <a:pPr marL="0" indent="0">
              <a:spcAft>
                <a:spcPts val="600"/>
              </a:spcAft>
              <a:buNone/>
            </a:pPr>
            <a:r>
              <a:rPr lang="en-US" sz="1100" dirty="0">
                <a:solidFill>
                  <a:srgbClr val="6B7280"/>
                </a:solidFill>
                <a:latin typeface="Calibri" pitchFamily="34" charset="0"/>
                <a:ea typeface="Calibri" pitchFamily="34" charset="-122"/>
                <a:cs typeface="Calibri" pitchFamily="34" charset="-120"/>
              </a:rPr>
              <a:t>Codex, Claude Code, or Cursor.</a:t>
            </a:r>
            <a:endParaRPr lang="en-US" sz="1500" dirty="0"/>
          </a:p>
          <a:p>
            <a:pPr marL="0" indent="0">
              <a:spcAft>
                <a:spcPts val="600"/>
              </a:spcAft>
              <a:buNone/>
            </a:pPr>
            <a:r>
              <a:rPr lang="en-US" sz="1150" dirty="0">
                <a:solidFill>
                  <a:srgbClr val="111318"/>
                </a:solidFill>
                <a:latin typeface="Calibri" pitchFamily="34" charset="0"/>
                <a:ea typeface="Calibri" pitchFamily="34" charset="-122"/>
                <a:cs typeface="Calibri" pitchFamily="34" charset="-120"/>
              </a:rPr>
              <a:t>Add one feature with a test to a repo you have.</a:t>
            </a:r>
            <a:endParaRPr lang="en-US" sz="1500" dirty="0"/>
          </a:p>
        </p:txBody>
      </p:sp>
      <p:sp>
        <p:nvSpPr>
          <p:cNvPr id="22" name="Text 20"/>
          <p:cNvSpPr txBox="1"/>
          <p:nvPr/>
        </p:nvSpPr>
        <p:spPr>
          <a:xfrm>
            <a:off x="548640" y="3520440"/>
            <a:ext cx="6309360" cy="914400"/>
          </a:xfrm>
          <a:prstGeom prst="rect">
            <a:avLst/>
          </a:prstGeom>
          <a:noFill/>
          <a:ln/>
        </p:spPr>
        <p:txBody>
          <a:bodyPr wrap="square" lIns="0" tIns="0" rIns="0" bIns="0" rtlCol="0" anchor="ctr"/>
          <a:lstStyle/>
          <a:p>
            <a:pPr marL="0" indent="0">
              <a:buNone/>
            </a:pPr>
            <a:r>
              <a:rPr lang="en-US" sz="1350" b="1" dirty="0">
                <a:solidFill>
                  <a:srgbClr val="111318"/>
                </a:solidFill>
                <a:latin typeface="Calibri" pitchFamily="34" charset="0"/>
                <a:ea typeface="Calibri" pitchFamily="34" charset="-122"/>
                <a:cs typeface="Calibri" pitchFamily="34" charset="-120"/>
              </a:rPr>
              <a:t>Then: </a:t>
            </a:r>
            <a:r>
              <a:rPr lang="en-US" sz="1350" dirty="0">
                <a:solidFill>
                  <a:srgbClr val="6B7280"/>
                </a:solidFill>
                <a:latin typeface="Calibri" pitchFamily="34" charset="0"/>
                <a:ea typeface="Calibri" pitchFamily="34" charset="-122"/>
                <a:cs typeface="Calibri" pitchFamily="34" charset="-120"/>
              </a:rPr>
              <a:t>show it to 10 real people this week. Keep every prompt and plan. That pile is your spec.</a:t>
            </a:r>
            <a:endParaRPr lang="en-US" sz="1350" dirty="0"/>
          </a:p>
        </p:txBody>
      </p:sp>
      <p:sp>
        <p:nvSpPr>
          <p:cNvPr id="23" name="Shape 21"/>
          <p:cNvSpPr/>
          <p:nvPr/>
        </p:nvSpPr>
        <p:spPr>
          <a:xfrm>
            <a:off x="7452360" y="3337560"/>
            <a:ext cx="1143000" cy="1143000"/>
          </a:xfrm>
          <a:prstGeom prst="roundRect">
            <a:avLst>
              <a:gd name="adj" fmla="val 4000"/>
            </a:avLst>
          </a:prstGeom>
          <a:solidFill>
            <a:srgbClr val="F3F4F6"/>
          </a:solidFill>
          <a:ln w="9525">
            <a:solidFill>
              <a:srgbClr val="6B7280"/>
            </a:solidFill>
            <a:prstDash val="dash"/>
          </a:ln>
        </p:spPr>
        <p:txBody>
          <a:bodyPr/>
          <a:lstStyle/>
          <a:p>
            <a:endParaRPr lang="en-US"/>
          </a:p>
        </p:txBody>
      </p:sp>
      <p:sp>
        <p:nvSpPr>
          <p:cNvPr id="24" name="Text 22"/>
          <p:cNvSpPr txBox="1"/>
          <p:nvPr/>
        </p:nvSpPr>
        <p:spPr>
          <a:xfrm>
            <a:off x="7452360" y="3337560"/>
            <a:ext cx="1143000" cy="1143000"/>
          </a:xfrm>
          <a:prstGeom prst="rect">
            <a:avLst/>
          </a:prstGeom>
          <a:noFill/>
          <a:ln/>
        </p:spPr>
        <p:txBody>
          <a:bodyPr wrap="square" lIns="635" tIns="635" rIns="635" bIns="635" rtlCol="0" anchor="ctr"/>
          <a:lstStyle/>
          <a:p>
            <a:pPr marL="0" indent="0" algn="ctr">
              <a:buNone/>
            </a:pPr>
            <a:r>
              <a:rPr lang="en-US" sz="900" dirty="0">
                <a:solidFill>
                  <a:srgbClr val="6B7280"/>
                </a:solidFill>
                <a:latin typeface="Courier New" pitchFamily="34" charset="0"/>
                <a:ea typeface="Courier New" pitchFamily="34" charset="-122"/>
                <a:cs typeface="Courier New" pitchFamily="34" charset="-120"/>
              </a:rPr>
              <a:t>QR</a:t>
            </a:r>
            <a:endParaRPr lang="en-US" sz="900" dirty="0"/>
          </a:p>
          <a:p>
            <a:pPr marL="0" indent="0" algn="ctr">
              <a:buNone/>
            </a:pPr>
            <a:r>
              <a:rPr lang="en-US" sz="900" dirty="0">
                <a:solidFill>
                  <a:srgbClr val="6B7280"/>
                </a:solidFill>
                <a:latin typeface="Courier New" pitchFamily="34" charset="0"/>
                <a:ea typeface="Courier New" pitchFamily="34" charset="-122"/>
                <a:cs typeface="Courier New" pitchFamily="34" charset="-120"/>
              </a:rPr>
              <a:t>WORKSHEET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114"/>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C8F236"/>
                </a:solidFill>
                <a:latin typeface="Courier New" pitchFamily="34" charset="0"/>
                <a:ea typeface="Courier New" pitchFamily="34" charset="-122"/>
                <a:cs typeface="Courier New" pitchFamily="34" charset="-120"/>
              </a:rPr>
              <a:t>ACT 7 · CLOSE</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9CA3AF"/>
                </a:solidFill>
                <a:latin typeface="Courier New" pitchFamily="34" charset="0"/>
                <a:ea typeface="Courier New" pitchFamily="34" charset="-122"/>
                <a:cs typeface="Courier New" pitchFamily="34" charset="-120"/>
              </a:rPr>
              <a:t>23 / 24</a:t>
            </a:r>
            <a:endParaRPr lang="en-US" sz="900" dirty="0"/>
          </a:p>
        </p:txBody>
      </p:sp>
      <p:sp>
        <p:nvSpPr>
          <p:cNvPr id="4" name="Text 2"/>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1 Why</a:t>
            </a:r>
            <a:endParaRPr lang="en-US" sz="750" dirty="0"/>
          </a:p>
        </p:txBody>
      </p:sp>
      <p:sp>
        <p:nvSpPr>
          <p:cNvPr id="5" name="Text 3"/>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2 What it is</a:t>
            </a:r>
            <a:endParaRPr lang="en-US" sz="750" dirty="0"/>
          </a:p>
        </p:txBody>
      </p:sp>
      <p:sp>
        <p:nvSpPr>
          <p:cNvPr id="6" name="Text 4"/>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3 How</a:t>
            </a:r>
            <a:endParaRPr lang="en-US" sz="750" dirty="0"/>
          </a:p>
        </p:txBody>
      </p:sp>
      <p:sp>
        <p:nvSpPr>
          <p:cNvPr id="7" name="Text 5"/>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4 See it</a:t>
            </a:r>
            <a:endParaRPr lang="en-US" sz="750" dirty="0"/>
          </a:p>
        </p:txBody>
      </p:sp>
      <p:sp>
        <p:nvSpPr>
          <p:cNvPr id="8" name="Text 6"/>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5 Where it breaks</a:t>
            </a:r>
            <a:endParaRPr lang="en-US" sz="750" dirty="0"/>
          </a:p>
        </p:txBody>
      </p:sp>
      <p:sp>
        <p:nvSpPr>
          <p:cNvPr id="9" name="Text 7"/>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6 When it matters</a:t>
            </a:r>
            <a:endParaRPr lang="en-US" sz="750" dirty="0"/>
          </a:p>
        </p:txBody>
      </p:sp>
      <p:sp>
        <p:nvSpPr>
          <p:cNvPr id="10" name="Text 8"/>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b="1" dirty="0">
                <a:solidFill>
                  <a:srgbClr val="C8F236"/>
                </a:solidFill>
                <a:latin typeface="Courier New" pitchFamily="34" charset="0"/>
                <a:ea typeface="Courier New" pitchFamily="34" charset="-122"/>
                <a:cs typeface="Courier New" pitchFamily="34" charset="-120"/>
              </a:rPr>
              <a:t>7 Close</a:t>
            </a:r>
            <a:endParaRPr lang="en-US" sz="750" dirty="0"/>
          </a:p>
        </p:txBody>
      </p:sp>
      <p:sp>
        <p:nvSpPr>
          <p:cNvPr id="11" name="Shape 9"/>
          <p:cNvSpPr/>
          <p:nvPr/>
        </p:nvSpPr>
        <p:spPr>
          <a:xfrm>
            <a:off x="6439205" y="4919472"/>
            <a:ext cx="457200" cy="27432"/>
          </a:xfrm>
          <a:prstGeom prst="rect">
            <a:avLst/>
          </a:prstGeom>
          <a:solidFill>
            <a:srgbClr val="C8F236"/>
          </a:solidFill>
          <a:ln w="12700">
            <a:solidFill>
              <a:srgbClr val="C8F236"/>
            </a:solidFill>
            <a:prstDash val="solid"/>
          </a:ln>
        </p:spPr>
        <p:txBody>
          <a:bodyPr/>
          <a:lstStyle/>
          <a:p>
            <a:endParaRPr lang="en-US"/>
          </a:p>
        </p:txBody>
      </p:sp>
      <p:sp>
        <p:nvSpPr>
          <p:cNvPr id="12" name="Shape 10"/>
          <p:cNvSpPr/>
          <p:nvPr/>
        </p:nvSpPr>
        <p:spPr>
          <a:xfrm>
            <a:off x="8028432" y="4389120"/>
            <a:ext cx="566928" cy="566928"/>
          </a:xfrm>
          <a:prstGeom prst="roundRect">
            <a:avLst>
              <a:gd name="adj" fmla="val 6452"/>
            </a:avLst>
          </a:prstGeom>
          <a:solidFill>
            <a:srgbClr val="FFFFFF"/>
          </a:solidFill>
          <a:ln w="9525">
            <a:solidFill>
              <a:srgbClr val="FFFFFF"/>
            </a:solidFill>
            <a:prstDash val="solid"/>
          </a:ln>
        </p:spPr>
        <p:txBody>
          <a:bodyPr/>
          <a:lstStyle/>
          <a:p>
            <a:endParaRPr lang="en-US"/>
          </a:p>
        </p:txBody>
      </p:sp>
      <p:pic>
        <p:nvPicPr>
          <p:cNvPr id="13"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4" name="Text 11"/>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9CA3AF"/>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9CA3AF"/>
                </a:solidFill>
                <a:latin typeface="Calibri" pitchFamily="34" charset="0"/>
                <a:ea typeface="Calibri" pitchFamily="34" charset="-122"/>
                <a:cs typeface="Calibri" pitchFamily="34" charset="-120"/>
              </a:rPr>
              <a:t>Scan, ask anonymously</a:t>
            </a:r>
            <a:endParaRPr lang="en-US" sz="800" dirty="0"/>
          </a:p>
        </p:txBody>
      </p:sp>
      <p:sp>
        <p:nvSpPr>
          <p:cNvPr id="15" name="Text 12"/>
          <p:cNvSpPr txBox="1"/>
          <p:nvPr/>
        </p:nvSpPr>
        <p:spPr>
          <a:xfrm>
            <a:off x="548640" y="914400"/>
            <a:ext cx="8046720" cy="640080"/>
          </a:xfrm>
          <a:prstGeom prst="rect">
            <a:avLst/>
          </a:prstGeom>
          <a:noFill/>
          <a:ln/>
        </p:spPr>
        <p:txBody>
          <a:bodyPr wrap="square" lIns="0" tIns="0" rIns="0" bIns="0" rtlCol="0" anchor="t"/>
          <a:lstStyle/>
          <a:p>
            <a:pPr marL="0" indent="0">
              <a:buNone/>
            </a:pPr>
            <a:r>
              <a:rPr lang="en-US" sz="2600" dirty="0">
                <a:solidFill>
                  <a:srgbClr val="9CA3AF"/>
                </a:solidFill>
                <a:latin typeface="Cambria" pitchFamily="34" charset="0"/>
                <a:ea typeface="Cambria" pitchFamily="34" charset="-122"/>
                <a:cs typeface="Cambria" pitchFamily="34" charset="-120"/>
              </a:rPr>
              <a:t>The bottleneck used to be writing code.</a:t>
            </a:r>
            <a:endParaRPr lang="en-US" sz="2600" dirty="0"/>
          </a:p>
        </p:txBody>
      </p:sp>
      <p:sp>
        <p:nvSpPr>
          <p:cNvPr id="16" name="Text 13"/>
          <p:cNvSpPr txBox="1"/>
          <p:nvPr/>
        </p:nvSpPr>
        <p:spPr>
          <a:xfrm>
            <a:off x="548640" y="1554480"/>
            <a:ext cx="8046720" cy="109728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Now it's knowing what you want, and checking that you got it.</a:t>
            </a:r>
            <a:endParaRPr lang="en-US" sz="3200" dirty="0"/>
          </a:p>
        </p:txBody>
      </p:sp>
      <p:sp>
        <p:nvSpPr>
          <p:cNvPr id="17" name="Shape 14"/>
          <p:cNvSpPr/>
          <p:nvPr/>
        </p:nvSpPr>
        <p:spPr>
          <a:xfrm>
            <a:off x="548640" y="2971800"/>
            <a:ext cx="8046720" cy="1188720"/>
          </a:xfrm>
          <a:prstGeom prst="roundRect">
            <a:avLst>
              <a:gd name="adj" fmla="val 9231"/>
            </a:avLst>
          </a:prstGeom>
          <a:solidFill>
            <a:srgbClr val="1B1F26"/>
          </a:solidFill>
          <a:ln w="12700">
            <a:solidFill>
              <a:srgbClr val="1B1F26"/>
            </a:solidFill>
            <a:prstDash val="solid"/>
          </a:ln>
        </p:spPr>
        <p:txBody>
          <a:bodyPr/>
          <a:lstStyle/>
          <a:p>
            <a:endParaRPr lang="en-US"/>
          </a:p>
        </p:txBody>
      </p:sp>
      <p:sp>
        <p:nvSpPr>
          <p:cNvPr id="18" name="Shape 15"/>
          <p:cNvSpPr/>
          <p:nvPr/>
        </p:nvSpPr>
        <p:spPr>
          <a:xfrm>
            <a:off x="777240" y="3200400"/>
            <a:ext cx="109728" cy="109728"/>
          </a:xfrm>
          <a:prstGeom prst="ellipse">
            <a:avLst/>
          </a:prstGeom>
          <a:solidFill>
            <a:srgbClr val="E24B4A"/>
          </a:solidFill>
          <a:ln w="12700">
            <a:solidFill>
              <a:srgbClr val="E24B4A"/>
            </a:solidFill>
            <a:prstDash val="solid"/>
          </a:ln>
        </p:spPr>
        <p:txBody>
          <a:bodyPr/>
          <a:lstStyle/>
          <a:p>
            <a:endParaRPr lang="en-US"/>
          </a:p>
        </p:txBody>
      </p:sp>
      <p:sp>
        <p:nvSpPr>
          <p:cNvPr id="19" name="Shape 16"/>
          <p:cNvSpPr/>
          <p:nvPr/>
        </p:nvSpPr>
        <p:spPr>
          <a:xfrm>
            <a:off x="960120" y="3200400"/>
            <a:ext cx="109728" cy="109728"/>
          </a:xfrm>
          <a:prstGeom prst="ellipse">
            <a:avLst/>
          </a:prstGeom>
          <a:solidFill>
            <a:srgbClr val="F2C14E"/>
          </a:solidFill>
          <a:ln w="12700">
            <a:solidFill>
              <a:srgbClr val="F2C14E"/>
            </a:solidFill>
            <a:prstDash val="solid"/>
          </a:ln>
        </p:spPr>
        <p:txBody>
          <a:bodyPr/>
          <a:lstStyle/>
          <a:p>
            <a:endParaRPr lang="en-US"/>
          </a:p>
        </p:txBody>
      </p:sp>
      <p:sp>
        <p:nvSpPr>
          <p:cNvPr id="20" name="Shape 17"/>
          <p:cNvSpPr/>
          <p:nvPr/>
        </p:nvSpPr>
        <p:spPr>
          <a:xfrm>
            <a:off x="1143000" y="3200400"/>
            <a:ext cx="109728" cy="109728"/>
          </a:xfrm>
          <a:prstGeom prst="ellipse">
            <a:avLst/>
          </a:prstGeom>
          <a:solidFill>
            <a:srgbClr val="C8F236"/>
          </a:solidFill>
          <a:ln w="12700">
            <a:solidFill>
              <a:srgbClr val="C8F236"/>
            </a:solidFill>
            <a:prstDash val="solid"/>
          </a:ln>
        </p:spPr>
        <p:txBody>
          <a:bodyPr/>
          <a:lstStyle/>
          <a:p>
            <a:endParaRPr lang="en-US"/>
          </a:p>
        </p:txBody>
      </p:sp>
      <p:sp>
        <p:nvSpPr>
          <p:cNvPr id="21" name="Text 18"/>
          <p:cNvSpPr txBox="1"/>
          <p:nvPr/>
        </p:nvSpPr>
        <p:spPr>
          <a:xfrm>
            <a:off x="777240" y="3429000"/>
            <a:ext cx="7589520" cy="548640"/>
          </a:xfrm>
          <a:prstGeom prst="rect">
            <a:avLst/>
          </a:prstGeom>
          <a:noFill/>
          <a:ln/>
        </p:spPr>
        <p:txBody>
          <a:bodyPr wrap="square" lIns="0" tIns="0" rIns="0" bIns="0" rtlCol="0" anchor="ctr"/>
          <a:lstStyle/>
          <a:p>
            <a:pPr marL="0" indent="0">
              <a:buNone/>
            </a:pPr>
            <a:r>
              <a:rPr lang="en-US" sz="2600" dirty="0">
                <a:solidFill>
                  <a:srgbClr val="9CA3AF"/>
                </a:solidFill>
                <a:latin typeface="Courier New" pitchFamily="34" charset="0"/>
                <a:ea typeface="Courier New" pitchFamily="34" charset="-122"/>
                <a:cs typeface="Courier New" pitchFamily="34" charset="-120"/>
              </a:rPr>
              <a:t>&gt; </a:t>
            </a:r>
            <a:r>
              <a:rPr lang="en-US" sz="2600" b="1" dirty="0">
                <a:solidFill>
                  <a:srgbClr val="C8F236"/>
                </a:solidFill>
                <a:latin typeface="Courier New" pitchFamily="34" charset="0"/>
                <a:ea typeface="Courier New" pitchFamily="34" charset="-122"/>
                <a:cs typeface="Courier New" pitchFamily="34" charset="-120"/>
              </a:rPr>
              <a:t>Ship something ugly this week.</a:t>
            </a:r>
            <a:r>
              <a:rPr lang="en-US" sz="2600" dirty="0">
                <a:solidFill>
                  <a:srgbClr val="C8F236"/>
                </a:solidFill>
                <a:latin typeface="Courier New" pitchFamily="34" charset="0"/>
                <a:ea typeface="Courier New" pitchFamily="34" charset="-122"/>
                <a:cs typeface="Courier New" pitchFamily="34" charset="-120"/>
              </a:rPr>
              <a:t> ▌</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114"/>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marL="0" indent="0">
              <a:buNone/>
            </a:pPr>
            <a:r>
              <a:rPr lang="en-US" sz="900" kern="0" spc="200" dirty="0">
                <a:solidFill>
                  <a:srgbClr val="C8F236"/>
                </a:solidFill>
                <a:latin typeface="Courier New" pitchFamily="34" charset="0"/>
                <a:ea typeface="Courier New" pitchFamily="34" charset="-122"/>
                <a:cs typeface="Courier New" pitchFamily="34" charset="-120"/>
              </a:rPr>
              <a:t>ACT 7 · CLOSE</a:t>
            </a:r>
            <a:endParaRPr lang="en-US" sz="900" dirty="0"/>
          </a:p>
        </p:txBody>
      </p:sp>
      <p:sp>
        <p:nvSpPr>
          <p:cNvPr id="3" name="Text 1"/>
          <p:cNvSpPr txBox="1"/>
          <p:nvPr/>
        </p:nvSpPr>
        <p:spPr>
          <a:xfrm>
            <a:off x="7680960" y="292608"/>
            <a:ext cx="914400" cy="228600"/>
          </a:xfrm>
          <a:prstGeom prst="rect">
            <a:avLst/>
          </a:prstGeom>
          <a:noFill/>
          <a:ln/>
        </p:spPr>
        <p:txBody>
          <a:bodyPr wrap="square" lIns="0" tIns="0" rIns="0" bIns="0" rtlCol="0" anchor="t"/>
          <a:lstStyle/>
          <a:p>
            <a:pPr marL="0" indent="0" algn="r">
              <a:buNone/>
            </a:pPr>
            <a:r>
              <a:rPr lang="en-US" sz="900" dirty="0">
                <a:solidFill>
                  <a:srgbClr val="9CA3AF"/>
                </a:solidFill>
                <a:latin typeface="Courier New" pitchFamily="34" charset="0"/>
                <a:ea typeface="Courier New" pitchFamily="34" charset="-122"/>
                <a:cs typeface="Courier New" pitchFamily="34" charset="-120"/>
              </a:rPr>
              <a:t>24 / 24</a:t>
            </a:r>
            <a:endParaRPr lang="en-US" sz="900" dirty="0"/>
          </a:p>
        </p:txBody>
      </p:sp>
      <p:sp>
        <p:nvSpPr>
          <p:cNvPr id="4" name="Text 2"/>
          <p:cNvSpPr txBox="1"/>
          <p:nvPr/>
        </p:nvSpPr>
        <p:spPr>
          <a:xfrm>
            <a:off x="1735531" y="4709160"/>
            <a:ext cx="45354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1 Why</a:t>
            </a:r>
            <a:endParaRPr lang="en-US" sz="750" dirty="0"/>
          </a:p>
        </p:txBody>
      </p:sp>
      <p:sp>
        <p:nvSpPr>
          <p:cNvPr id="5" name="Text 3"/>
          <p:cNvSpPr txBox="1"/>
          <p:nvPr/>
        </p:nvSpPr>
        <p:spPr>
          <a:xfrm>
            <a:off x="2189074" y="4709160"/>
            <a:ext cx="85039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2 What it is</a:t>
            </a:r>
            <a:endParaRPr lang="en-US" sz="750" dirty="0"/>
          </a:p>
        </p:txBody>
      </p:sp>
      <p:sp>
        <p:nvSpPr>
          <p:cNvPr id="6" name="Text 4"/>
          <p:cNvSpPr txBox="1"/>
          <p:nvPr/>
        </p:nvSpPr>
        <p:spPr>
          <a:xfrm>
            <a:off x="3039466" y="4709160"/>
            <a:ext cx="453542"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3 How</a:t>
            </a:r>
            <a:endParaRPr lang="en-US" sz="750" dirty="0"/>
          </a:p>
        </p:txBody>
      </p:sp>
      <p:sp>
        <p:nvSpPr>
          <p:cNvPr id="7" name="Text 5"/>
          <p:cNvSpPr txBox="1"/>
          <p:nvPr/>
        </p:nvSpPr>
        <p:spPr>
          <a:xfrm>
            <a:off x="3493008" y="4709160"/>
            <a:ext cx="623621"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4 See it</a:t>
            </a:r>
            <a:endParaRPr lang="en-US" sz="750" dirty="0"/>
          </a:p>
        </p:txBody>
      </p:sp>
      <p:sp>
        <p:nvSpPr>
          <p:cNvPr id="8" name="Text 6"/>
          <p:cNvSpPr txBox="1"/>
          <p:nvPr/>
        </p:nvSpPr>
        <p:spPr>
          <a:xfrm>
            <a:off x="4116629"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5 Where it breaks</a:t>
            </a:r>
            <a:endParaRPr lang="en-US" sz="750" dirty="0"/>
          </a:p>
        </p:txBody>
      </p:sp>
      <p:sp>
        <p:nvSpPr>
          <p:cNvPr id="9" name="Text 7"/>
          <p:cNvSpPr txBox="1"/>
          <p:nvPr/>
        </p:nvSpPr>
        <p:spPr>
          <a:xfrm>
            <a:off x="5250485" y="4709160"/>
            <a:ext cx="1133856" cy="201168"/>
          </a:xfrm>
          <a:prstGeom prst="rect">
            <a:avLst/>
          </a:prstGeom>
          <a:noFill/>
          <a:ln/>
        </p:spPr>
        <p:txBody>
          <a:bodyPr wrap="square" lIns="0" tIns="0" rIns="0" bIns="0" rtlCol="0" anchor="ctr"/>
          <a:lstStyle/>
          <a:p>
            <a:pPr marL="0" indent="0" algn="ctr">
              <a:buNone/>
            </a:pPr>
            <a:r>
              <a:rPr lang="en-US" sz="750" dirty="0">
                <a:solidFill>
                  <a:srgbClr val="5B6270"/>
                </a:solidFill>
                <a:latin typeface="Courier New" pitchFamily="34" charset="0"/>
                <a:ea typeface="Courier New" pitchFamily="34" charset="-122"/>
                <a:cs typeface="Courier New" pitchFamily="34" charset="-120"/>
              </a:rPr>
              <a:t>6 When it matters</a:t>
            </a:r>
            <a:endParaRPr lang="en-US" sz="750" dirty="0"/>
          </a:p>
        </p:txBody>
      </p:sp>
      <p:sp>
        <p:nvSpPr>
          <p:cNvPr id="10" name="Text 8"/>
          <p:cNvSpPr txBox="1"/>
          <p:nvPr/>
        </p:nvSpPr>
        <p:spPr>
          <a:xfrm>
            <a:off x="6384341" y="4709160"/>
            <a:ext cx="566928" cy="201168"/>
          </a:xfrm>
          <a:prstGeom prst="rect">
            <a:avLst/>
          </a:prstGeom>
          <a:noFill/>
          <a:ln/>
        </p:spPr>
        <p:txBody>
          <a:bodyPr wrap="square" lIns="0" tIns="0" rIns="0" bIns="0" rtlCol="0" anchor="ctr"/>
          <a:lstStyle/>
          <a:p>
            <a:pPr marL="0" indent="0" algn="ctr">
              <a:buNone/>
            </a:pPr>
            <a:r>
              <a:rPr lang="en-US" sz="750" b="1" dirty="0">
                <a:solidFill>
                  <a:srgbClr val="C8F236"/>
                </a:solidFill>
                <a:latin typeface="Courier New" pitchFamily="34" charset="0"/>
                <a:ea typeface="Courier New" pitchFamily="34" charset="-122"/>
                <a:cs typeface="Courier New" pitchFamily="34" charset="-120"/>
              </a:rPr>
              <a:t>7 Close</a:t>
            </a:r>
            <a:endParaRPr lang="en-US" sz="750" dirty="0"/>
          </a:p>
        </p:txBody>
      </p:sp>
      <p:sp>
        <p:nvSpPr>
          <p:cNvPr id="11" name="Shape 9"/>
          <p:cNvSpPr/>
          <p:nvPr/>
        </p:nvSpPr>
        <p:spPr>
          <a:xfrm>
            <a:off x="6439205" y="4919472"/>
            <a:ext cx="457200" cy="27432"/>
          </a:xfrm>
          <a:prstGeom prst="rect">
            <a:avLst/>
          </a:prstGeom>
          <a:solidFill>
            <a:srgbClr val="C8F236"/>
          </a:solidFill>
          <a:ln w="12700">
            <a:solidFill>
              <a:srgbClr val="C8F236"/>
            </a:solidFill>
            <a:prstDash val="solid"/>
          </a:ln>
        </p:spPr>
        <p:txBody>
          <a:bodyPr/>
          <a:lstStyle/>
          <a:p>
            <a:endParaRPr lang="en-US"/>
          </a:p>
        </p:txBody>
      </p:sp>
      <p:sp>
        <p:nvSpPr>
          <p:cNvPr id="12" name="Shape 10"/>
          <p:cNvSpPr/>
          <p:nvPr/>
        </p:nvSpPr>
        <p:spPr>
          <a:xfrm>
            <a:off x="8028432" y="4389120"/>
            <a:ext cx="566928" cy="566928"/>
          </a:xfrm>
          <a:prstGeom prst="roundRect">
            <a:avLst>
              <a:gd name="adj" fmla="val 6452"/>
            </a:avLst>
          </a:prstGeom>
          <a:solidFill>
            <a:srgbClr val="FFFFFF"/>
          </a:solidFill>
          <a:ln w="9525">
            <a:solidFill>
              <a:srgbClr val="FFFFFF"/>
            </a:solidFill>
            <a:prstDash val="solid"/>
          </a:ln>
        </p:spPr>
        <p:txBody>
          <a:bodyPr/>
          <a:lstStyle/>
          <a:p>
            <a:endParaRPr lang="en-US"/>
          </a:p>
        </p:txBody>
      </p:sp>
      <p:pic>
        <p:nvPicPr>
          <p:cNvPr id="13" name="Image 0" descr="/Users/chaipinzheng/Dev/chai-second-brain/.claude/worktrees/vibe-coding-presentation-script-23726b/03-professional/talks/2026-09-13-intro-to-vibe-coding/qr-questions.png"/>
          <p:cNvPicPr>
            <a:picLocks noChangeAspect="1"/>
          </p:cNvPicPr>
          <p:nvPr/>
        </p:nvPicPr>
        <p:blipFill>
          <a:blip r:embed="rId3"/>
          <a:stretch>
            <a:fillRect/>
          </a:stretch>
        </p:blipFill>
        <p:spPr>
          <a:xfrm>
            <a:off x="8055864" y="4416552"/>
            <a:ext cx="512064" cy="512064"/>
          </a:xfrm>
          <a:prstGeom prst="rect">
            <a:avLst/>
          </a:prstGeom>
        </p:spPr>
      </p:pic>
      <p:sp>
        <p:nvSpPr>
          <p:cNvPr id="14" name="Text 11"/>
          <p:cNvSpPr txBox="1"/>
          <p:nvPr/>
        </p:nvSpPr>
        <p:spPr>
          <a:xfrm>
            <a:off x="6675120" y="4434840"/>
            <a:ext cx="1280160" cy="457200"/>
          </a:xfrm>
          <a:prstGeom prst="rect">
            <a:avLst/>
          </a:prstGeom>
          <a:noFill/>
          <a:ln/>
        </p:spPr>
        <p:txBody>
          <a:bodyPr wrap="square" lIns="0" tIns="0" rIns="0" bIns="0" rtlCol="0" anchor="ctr"/>
          <a:lstStyle/>
          <a:p>
            <a:pPr marL="0" indent="0" algn="r">
              <a:buNone/>
            </a:pPr>
            <a:r>
              <a:rPr lang="en-US" sz="800" b="1" dirty="0">
                <a:solidFill>
                  <a:srgbClr val="9CA3AF"/>
                </a:solidFill>
                <a:latin typeface="Calibri" pitchFamily="34" charset="0"/>
                <a:ea typeface="Calibri" pitchFamily="34" charset="-122"/>
                <a:cs typeface="Calibri" pitchFamily="34" charset="-120"/>
              </a:rPr>
              <a:t>Questions?</a:t>
            </a:r>
            <a:endParaRPr lang="en-US" sz="800" dirty="0"/>
          </a:p>
          <a:p>
            <a:pPr marL="0" indent="0" algn="r">
              <a:buNone/>
            </a:pPr>
            <a:r>
              <a:rPr lang="en-US" sz="800" dirty="0">
                <a:solidFill>
                  <a:srgbClr val="9CA3AF"/>
                </a:solidFill>
                <a:latin typeface="Calibri" pitchFamily="34" charset="0"/>
                <a:ea typeface="Calibri" pitchFamily="34" charset="-122"/>
                <a:cs typeface="Calibri" pitchFamily="34" charset="-120"/>
              </a:rPr>
              <a:t>Scan, ask anonymously</a:t>
            </a:r>
            <a:endParaRPr lang="en-US" sz="800" dirty="0"/>
          </a:p>
        </p:txBody>
      </p:sp>
      <p:sp>
        <p:nvSpPr>
          <p:cNvPr id="15" name="Text 12"/>
          <p:cNvSpPr txBox="1"/>
          <p:nvPr/>
        </p:nvSpPr>
        <p:spPr>
          <a:xfrm>
            <a:off x="548640" y="914400"/>
            <a:ext cx="5120640" cy="8229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Ask me anything.</a:t>
            </a:r>
            <a:endParaRPr lang="en-US" sz="4000" dirty="0"/>
          </a:p>
        </p:txBody>
      </p:sp>
      <p:sp>
        <p:nvSpPr>
          <p:cNvPr id="16" name="Text 13"/>
          <p:cNvSpPr txBox="1"/>
          <p:nvPr/>
        </p:nvSpPr>
        <p:spPr>
          <a:xfrm>
            <a:off x="548640" y="1691640"/>
            <a:ext cx="5120640" cy="1280160"/>
          </a:xfrm>
          <a:prstGeom prst="rect">
            <a:avLst/>
          </a:prstGeom>
          <a:noFill/>
          <a:ln/>
        </p:spPr>
        <p:txBody>
          <a:bodyPr wrap="square" lIns="0" tIns="0" rIns="0" bIns="0" rtlCol="0" anchor="t"/>
          <a:lstStyle/>
          <a:p>
            <a:pPr marL="0" indent="0">
              <a:buNone/>
            </a:pPr>
            <a:r>
              <a:rPr lang="en-US" sz="4000" b="1" dirty="0">
                <a:solidFill>
                  <a:srgbClr val="C8F236"/>
                </a:solidFill>
                <a:latin typeface="Cambria" pitchFamily="34" charset="0"/>
                <a:ea typeface="Cambria" pitchFamily="34" charset="-122"/>
                <a:cs typeface="Cambria" pitchFamily="34" charset="-120"/>
              </a:rPr>
              <a:t>Or ask me to build anything.</a:t>
            </a:r>
            <a:endParaRPr lang="en-US" sz="4000" dirty="0"/>
          </a:p>
        </p:txBody>
      </p:sp>
      <p:sp>
        <p:nvSpPr>
          <p:cNvPr id="17" name="Text 14"/>
          <p:cNvSpPr txBox="1"/>
          <p:nvPr/>
        </p:nvSpPr>
        <p:spPr>
          <a:xfrm>
            <a:off x="548640" y="3063240"/>
            <a:ext cx="4937760" cy="640080"/>
          </a:xfrm>
          <a:prstGeom prst="rect">
            <a:avLst/>
          </a:prstGeom>
          <a:noFill/>
          <a:ln/>
        </p:spPr>
        <p:txBody>
          <a:bodyPr wrap="square" lIns="0" tIns="0" rIns="0" bIns="0" rtlCol="0" anchor="t"/>
          <a:lstStyle/>
          <a:p>
            <a:pPr marL="0" indent="0">
              <a:buNone/>
            </a:pPr>
            <a:r>
              <a:rPr lang="en-US" sz="1300" dirty="0">
                <a:solidFill>
                  <a:srgbClr val="9CA3AF"/>
                </a:solidFill>
                <a:latin typeface="Calibri" pitchFamily="34" charset="0"/>
                <a:ea typeface="Calibri" pitchFamily="34" charset="-122"/>
                <a:cs typeface="Calibri" pitchFamily="34" charset="-120"/>
              </a:rPr>
              <a:t>Conceptual questions get short answers. "Can it do X?" gets built live while we take the next one.</a:t>
            </a:r>
            <a:endParaRPr lang="en-US" sz="1300" dirty="0"/>
          </a:p>
        </p:txBody>
      </p:sp>
      <p:sp>
        <p:nvSpPr>
          <p:cNvPr id="18" name="Text 15"/>
          <p:cNvSpPr txBox="1"/>
          <p:nvPr/>
        </p:nvSpPr>
        <p:spPr>
          <a:xfrm>
            <a:off x="548640" y="3840480"/>
            <a:ext cx="5486400" cy="274320"/>
          </a:xfrm>
          <a:prstGeom prst="rect">
            <a:avLst/>
          </a:prstGeom>
          <a:noFill/>
          <a:ln/>
        </p:spPr>
        <p:txBody>
          <a:bodyPr wrap="square" lIns="0" tIns="0" rIns="0" bIns="0" rtlCol="0" anchor="t"/>
          <a:lstStyle/>
          <a:p>
            <a:pPr marL="0" indent="0">
              <a:buNone/>
            </a:pPr>
            <a:r>
              <a:rPr lang="en-US" sz="1050" dirty="0">
                <a:solidFill>
                  <a:srgbClr val="FFFFFF"/>
                </a:solidFill>
                <a:latin typeface="Courier New" pitchFamily="34" charset="0"/>
                <a:ea typeface="Courier New" pitchFamily="34" charset="-122"/>
                <a:cs typeface="Courier New" pitchFamily="34" charset="-120"/>
              </a:rPr>
              <a:t>github.com/Ducksss  ·  linkedin.com/in/chai-pin-zheng  ·  [email]</a:t>
            </a:r>
            <a:endParaRPr lang="en-US" sz="1050" dirty="0"/>
          </a:p>
        </p:txBody>
      </p:sp>
      <p:sp>
        <p:nvSpPr>
          <p:cNvPr id="19" name="Text 16"/>
          <p:cNvSpPr txBox="1"/>
          <p:nvPr/>
        </p:nvSpPr>
        <p:spPr>
          <a:xfrm>
            <a:off x="548640" y="4187952"/>
            <a:ext cx="5486400" cy="411480"/>
          </a:xfrm>
          <a:prstGeom prst="rect">
            <a:avLst/>
          </a:prstGeom>
          <a:noFill/>
          <a:ln/>
        </p:spPr>
        <p:txBody>
          <a:bodyPr wrap="square" lIns="0" tIns="0" rIns="0" bIns="0" rtlCol="0" anchor="t"/>
          <a:lstStyle/>
          <a:p>
            <a:pPr marL="0" indent="0">
              <a:buNone/>
            </a:pPr>
            <a:r>
              <a:rPr lang="en-US" sz="850" dirty="0">
                <a:solidFill>
                  <a:srgbClr val="9CA3AF"/>
                </a:solidFill>
                <a:latin typeface="Calibri" pitchFamily="34" charset="0"/>
                <a:ea typeface="Calibri" pitchFamily="34" charset="-122"/>
                <a:cs typeface="Calibri" pitchFamily="34" charset="-120"/>
              </a:rPr>
              <a:t>Some slides adapted from Damian Gordon, "Introduction to Vibe Coding and Vibe Engineering" (SlideShare). Quotes: Karpathy, Feb 2025; Collins Dictionary, Nov 2025; Y Combinator, Mar 2025.</a:t>
            </a:r>
            <a:endParaRPr lang="en-US" sz="850" dirty="0"/>
          </a:p>
        </p:txBody>
      </p:sp>
      <p:sp>
        <p:nvSpPr>
          <p:cNvPr id="20" name="Shape 17"/>
          <p:cNvSpPr/>
          <p:nvPr/>
        </p:nvSpPr>
        <p:spPr>
          <a:xfrm>
            <a:off x="6035040" y="1097280"/>
            <a:ext cx="2560320" cy="2560320"/>
          </a:xfrm>
          <a:prstGeom prst="roundRect">
            <a:avLst>
              <a:gd name="adj" fmla="val 1786"/>
            </a:avLst>
          </a:prstGeom>
          <a:solidFill>
            <a:srgbClr val="1B1F26"/>
          </a:solidFill>
          <a:ln w="9525">
            <a:solidFill>
              <a:srgbClr val="9CA3AF"/>
            </a:solidFill>
            <a:prstDash val="dash"/>
          </a:ln>
        </p:spPr>
        <p:txBody>
          <a:bodyPr/>
          <a:lstStyle/>
          <a:p>
            <a:endParaRPr lang="en-US"/>
          </a:p>
        </p:txBody>
      </p:sp>
      <p:sp>
        <p:nvSpPr>
          <p:cNvPr id="21" name="Text 18"/>
          <p:cNvSpPr txBox="1"/>
          <p:nvPr/>
        </p:nvSpPr>
        <p:spPr>
          <a:xfrm>
            <a:off x="6035040" y="1097280"/>
            <a:ext cx="2560320" cy="2560320"/>
          </a:xfrm>
          <a:prstGeom prst="rect">
            <a:avLst/>
          </a:prstGeom>
          <a:noFill/>
          <a:ln/>
        </p:spPr>
        <p:txBody>
          <a:bodyPr wrap="square" lIns="635" tIns="635" rIns="635" bIns="635" rtlCol="0" anchor="ctr"/>
          <a:lstStyle/>
          <a:p>
            <a:pPr marL="0" indent="0" algn="ctr">
              <a:buNone/>
            </a:pPr>
            <a:r>
              <a:rPr lang="en-US" sz="900" dirty="0">
                <a:solidFill>
                  <a:srgbClr val="9CA3AF"/>
                </a:solidFill>
                <a:latin typeface="Courier New" pitchFamily="34" charset="0"/>
                <a:ea typeface="Courier New" pitchFamily="34" charset="-122"/>
                <a:cs typeface="Courier New" pitchFamily="34" charset="-120"/>
              </a:rPr>
              <a:t>QR</a:t>
            </a:r>
            <a:endParaRPr lang="en-US" sz="900" dirty="0"/>
          </a:p>
          <a:p>
            <a:pPr marL="0" indent="0" algn="ctr">
              <a:buNone/>
            </a:pPr>
            <a:endParaRPr lang="en-US" sz="900" dirty="0"/>
          </a:p>
          <a:p>
            <a:pPr marL="0" indent="0" algn="ctr">
              <a:buNone/>
            </a:pPr>
            <a:r>
              <a:rPr lang="en-US" sz="900" dirty="0">
                <a:solidFill>
                  <a:srgbClr val="9CA3AF"/>
                </a:solidFill>
                <a:latin typeface="Courier New" pitchFamily="34" charset="0"/>
                <a:ea typeface="Courier New" pitchFamily="34" charset="-122"/>
                <a:cs typeface="Courier New" pitchFamily="34" charset="-120"/>
              </a:rPr>
              <a:t>questions · worksheet</a:t>
            </a:r>
            <a:endParaRPr lang="en-US" sz="900" dirty="0"/>
          </a:p>
          <a:p>
            <a:pPr marL="0" indent="0" algn="ctr">
              <a:buNone/>
            </a:pPr>
            <a:r>
              <a:rPr lang="en-US" sz="900" dirty="0">
                <a:solidFill>
                  <a:srgbClr val="9CA3AF"/>
                </a:solidFill>
                <a:latin typeface="Courier New" pitchFamily="34" charset="0"/>
                <a:ea typeface="Courier New" pitchFamily="34" charset="-122"/>
                <a:cs typeface="Courier New" pitchFamily="34" charset="-120"/>
              </a:rPr>
              <a:t>resources · feedback</a:t>
            </a:r>
            <a:endParaRPr lang="en-US" sz="900" dirty="0"/>
          </a:p>
        </p:txBody>
      </p:sp>
      <p:sp>
        <p:nvSpPr>
          <p:cNvPr id="22" name="Text 19"/>
          <p:cNvSpPr txBox="1"/>
          <p:nvPr/>
        </p:nvSpPr>
        <p:spPr>
          <a:xfrm>
            <a:off x="6035040" y="3749040"/>
            <a:ext cx="2560320" cy="320040"/>
          </a:xfrm>
          <a:prstGeom prst="rect">
            <a:avLst/>
          </a:prstGeom>
          <a:noFill/>
          <a:ln/>
        </p:spPr>
        <p:txBody>
          <a:bodyPr wrap="square" lIns="0" tIns="0" rIns="0" bIns="0" rtlCol="0" anchor="t"/>
          <a:lstStyle/>
          <a:p>
            <a:pPr marL="0" indent="0" algn="ctr">
              <a:buNone/>
            </a:pPr>
            <a:r>
              <a:rPr lang="en-US" sz="1200" dirty="0">
                <a:solidFill>
                  <a:srgbClr val="9CA3AF"/>
                </a:solidFill>
                <a:latin typeface="Calibri" pitchFamily="34" charset="0"/>
                <a:ea typeface="Calibri" pitchFamily="34" charset="-122"/>
                <a:cs typeface="Calibri" pitchFamily="34" charset="-120"/>
              </a:rPr>
              <a:t>Everything from today, one link</a:t>
            </a:r>
            <a:endParaRPr lang="en-US" sz="1200" dirty="0"/>
          </a:p>
        </p:txBody>
      </p:sp>
      <p:pic>
        <p:nvPicPr>
          <p:cNvPr id="23" name="Image 0" descr="/Users/chaipinzheng/Dev/chai-second-brain/.claude/worktrees/vibe-coding-presentation-script-23726b/03-professional/talks/2026-09-13-intro-to-vibe-coding/qr-questions.png">
            <a:extLst>
              <a:ext uri="{FF2B5EF4-FFF2-40B4-BE49-F238E27FC236}">
                <a16:creationId xmlns:a16="http://schemas.microsoft.com/office/drawing/2014/main" id="{A2F8FFB4-20C9-DFBA-CD67-49A99C39A520}"/>
              </a:ext>
            </a:extLst>
          </p:cNvPr>
          <p:cNvPicPr>
            <a:picLocks noChangeAspect="1"/>
          </p:cNvPicPr>
          <p:nvPr/>
        </p:nvPicPr>
        <p:blipFill>
          <a:blip r:embed="rId3"/>
          <a:stretch>
            <a:fillRect/>
          </a:stretch>
        </p:blipFill>
        <p:spPr>
          <a:xfrm>
            <a:off x="6035040" y="1097280"/>
            <a:ext cx="2578608" cy="25786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7928</Words>
  <Application>Microsoft Macintosh PowerPoint</Application>
  <PresentationFormat>On-screen Show (16:9)</PresentationFormat>
  <Paragraphs>602</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Vibe Coding</dc:title>
  <dc:subject>PptxGenJS Presentation</dc:subject>
  <dc:creator>Chai Pin Zheng</dc:creator>
  <cp:lastModifiedBy>Chai Pin Zheng</cp:lastModifiedBy>
  <cp:revision>2</cp:revision>
  <dcterms:created xsi:type="dcterms:W3CDTF">2026-09-13T03:13:39Z</dcterms:created>
  <dcterms:modified xsi:type="dcterms:W3CDTF">2026-09-13T07:33:33Z</dcterms:modified>
</cp:coreProperties>
</file>