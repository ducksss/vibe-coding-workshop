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2" r:id="rId7"/>
    <p:sldId id="281" r:id="rId8"/>
    <p:sldId id="263" r:id="rId9"/>
    <p:sldId id="282"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592"/>
    <p:restoredTop sz="72145"/>
  </p:normalViewPr>
  <p:slideViewPr>
    <p:cSldViewPr snapToGrid="0">
      <p:cViewPr>
        <p:scale>
          <a:sx n="65" d="100"/>
          <a:sy n="65" d="100"/>
        </p:scale>
        <p:origin x="488" y="6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workshop as a practical exploration of describing software, checking what AI builds, and taking responsibility for the result.</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 Brain: 05-knowledge/people/chai-pin-zheng.md, updated 10 September 2026; 03-professional/community/community-events-context-2026-09-04.md.</a:t>
            </a:r>
          </a:p>
          <a:p>
            <a:r>
              <a:t>Introduce yourself through the products you build. NUS Year 2 Computer Science and Reactor School are current owner-confirmed descriptions. Reactor work covers programme and alumni operations. Resumify co-founder status is owner-confirmed. Six first-place finishes: AverixHacks 2026, HackOMania 2024, Code for Change 2023, Innovate2Educate 2023, HackLah 2023, NUS LifeHack 2023. Additional community context: technical lead and co-organiser of The LaunchPad Challenge, technology/scaling at The Collective, and co-host of Sip &amp; Scale Saigon. Portrait: owner-supplied canonical profile photo, 3 September 2026.</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goal is to leave with a working small prototype and a way to judge its behaviour. Use the README in this workshop repository for the complete prompts.</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term can mean different things. In this workshop it describes a prompt-led way to explore software by describing the desired result, running what AI generates, and refining through feedback. In the stricter usage, the developer pays little attention to the underlying code. Adding deliberate review and verification moves the practice toward engineering. Avoid implying that every use of AI for code is vibe coding.</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personal shopper interprets the look you want, suggests outfits and responds to feedback. The analogy explains iteration. It does not imply AI has human judgment or that a visually pleasing app is technically sound.</a:t>
            </a:r>
          </a:p>
          <a:p>
            <a:endParaRPr dirty="0"/>
          </a:p>
          <a:p>
            <a:r>
              <a:rPr dirty="0"/>
              <a:t>Adapted from Damian Gordon, Introduction to Vibe Coding and Vibe Engineering. https://</a:t>
            </a:r>
            <a:r>
              <a:rPr dirty="0" err="1"/>
              <a:t>www.slideshare.net</a:t>
            </a:r>
            <a:r>
              <a:rPr dirty="0"/>
              <a: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Examples, not a ranking. Choose according to your starting point and how much code control you need. Product names checked September 2026. Cursor Agent can edit files and run commands: https://cursor.com/docs/agent/overview . Replit Agent builds apps from chat: https://replit.com/products/agent . Lovable turns prompts into apps: https://docs.lovable.dev/tips-tricks/from-idea-to-app . Ordinary chat can help with planning and snippets, but execution depends on the environment and available tools.</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68249-2C01-C2CA-3629-BF114A1E9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B9D0C-9FD0-E5D4-DFB3-C61F13E171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3B6681-6408-46B1-08BC-C3A5722A4212}"/>
              </a:ext>
            </a:extLst>
          </p:cNvPr>
          <p:cNvSpPr>
            <a:spLocks noGrp="1"/>
          </p:cNvSpPr>
          <p:nvPr>
            <p:ph type="body" idx="1"/>
          </p:nvPr>
        </p:nvSpPr>
        <p:spPr/>
        <p:txBody>
          <a:bodyPr/>
          <a:lstStyle/>
          <a:p>
            <a:r>
              <a:t>Examples, not a ranking. Choose according to your starting point and how much code control you need. Product names checked September 2026. Cursor Agent can edit files and run commands: https://cursor.com/docs/agent/overview . Replit Agent builds apps from chat: https://replit.com/products/agent . Lovable turns prompts into apps: https://docs.lovable.dev/tips-tricks/from-idea-to-app . Ordinary chat can help with planning and snippets, but execution depends on the environment and available tools.</a:t>
            </a:r>
          </a:p>
          <a:p>
            <a:endParaRPr/>
          </a:p>
          <a:p>
            <a:r>
              <a:t>Adapted from Damian Gordon, Introduction to Vibe Coding and Vibe Engineering. https://www.slideshare.net/slideshow/introduction-to-vibe-coding-and-vibe-engineering-ffb1/278597288</a:t>
            </a:r>
          </a:p>
        </p:txBody>
      </p:sp>
      <p:sp>
        <p:nvSpPr>
          <p:cNvPr id="4" name="Slide Number Placeholder 3">
            <a:extLst>
              <a:ext uri="{FF2B5EF4-FFF2-40B4-BE49-F238E27FC236}">
                <a16:creationId xmlns:a16="http://schemas.microsoft.com/office/drawing/2014/main" id="{94E9952E-923F-A7A9-5C46-2DC973B493E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08731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source prompt guide separates intent, vibe, constraints and output format. Add acceptance checks so the audience can distinguish an attractive draft from a correct result.</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76B32-BAF7-1C65-F050-48CE82DB1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CEAE7-8624-E5AD-B370-B4ABAF1B2D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CCB63A-009E-79CC-7515-3913E5152DBE}"/>
              </a:ext>
            </a:extLst>
          </p:cNvPr>
          <p:cNvSpPr>
            <a:spLocks noGrp="1"/>
          </p:cNvSpPr>
          <p:nvPr>
            <p:ph type="body" idx="1"/>
          </p:nvPr>
        </p:nvSpPr>
        <p:spPr/>
        <p:txBody>
          <a:bodyPr/>
          <a:lstStyle/>
          <a:p>
            <a:r>
              <a:t>This is the exact vague prompt from the workshop README. Do not promise it will create a bad-looking page. It leaves many choices unspecified and can still produce a good result. Ask the audience which decisions the AI must now make.</a:t>
            </a:r>
          </a:p>
          <a:p>
            <a:endParaRPr/>
          </a:p>
          <a:p>
            <a:r>
              <a:t>Adapted from Damian Gordon, Introduction to Vibe Coding and Vibe Engineering. https://www.slideshare.net/slideshow/introduction-to-vibe-coding-and-vibe-engineering-ffb1/278597288</a:t>
            </a:r>
          </a:p>
        </p:txBody>
      </p:sp>
      <p:sp>
        <p:nvSpPr>
          <p:cNvPr id="4" name="Slide Number Placeholder 3">
            <a:extLst>
              <a:ext uri="{FF2B5EF4-FFF2-40B4-BE49-F238E27FC236}">
                <a16:creationId xmlns:a16="http://schemas.microsoft.com/office/drawing/2014/main" id="{BFC041B8-4764-BE96-A3CC-78579675C87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76737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Condensed teaching version of README.md. The full exact prompt is in the workshop repository and should be copied from there during the exercise. It specifies the navigation, hero, breathing circle, three benefits, footer, 60-second timer, five-second cues, start/pause/reset controls, mobile layout and accessibility. No login, backend or paid services.</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the source deck’s visual, motion, tone and style vocabulary. These are starting points, not acceptance criteria. Pair subjective words with a reference or observable design decision.</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Refine one dimension at a time. State what to preserve when changing another part. Stack changes can have broad consequences, so request them deliberately.</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the first version small. Give the model the relevant context and constraints. Run each iteration and inspect the actual behaviour. Save a working checkpoint before broader changes. Human review remains part of the loop.</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Discuss risks without implying that every generated result has them. A plausible explanation is not proof. Diagnose failures from real behaviour and logs. Limit access and check data flows. Rights, dependencies and attribution require review before release. This is an engineering checklist, not legal advice.</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Preserve the source’s error categories: contradictions, repetition, ambiguity, stereotyping, hallucinations, bias, overgeneralisation and toxicity. Group them into observable review questions. These are possible failure modes, not a claim that every model output exhibits them.</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source describes accessibility, efficiency and creativity. Present these as possible benefits, not guaranteed productivity improvements. Results depend on the task, the tools and the user’s ability to evaluate the output.</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vibe engineering means using AI within an accountable delivery process. A solo developer can use these practices too. Terminology varies, and agentic engineering is also common. Further reading: https://simonwillison.net/2025/Oct/7/vibe-engineering/</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teaching comparison, not a universal taxonomy. Tools overlap and an individual can work with engineering discipline. The source frames the distinction around individual productivity versus organisational transformation; the practical distinction is the delivery process. https://simonwillison.net/2025/Oct/7/vibe-engineering/</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source identifies defined AI responsibilities, verification-driven development, structured workflows, knowledge capture and human strategic direction. Explain each in operational terms. A passing test is evidence about the case it covers, not universal correctness.</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a feature as work moves between a human, an agent and the checks. Retain relevant decisions in the repository so the next iteration starts with usable context. https://simonwillison.net/2025/Oct/7/vibe-engineering/</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source separates code generation, test generation, context and organisation-wide collaboration. Current tooling combines these capabilities. Cursor can edit and run commands: https://cursor.com/docs/agent/overview . GitHub Copilot supports code review: https://docs.github.com/en/copilot/concepts/agents/code-review . Tool capability alone does not establish a reliable process.</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Discuss potential organisational implications rather than predicting that every team will reorganise the same way. People may spend less time on repetitive implementation and more on specification, review, architecture and operations. Establish ownership and access boundaries. Measure reliability and delivered value, not the volume of generated code.</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full vague and specific prompts in README.md. Start two fresh projects with the same tool and model, run one prompt in each, then compare appearance, behaviour and mobile layout. Results vary. A vague prompt can still create an attractive page. Missing features in that version illustrate unspecified requirements, not a failure to follow its brief.</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these checks against the specific prompt. Run them rather than accepting a generated claim. Timer checks include start, pause, reset to 60 seconds, alternating cues every five seconds and the final completion message. On mobile check stacked layout and no horizontal overflow. Test keyboard operation and reduced-motion preference.</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 about the comparison, prompting, debugging and the boundary between exploration and production delivery. Public GitHub profile: https://github.com/Ducksss . Original learning material by Damian Gordon; the full source URL is retained below.</a:t>
            </a:r>
          </a:p>
          <a:p>
            <a:endParaRPr/>
          </a:p>
          <a:p>
            <a:r>
              <a:t>Adapted from Damian Gordon, Introduction to Vibe Coding and Vibe Engineering. https://www.slideshare.net/slideshow/introduction-to-vibe-coding-and-vibe-engineering-ffb1/278597288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hyperlink" Target="https://github.com/Duckss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1716"/>
        </a:solidFill>
        <a:effectLst/>
      </p:bgPr>
    </p:bg>
    <p:spTree>
      <p:nvGrpSpPr>
        <p:cNvPr id="1" name=""/>
        <p:cNvGrpSpPr/>
        <p:nvPr/>
      </p:nvGrpSpPr>
      <p:grpSpPr>
        <a:xfrm>
          <a:off x="0" y="0"/>
          <a:ext cx="0" cy="0"/>
          <a:chOff x="0" y="0"/>
          <a:chExt cx="0" cy="0"/>
        </a:xfrm>
      </p:grpSpPr>
      <p:sp>
        <p:nvSpPr>
          <p:cNvPr id="9" name="01">
            <a:extLst>
              <a:ext uri="{FF2B5EF4-FFF2-40B4-BE49-F238E27FC236}">
                <a16:creationId xmlns:a16="http://schemas.microsoft.com/office/drawing/2014/main" id="{9C3D8B75-CCBF-49A6-820C-09A61F914ED8}"/>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A9B0A7"/>
                </a:solidFill>
                <a:latin typeface="JetBrains Mono"/>
                <a:ea typeface="JetBrains Mono"/>
                <a:cs typeface="JetBrains Mono"/>
              </a:defRPr>
            </a:pPr>
            <a:r>
              <a:rPr sz="1275" b="0">
                <a:solidFill>
                  <a:srgbClr val="A9B0A7"/>
                </a:solidFill>
                <a:latin typeface="JetBrains Mono"/>
                <a:ea typeface="JetBrains Mono"/>
                <a:cs typeface="JetBrains Mono"/>
              </a:rPr>
              <a:t>01</a:t>
            </a:r>
          </a:p>
        </p:txBody>
      </p:sp>
      <p:pic>
        <p:nvPicPr>
          <p:cNvPr id="10" name="Picture 9"/>
          <p:cNvPicPr>
            <a:picLocks noChangeAspect="1"/>
          </p:cNvPicPr>
          <p:nvPr/>
        </p:nvPicPr>
        <p:blipFill>
          <a:blip r:embed="rId3"/>
          <a:srcRect t="27" b="27"/>
          <a:stretch>
            <a:fillRect/>
          </a:stretch>
        </p:blipFill>
        <p:spPr>
          <a:xfrm>
            <a:off x="0" y="0"/>
            <a:ext cx="12192000" cy="6858000"/>
          </a:xfrm>
          <a:prstGeom prst="rect">
            <a:avLst/>
          </a:prstGeom>
        </p:spPr>
      </p:pic>
      <p:sp>
        <p:nvSpPr>
          <p:cNvPr id="3" name="A HANDS-ON INTRODUCTION">
            <a:extLst>
              <a:ext uri="{FF2B5EF4-FFF2-40B4-BE49-F238E27FC236}">
                <a16:creationId xmlns:a16="http://schemas.microsoft.com/office/drawing/2014/main" id="{99F76F60-BA19-4A96-B0B7-28524209973A}"/>
              </a:ext>
            </a:extLst>
          </p:cNvPr>
          <p:cNvSpPr>
            <a:spLocks noGrp="1"/>
          </p:cNvSpPr>
          <p:nvPr/>
        </p:nvSpPr>
        <p:spPr>
          <a:xfrm>
            <a:off x="609600" y="552450"/>
            <a:ext cx="6762750"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A HANDS-ON INTRODUCTION</a:t>
            </a:r>
          </a:p>
        </p:txBody>
      </p:sp>
      <p:sp>
        <p:nvSpPr>
          <p:cNvPr id="4" name="Vibe coding">
            <a:extLst>
              <a:ext uri="{FF2B5EF4-FFF2-40B4-BE49-F238E27FC236}">
                <a16:creationId xmlns:a16="http://schemas.microsoft.com/office/drawing/2014/main" id="{B58F8A6F-8F94-40CF-BC83-DD6DB2C6D6AB}"/>
              </a:ext>
            </a:extLst>
          </p:cNvPr>
          <p:cNvSpPr>
            <a:spLocks noGrp="1"/>
          </p:cNvSpPr>
          <p:nvPr/>
        </p:nvSpPr>
        <p:spPr>
          <a:xfrm>
            <a:off x="609600" y="1733550"/>
            <a:ext cx="7429500" cy="1028700"/>
          </a:xfrm>
          <a:prstGeom prst="rect">
            <a:avLst/>
          </a:prstGeom>
          <a:noFill/>
          <a:ln w="0">
            <a:noFill/>
          </a:ln>
        </p:spPr>
        <p:txBody>
          <a:bodyPr wrap="square" lIns="0" tIns="0" rIns="0" bIns="0">
            <a:noAutofit/>
          </a:bodyPr>
          <a:lstStyle/>
          <a:p>
            <a:pPr>
              <a:defRPr sz="6600" b="1">
                <a:solidFill>
                  <a:srgbClr val="F3F1E9"/>
                </a:solidFill>
                <a:latin typeface="Avenir Next"/>
                <a:ea typeface="Avenir Next"/>
                <a:cs typeface="Avenir Next"/>
              </a:defRPr>
            </a:pPr>
            <a:r>
              <a:rPr sz="6600" b="1">
                <a:solidFill>
                  <a:srgbClr val="F3F1E9"/>
                </a:solidFill>
                <a:latin typeface="Avenir Next"/>
                <a:ea typeface="Avenir Next"/>
                <a:cs typeface="Avenir Next"/>
              </a:rPr>
              <a:t>Vibe coding</a:t>
            </a:r>
          </a:p>
        </p:txBody>
      </p:sp>
      <p:sp>
        <p:nvSpPr>
          <p:cNvPr id="5" name="&amp; vibe">
            <a:extLst>
              <a:ext uri="{FF2B5EF4-FFF2-40B4-BE49-F238E27FC236}">
                <a16:creationId xmlns:a16="http://schemas.microsoft.com/office/drawing/2014/main" id="{EEECD74E-DD3C-431C-A6CD-88871424E5EE}"/>
              </a:ext>
            </a:extLst>
          </p:cNvPr>
          <p:cNvSpPr>
            <a:spLocks noGrp="1"/>
          </p:cNvSpPr>
          <p:nvPr/>
        </p:nvSpPr>
        <p:spPr>
          <a:xfrm>
            <a:off x="609600" y="2724150"/>
            <a:ext cx="6762750" cy="1028700"/>
          </a:xfrm>
          <a:prstGeom prst="rect">
            <a:avLst/>
          </a:prstGeom>
          <a:noFill/>
          <a:ln w="0">
            <a:noFill/>
          </a:ln>
        </p:spPr>
        <p:txBody>
          <a:bodyPr wrap="square" lIns="0" tIns="0" rIns="0" bIns="0">
            <a:noAutofit/>
          </a:bodyPr>
          <a:lstStyle/>
          <a:p>
            <a:pPr>
              <a:defRPr sz="6600" b="1">
                <a:solidFill>
                  <a:srgbClr val="F3F1E9"/>
                </a:solidFill>
                <a:latin typeface="Avenir Next"/>
                <a:ea typeface="Avenir Next"/>
                <a:cs typeface="Avenir Next"/>
              </a:defRPr>
            </a:pPr>
            <a:r>
              <a:rPr sz="6600" b="1">
                <a:solidFill>
                  <a:srgbClr val="F3F1E9"/>
                </a:solidFill>
                <a:latin typeface="Avenir Next"/>
                <a:ea typeface="Avenir Next"/>
                <a:cs typeface="Avenir Next"/>
              </a:rPr>
              <a:t>&amp; vibe</a:t>
            </a:r>
          </a:p>
        </p:txBody>
      </p:sp>
      <p:sp>
        <p:nvSpPr>
          <p:cNvPr id="6" name="engineering">
            <a:extLst>
              <a:ext uri="{FF2B5EF4-FFF2-40B4-BE49-F238E27FC236}">
                <a16:creationId xmlns:a16="http://schemas.microsoft.com/office/drawing/2014/main" id="{B3540777-324F-445D-9222-4F7C11288E9A}"/>
              </a:ext>
            </a:extLst>
          </p:cNvPr>
          <p:cNvSpPr>
            <a:spLocks noGrp="1"/>
          </p:cNvSpPr>
          <p:nvPr/>
        </p:nvSpPr>
        <p:spPr>
          <a:xfrm>
            <a:off x="609600" y="3714750"/>
            <a:ext cx="7715250" cy="1028700"/>
          </a:xfrm>
          <a:prstGeom prst="rect">
            <a:avLst/>
          </a:prstGeom>
          <a:noFill/>
          <a:ln w="0">
            <a:noFill/>
          </a:ln>
        </p:spPr>
        <p:txBody>
          <a:bodyPr wrap="square" lIns="0" tIns="0" rIns="0" bIns="0">
            <a:noAutofit/>
          </a:bodyPr>
          <a:lstStyle/>
          <a:p>
            <a:pPr>
              <a:defRPr sz="6600" b="1">
                <a:solidFill>
                  <a:srgbClr val="D2F85A"/>
                </a:solidFill>
                <a:latin typeface="Avenir Next"/>
                <a:ea typeface="Avenir Next"/>
                <a:cs typeface="Avenir Next"/>
              </a:defRPr>
            </a:pPr>
            <a:r>
              <a:rPr sz="6600" b="1">
                <a:solidFill>
                  <a:srgbClr val="D2F85A"/>
                </a:solidFill>
                <a:latin typeface="Avenir Next"/>
                <a:ea typeface="Avenir Next"/>
                <a:cs typeface="Avenir Next"/>
              </a:rPr>
              <a:t>engineering</a:t>
            </a:r>
          </a:p>
        </p:txBody>
      </p:sp>
      <p:sp>
        <p:nvSpPr>
          <p:cNvPr id="7" name="Chai Pin Zheng">
            <a:extLst>
              <a:ext uri="{FF2B5EF4-FFF2-40B4-BE49-F238E27FC236}">
                <a16:creationId xmlns:a16="http://schemas.microsoft.com/office/drawing/2014/main" id="{CA896CD0-B3C2-4404-A462-616D25ABE352}"/>
              </a:ext>
            </a:extLst>
          </p:cNvPr>
          <p:cNvSpPr>
            <a:spLocks noGrp="1"/>
          </p:cNvSpPr>
          <p:nvPr/>
        </p:nvSpPr>
        <p:spPr>
          <a:xfrm>
            <a:off x="638175" y="5553075"/>
            <a:ext cx="6191250" cy="371475"/>
          </a:xfrm>
          <a:prstGeom prst="rect">
            <a:avLst/>
          </a:prstGeom>
          <a:noFill/>
          <a:ln w="0">
            <a:noFill/>
          </a:ln>
        </p:spPr>
        <p:txBody>
          <a:bodyPr wrap="square" lIns="0" tIns="0" rIns="0" bIns="0">
            <a:noAutofit/>
          </a:bodyPr>
          <a:lstStyle/>
          <a:p>
            <a:pPr>
              <a:defRPr sz="2025" b="1">
                <a:solidFill>
                  <a:srgbClr val="F3F1E9"/>
                </a:solidFill>
                <a:latin typeface="Avenir Next"/>
                <a:ea typeface="Avenir Next"/>
                <a:cs typeface="Avenir Next"/>
              </a:defRPr>
            </a:pPr>
            <a:r>
              <a:rPr sz="2025" b="1">
                <a:solidFill>
                  <a:srgbClr val="F3F1E9"/>
                </a:solidFill>
                <a:latin typeface="Avenir Next"/>
                <a:ea typeface="Avenir Next"/>
                <a:cs typeface="Avenir Next"/>
              </a:rPr>
              <a:t>Chai Pin Zheng</a:t>
            </a:r>
          </a:p>
        </p:txBody>
      </p:sp>
      <p:sp>
        <p:nvSpPr>
          <p:cNvPr id="8" name="Reactor School">
            <a:extLst>
              <a:ext uri="{FF2B5EF4-FFF2-40B4-BE49-F238E27FC236}">
                <a16:creationId xmlns:a16="http://schemas.microsoft.com/office/drawing/2014/main" id="{D826873E-0D40-44C3-B2AB-AC3F27FC1F53}"/>
              </a:ext>
            </a:extLst>
          </p:cNvPr>
          <p:cNvSpPr>
            <a:spLocks noGrp="1"/>
          </p:cNvSpPr>
          <p:nvPr/>
        </p:nvSpPr>
        <p:spPr>
          <a:xfrm>
            <a:off x="638175" y="5972175"/>
            <a:ext cx="6191250" cy="333375"/>
          </a:xfrm>
          <a:prstGeom prst="rect">
            <a:avLst/>
          </a:prstGeom>
          <a:noFill/>
          <a:ln w="0">
            <a:noFill/>
          </a:ln>
        </p:spPr>
        <p:txBody>
          <a:bodyPr wrap="square" lIns="0" tIns="0" rIns="0" bIns="0">
            <a:noAutofit/>
          </a:bodyPr>
          <a:lstStyle/>
          <a:p>
            <a:pPr>
              <a:defRPr sz="1725" b="0">
                <a:solidFill>
                  <a:srgbClr val="A9B0A7"/>
                </a:solidFill>
                <a:latin typeface="Avenir Next"/>
                <a:ea typeface="Avenir Next"/>
                <a:cs typeface="Avenir Next"/>
              </a:defRPr>
            </a:pPr>
            <a:r>
              <a:rPr sz="1725" b="0">
                <a:solidFill>
                  <a:srgbClr val="A9B0A7"/>
                </a:solidFill>
                <a:latin typeface="Avenir Next"/>
                <a:ea typeface="Avenir Next"/>
                <a:cs typeface="Avenir Next"/>
              </a:rPr>
              <a:t>Reactor School</a:t>
            </a:r>
          </a:p>
        </p:txBody>
      </p:sp>
    </p:spTree>
    <p:extLst>
      <p:ext uri="{BB962C8B-B14F-4D97-AF65-F5344CB8AC3E}">
        <p14:creationId xmlns:p14="http://schemas.microsoft.com/office/powerpoint/2010/main" val="1047886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51716"/>
        </a:solidFill>
        <a:effectLst/>
      </p:bgPr>
    </p:bg>
    <p:spTree>
      <p:nvGrpSpPr>
        <p:cNvPr id="1" name=""/>
        <p:cNvGrpSpPr/>
        <p:nvPr/>
      </p:nvGrpSpPr>
      <p:grpSpPr>
        <a:xfrm>
          <a:off x="0" y="0"/>
          <a:ext cx="0" cy="0"/>
          <a:chOff x="0" y="0"/>
          <a:chExt cx="0" cy="0"/>
        </a:xfrm>
      </p:grpSpPr>
      <p:sp>
        <p:nvSpPr>
          <p:cNvPr id="12" name="02">
            <a:extLst>
              <a:ext uri="{FF2B5EF4-FFF2-40B4-BE49-F238E27FC236}">
                <a16:creationId xmlns:a16="http://schemas.microsoft.com/office/drawing/2014/main" id="{915E15C2-C680-4FCE-9BCB-2CB0007529AC}"/>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A9B0A7"/>
                </a:solidFill>
                <a:latin typeface="JetBrains Mono"/>
                <a:ea typeface="JetBrains Mono"/>
                <a:cs typeface="JetBrains Mono"/>
              </a:defRPr>
            </a:pPr>
            <a:r>
              <a:rPr sz="1275" b="0">
                <a:solidFill>
                  <a:srgbClr val="A9B0A7"/>
                </a:solidFill>
                <a:latin typeface="JetBrains Mono"/>
                <a:ea typeface="JetBrains Mono"/>
                <a:cs typeface="JetBrains Mono"/>
              </a:rPr>
              <a:t>02</a:t>
            </a:r>
          </a:p>
        </p:txBody>
      </p:sp>
      <p:sp>
        <p:nvSpPr>
          <p:cNvPr id="2" name="WHO I AM">
            <a:extLst>
              <a:ext uri="{FF2B5EF4-FFF2-40B4-BE49-F238E27FC236}">
                <a16:creationId xmlns:a16="http://schemas.microsoft.com/office/drawing/2014/main" id="{699BEB51-F891-4E64-BC30-13C033E10E5C}"/>
              </a:ext>
            </a:extLst>
          </p:cNvPr>
          <p:cNvSpPr>
            <a:spLocks noGrp="1"/>
          </p:cNvSpPr>
          <p:nvPr/>
        </p:nvSpPr>
        <p:spPr>
          <a:xfrm>
            <a:off x="609600" y="552450"/>
            <a:ext cx="10477500"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WHO I AM</a:t>
            </a:r>
          </a:p>
        </p:txBody>
      </p:sp>
      <p:sp>
        <p:nvSpPr>
          <p:cNvPr id="3" name="Chai Pin Zheng">
            <a:extLst>
              <a:ext uri="{FF2B5EF4-FFF2-40B4-BE49-F238E27FC236}">
                <a16:creationId xmlns:a16="http://schemas.microsoft.com/office/drawing/2014/main" id="{AE227040-9BBC-4C18-9C22-36170A4BFF9D}"/>
              </a:ext>
            </a:extLst>
          </p:cNvPr>
          <p:cNvSpPr>
            <a:spLocks noGrp="1"/>
          </p:cNvSpPr>
          <p:nvPr/>
        </p:nvSpPr>
        <p:spPr>
          <a:xfrm>
            <a:off x="609600" y="1152525"/>
            <a:ext cx="7620000" cy="857250"/>
          </a:xfrm>
          <a:prstGeom prst="rect">
            <a:avLst/>
          </a:prstGeom>
          <a:noFill/>
          <a:ln w="0">
            <a:noFill/>
          </a:ln>
        </p:spPr>
        <p:txBody>
          <a:bodyPr wrap="square" lIns="0" tIns="0" rIns="0" bIns="0">
            <a:noAutofit/>
          </a:bodyPr>
          <a:lstStyle/>
          <a:p>
            <a:pPr>
              <a:defRPr sz="4875" b="1">
                <a:solidFill>
                  <a:srgbClr val="F3F1E9"/>
                </a:solidFill>
                <a:latin typeface="Avenir Next"/>
                <a:ea typeface="Avenir Next"/>
                <a:cs typeface="Avenir Next"/>
              </a:defRPr>
            </a:pPr>
            <a:r>
              <a:rPr sz="4875" b="1">
                <a:solidFill>
                  <a:srgbClr val="F3F1E9"/>
                </a:solidFill>
                <a:latin typeface="Avenir Next"/>
                <a:ea typeface="Avenir Next"/>
                <a:cs typeface="Avenir Next"/>
              </a:rPr>
              <a:t>Chai Pin Zheng</a:t>
            </a:r>
          </a:p>
        </p:txBody>
      </p:sp>
      <p:sp>
        <p:nvSpPr>
          <p:cNvPr id="4" name="Year 2 Computer Science, NUS&#10;NUS Overseas Colleges">
            <a:extLst>
              <a:ext uri="{FF2B5EF4-FFF2-40B4-BE49-F238E27FC236}">
                <a16:creationId xmlns:a16="http://schemas.microsoft.com/office/drawing/2014/main" id="{C9C90192-6C73-4A74-B0CB-16AF0924D441}"/>
              </a:ext>
            </a:extLst>
          </p:cNvPr>
          <p:cNvSpPr>
            <a:spLocks noGrp="1"/>
          </p:cNvSpPr>
          <p:nvPr/>
        </p:nvSpPr>
        <p:spPr>
          <a:xfrm>
            <a:off x="628650" y="2095500"/>
            <a:ext cx="6953250" cy="800100"/>
          </a:xfrm>
          <a:prstGeom prst="rect">
            <a:avLst/>
          </a:prstGeom>
          <a:noFill/>
          <a:ln w="0">
            <a:noFill/>
          </a:ln>
        </p:spPr>
        <p:txBody>
          <a:bodyPr wrap="square" lIns="0" tIns="0" rIns="0" bIns="0">
            <a:noAutofit/>
          </a:bodyPr>
          <a:lstStyle/>
          <a:p>
            <a:pPr>
              <a:defRPr sz="2175" b="0">
                <a:solidFill>
                  <a:srgbClr val="A9B0A7"/>
                </a:solidFill>
                <a:latin typeface="Avenir Next"/>
                <a:ea typeface="Avenir Next"/>
                <a:cs typeface="Avenir Next"/>
              </a:defRPr>
            </a:pPr>
            <a:r>
              <a:rPr sz="2175" b="0">
                <a:solidFill>
                  <a:srgbClr val="A9B0A7"/>
                </a:solidFill>
                <a:latin typeface="Avenir Next"/>
                <a:ea typeface="Avenir Next"/>
                <a:cs typeface="Avenir Next"/>
              </a:rPr>
              <a:t>Year 2 Computer Science, NUS</a:t>
            </a:r>
          </a:p>
          <a:p>
            <a:pPr>
              <a:defRPr sz="2175" b="0">
                <a:solidFill>
                  <a:srgbClr val="A9B0A7"/>
                </a:solidFill>
                <a:latin typeface="Avenir Next"/>
                <a:ea typeface="Avenir Next"/>
                <a:cs typeface="Avenir Next"/>
              </a:defRPr>
            </a:pPr>
            <a:r>
              <a:rPr sz="2175" b="0">
                <a:solidFill>
                  <a:srgbClr val="A9B0A7"/>
                </a:solidFill>
                <a:latin typeface="Avenir Next"/>
                <a:ea typeface="Avenir Next"/>
                <a:cs typeface="Avenir Next"/>
              </a:rPr>
              <a:t>NUS Overseas Colleges, Vietnam</a:t>
            </a:r>
          </a:p>
        </p:txBody>
      </p:sp>
      <p:sp>
        <p:nvSpPr>
          <p:cNvPr id="5" name="Product Engineer, Reactor School">
            <a:extLst>
              <a:ext uri="{FF2B5EF4-FFF2-40B4-BE49-F238E27FC236}">
                <a16:creationId xmlns:a16="http://schemas.microsoft.com/office/drawing/2014/main" id="{3365D119-5E41-4CC8-A9CA-AB674678218E}"/>
              </a:ext>
            </a:extLst>
          </p:cNvPr>
          <p:cNvSpPr>
            <a:spLocks noGrp="1"/>
          </p:cNvSpPr>
          <p:nvPr/>
        </p:nvSpPr>
        <p:spPr>
          <a:xfrm>
            <a:off x="628650" y="3295650"/>
            <a:ext cx="6953250" cy="447675"/>
          </a:xfrm>
          <a:prstGeom prst="rect">
            <a:avLst/>
          </a:prstGeom>
          <a:noFill/>
          <a:ln w="0">
            <a:noFill/>
          </a:ln>
        </p:spPr>
        <p:txBody>
          <a:bodyPr wrap="square" lIns="0" tIns="0" rIns="0" bIns="0">
            <a:noAutofit/>
          </a:bodyPr>
          <a:lstStyle/>
          <a:p>
            <a:pPr>
              <a:defRPr sz="2325" b="1">
                <a:solidFill>
                  <a:srgbClr val="D2F85A"/>
                </a:solidFill>
                <a:latin typeface="Avenir Next"/>
                <a:ea typeface="Avenir Next"/>
                <a:cs typeface="Avenir Next"/>
              </a:defRPr>
            </a:pPr>
            <a:r>
              <a:rPr sz="2325" b="1">
                <a:solidFill>
                  <a:srgbClr val="D2F85A"/>
                </a:solidFill>
                <a:latin typeface="Avenir Next"/>
                <a:ea typeface="Avenir Next"/>
                <a:cs typeface="Avenir Next"/>
              </a:rPr>
              <a:t>Product Engineer, Reactor School</a:t>
            </a:r>
          </a:p>
        </p:txBody>
      </p:sp>
      <p:sp>
        <p:nvSpPr>
          <p:cNvPr id="6" name="I build the platform for programme&#10;operations and ">
            <a:extLst>
              <a:ext uri="{FF2B5EF4-FFF2-40B4-BE49-F238E27FC236}">
                <a16:creationId xmlns:a16="http://schemas.microsoft.com/office/drawing/2014/main" id="{D31D324B-C52A-489C-B82E-4D1EBCFE84C0}"/>
              </a:ext>
            </a:extLst>
          </p:cNvPr>
          <p:cNvSpPr>
            <a:spLocks noGrp="1"/>
          </p:cNvSpPr>
          <p:nvPr/>
        </p:nvSpPr>
        <p:spPr>
          <a:xfrm>
            <a:off x="628650" y="3810000"/>
            <a:ext cx="6667500" cy="857250"/>
          </a:xfrm>
          <a:prstGeom prst="rect">
            <a:avLst/>
          </a:prstGeom>
          <a:noFill/>
          <a:ln w="0">
            <a:noFill/>
          </a:ln>
        </p:spPr>
        <p:txBody>
          <a:bodyPr wrap="square" lIns="0" tIns="0" rIns="0" bIns="0">
            <a:noAutofit/>
          </a:bodyPr>
          <a:lstStyle/>
          <a:p>
            <a:pPr>
              <a:defRPr sz="2250" b="0">
                <a:solidFill>
                  <a:srgbClr val="F3F1E9"/>
                </a:solidFill>
                <a:latin typeface="Avenir Next"/>
                <a:ea typeface="Avenir Next"/>
                <a:cs typeface="Avenir Next"/>
              </a:defRPr>
            </a:pPr>
            <a:r>
              <a:rPr sz="2250" b="0">
                <a:solidFill>
                  <a:srgbClr val="F3F1E9"/>
                </a:solidFill>
                <a:latin typeface="Avenir Next"/>
                <a:ea typeface="Avenir Next"/>
                <a:cs typeface="Avenir Next"/>
              </a:rPr>
              <a:t>I build the platform for programme</a:t>
            </a:r>
          </a:p>
          <a:p>
            <a:pPr>
              <a:defRPr sz="2250" b="0">
                <a:solidFill>
                  <a:srgbClr val="F3F1E9"/>
                </a:solidFill>
                <a:latin typeface="Avenir Next"/>
                <a:ea typeface="Avenir Next"/>
                <a:cs typeface="Avenir Next"/>
              </a:defRPr>
            </a:pPr>
            <a:r>
              <a:rPr sz="2250" b="0">
                <a:solidFill>
                  <a:srgbClr val="F3F1E9"/>
                </a:solidFill>
                <a:latin typeface="Avenir Next"/>
                <a:ea typeface="Avenir Next"/>
                <a:cs typeface="Avenir Next"/>
              </a:rPr>
              <a:t>operations and alumni tracking.</a:t>
            </a:r>
          </a:p>
        </p:txBody>
      </p:sp>
      <p:pic>
        <p:nvPicPr>
          <p:cNvPr id="18" name="Picture 17"/>
          <p:cNvPicPr>
            <a:picLocks noChangeAspect="1"/>
          </p:cNvPicPr>
          <p:nvPr/>
        </p:nvPicPr>
        <p:blipFill>
          <a:blip r:embed="rId3"/>
          <a:srcRect/>
          <a:stretch>
            <a:fillRect/>
          </a:stretch>
        </p:blipFill>
        <p:spPr>
          <a:xfrm>
            <a:off x="8267700" y="1228725"/>
            <a:ext cx="3276600" cy="3276600"/>
          </a:xfrm>
          <a:prstGeom prst="rect">
            <a:avLst/>
          </a:prstGeom>
        </p:spPr>
      </p:pic>
      <p:sp>
        <p:nvSpPr>
          <p:cNvPr id="8" name="Resumify co-founder">
            <a:extLst>
              <a:ext uri="{FF2B5EF4-FFF2-40B4-BE49-F238E27FC236}">
                <a16:creationId xmlns:a16="http://schemas.microsoft.com/office/drawing/2014/main" id="{C699554F-E545-4FFA-A3E8-524BDC2885C3}"/>
              </a:ext>
            </a:extLst>
          </p:cNvPr>
          <p:cNvSpPr>
            <a:spLocks noGrp="1"/>
          </p:cNvSpPr>
          <p:nvPr/>
        </p:nvSpPr>
        <p:spPr>
          <a:xfrm>
            <a:off x="628650" y="5305425"/>
            <a:ext cx="5286375" cy="400050"/>
          </a:xfrm>
          <a:prstGeom prst="rect">
            <a:avLst/>
          </a:prstGeom>
          <a:noFill/>
          <a:ln w="0">
            <a:noFill/>
          </a:ln>
        </p:spPr>
        <p:txBody>
          <a:bodyPr wrap="square" lIns="0" tIns="0" rIns="0" bIns="0">
            <a:noAutofit/>
          </a:bodyPr>
          <a:lstStyle/>
          <a:p>
            <a:pPr>
              <a:defRPr sz="2175" b="1">
                <a:solidFill>
                  <a:srgbClr val="F3F1E9"/>
                </a:solidFill>
                <a:latin typeface="Avenir Next"/>
                <a:ea typeface="Avenir Next"/>
                <a:cs typeface="Avenir Next"/>
              </a:defRPr>
            </a:pPr>
            <a:r>
              <a:rPr sz="2175" b="1">
                <a:solidFill>
                  <a:srgbClr val="F3F1E9"/>
                </a:solidFill>
                <a:latin typeface="Avenir Next"/>
                <a:ea typeface="Avenir Next"/>
                <a:cs typeface="Avenir Next"/>
              </a:rPr>
              <a:t>Resumify co-founder</a:t>
            </a:r>
          </a:p>
        </p:txBody>
      </p:sp>
      <p:sp>
        <p:nvSpPr>
          <p:cNvPr id="9" name="AI resume support for ex-offenders">
            <a:extLst>
              <a:ext uri="{FF2B5EF4-FFF2-40B4-BE49-F238E27FC236}">
                <a16:creationId xmlns:a16="http://schemas.microsoft.com/office/drawing/2014/main" id="{A5EEDDAC-F5DC-4684-8035-CA32EB7C751B}"/>
              </a:ext>
            </a:extLst>
          </p:cNvPr>
          <p:cNvSpPr>
            <a:spLocks noGrp="1"/>
          </p:cNvSpPr>
          <p:nvPr/>
        </p:nvSpPr>
        <p:spPr>
          <a:xfrm>
            <a:off x="628650" y="5781675"/>
            <a:ext cx="5810250" cy="342900"/>
          </a:xfrm>
          <a:prstGeom prst="rect">
            <a:avLst/>
          </a:prstGeom>
          <a:noFill/>
          <a:ln w="0">
            <a:noFill/>
          </a:ln>
        </p:spPr>
        <p:txBody>
          <a:bodyPr wrap="square" lIns="0" tIns="0" rIns="0" bIns="0">
            <a:noAutofit/>
          </a:bodyPr>
          <a:lstStyle/>
          <a:p>
            <a:pPr>
              <a:defRPr sz="1800" b="0">
                <a:solidFill>
                  <a:srgbClr val="A9B0A7"/>
                </a:solidFill>
                <a:latin typeface="Avenir Next"/>
                <a:ea typeface="Avenir Next"/>
                <a:cs typeface="Avenir Next"/>
              </a:defRPr>
            </a:pPr>
            <a:r>
              <a:rPr sz="1800" b="0">
                <a:solidFill>
                  <a:srgbClr val="A9B0A7"/>
                </a:solidFill>
                <a:latin typeface="Avenir Next"/>
                <a:ea typeface="Avenir Next"/>
                <a:cs typeface="Avenir Next"/>
              </a:rPr>
              <a:t>AI resume support for ex-offenders</a:t>
            </a:r>
          </a:p>
        </p:txBody>
      </p:sp>
      <p:sp>
        <p:nvSpPr>
          <p:cNvPr id="10" name="6">
            <a:extLst>
              <a:ext uri="{FF2B5EF4-FFF2-40B4-BE49-F238E27FC236}">
                <a16:creationId xmlns:a16="http://schemas.microsoft.com/office/drawing/2014/main" id="{EEDC61E6-F414-4BF6-B90C-E18A55D157D3}"/>
              </a:ext>
            </a:extLst>
          </p:cNvPr>
          <p:cNvSpPr>
            <a:spLocks noGrp="1"/>
          </p:cNvSpPr>
          <p:nvPr/>
        </p:nvSpPr>
        <p:spPr>
          <a:xfrm>
            <a:off x="8044543" y="5229225"/>
            <a:ext cx="1175657" cy="952500"/>
          </a:xfrm>
          <a:prstGeom prst="rect">
            <a:avLst/>
          </a:prstGeom>
          <a:noFill/>
          <a:ln w="0">
            <a:noFill/>
          </a:ln>
        </p:spPr>
        <p:txBody>
          <a:bodyPr wrap="square" lIns="0" tIns="0" rIns="0" bIns="0">
            <a:noAutofit/>
          </a:bodyPr>
          <a:lstStyle/>
          <a:p>
            <a:pPr>
              <a:defRPr sz="6000" b="1">
                <a:solidFill>
                  <a:srgbClr val="D2F85A"/>
                </a:solidFill>
                <a:latin typeface="Avenir Next"/>
                <a:ea typeface="Avenir Next"/>
                <a:cs typeface="Avenir Next"/>
              </a:defRPr>
            </a:pPr>
            <a:r>
              <a:rPr lang="en-US" sz="6000" b="1" dirty="0">
                <a:solidFill>
                  <a:srgbClr val="D2F85A"/>
                </a:solidFill>
                <a:latin typeface="Avenir Next"/>
                <a:ea typeface="Avenir Next"/>
                <a:cs typeface="Avenir Next"/>
              </a:rPr>
              <a:t>22</a:t>
            </a:r>
            <a:endParaRPr sz="6000" b="1" dirty="0">
              <a:solidFill>
                <a:srgbClr val="D2F85A"/>
              </a:solidFill>
              <a:latin typeface="Avenir Next"/>
              <a:ea typeface="Avenir Next"/>
              <a:cs typeface="Avenir Next"/>
            </a:endParaRPr>
          </a:p>
        </p:txBody>
      </p:sp>
      <p:sp>
        <p:nvSpPr>
          <p:cNvPr id="11" name="first-place&#10;hackathon finishes">
            <a:extLst>
              <a:ext uri="{FF2B5EF4-FFF2-40B4-BE49-F238E27FC236}">
                <a16:creationId xmlns:a16="http://schemas.microsoft.com/office/drawing/2014/main" id="{14086B3D-CEF5-41EB-A4CE-56232A3A0646}"/>
              </a:ext>
            </a:extLst>
          </p:cNvPr>
          <p:cNvSpPr>
            <a:spLocks noGrp="1"/>
          </p:cNvSpPr>
          <p:nvPr/>
        </p:nvSpPr>
        <p:spPr>
          <a:xfrm>
            <a:off x="9372600" y="5238750"/>
            <a:ext cx="2190750" cy="809625"/>
          </a:xfrm>
          <a:prstGeom prst="rect">
            <a:avLst/>
          </a:prstGeom>
          <a:noFill/>
          <a:ln w="0">
            <a:noFill/>
          </a:ln>
        </p:spPr>
        <p:txBody>
          <a:bodyPr wrap="square" lIns="0" tIns="0" rIns="0" bIns="0">
            <a:noAutofit/>
          </a:bodyPr>
          <a:lstStyle/>
          <a:p>
            <a:pPr>
              <a:defRPr sz="1875" b="0">
                <a:solidFill>
                  <a:srgbClr val="F3F1E9"/>
                </a:solidFill>
                <a:latin typeface="Avenir Next"/>
                <a:ea typeface="Avenir Next"/>
                <a:cs typeface="Avenir Next"/>
              </a:defRPr>
            </a:pPr>
            <a:endParaRPr sz="1875" b="0" dirty="0">
              <a:solidFill>
                <a:srgbClr val="F3F1E9"/>
              </a:solidFill>
              <a:latin typeface="Avenir Next"/>
              <a:ea typeface="Avenir Next"/>
              <a:cs typeface="Avenir Next"/>
            </a:endParaRPr>
          </a:p>
          <a:p>
            <a:pPr>
              <a:defRPr sz="1875" b="0">
                <a:solidFill>
                  <a:srgbClr val="F3F1E9"/>
                </a:solidFill>
                <a:latin typeface="Avenir Next"/>
                <a:ea typeface="Avenir Next"/>
                <a:cs typeface="Avenir Next"/>
              </a:defRPr>
            </a:pPr>
            <a:r>
              <a:rPr lang="en-US" sz="1875" dirty="0">
                <a:solidFill>
                  <a:srgbClr val="F3F1E9"/>
                </a:solidFill>
                <a:latin typeface="Avenir Next"/>
                <a:ea typeface="Avenir Next"/>
                <a:cs typeface="Avenir Next"/>
              </a:rPr>
              <a:t>h</a:t>
            </a:r>
            <a:r>
              <a:rPr sz="1875" b="0" dirty="0">
                <a:solidFill>
                  <a:srgbClr val="F3F1E9"/>
                </a:solidFill>
                <a:latin typeface="Avenir Next"/>
                <a:ea typeface="Avenir Next"/>
                <a:cs typeface="Avenir Next"/>
              </a:rPr>
              <a:t>ackathon </a:t>
            </a:r>
            <a:r>
              <a:rPr lang="en-US" sz="1875" dirty="0">
                <a:solidFill>
                  <a:srgbClr val="F3F1E9"/>
                </a:solidFill>
                <a:latin typeface="Avenir Next"/>
                <a:ea typeface="Avenir Next"/>
                <a:cs typeface="Avenir Next"/>
              </a:rPr>
              <a:t>winner</a:t>
            </a:r>
            <a:endParaRPr sz="1875" b="0" dirty="0">
              <a:solidFill>
                <a:srgbClr val="F3F1E9"/>
              </a:solidFill>
              <a:latin typeface="Avenir Next"/>
              <a:ea typeface="Avenir Next"/>
              <a:cs typeface="Avenir Next"/>
            </a:endParaRPr>
          </a:p>
        </p:txBody>
      </p:sp>
    </p:spTree>
    <p:extLst>
      <p:ext uri="{BB962C8B-B14F-4D97-AF65-F5344CB8AC3E}">
        <p14:creationId xmlns:p14="http://schemas.microsoft.com/office/powerpoint/2010/main" val="1143588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1E9"/>
        </a:solidFill>
        <a:effectLst/>
      </p:bgPr>
    </p:bg>
    <p:spTree>
      <p:nvGrpSpPr>
        <p:cNvPr id="1" name=""/>
        <p:cNvGrpSpPr/>
        <p:nvPr/>
      </p:nvGrpSpPr>
      <p:grpSpPr>
        <a:xfrm>
          <a:off x="0" y="0"/>
          <a:ext cx="0" cy="0"/>
          <a:chOff x="0" y="0"/>
          <a:chExt cx="0" cy="0"/>
        </a:xfrm>
      </p:grpSpPr>
      <p:sp>
        <p:nvSpPr>
          <p:cNvPr id="12" name="03">
            <a:extLst>
              <a:ext uri="{FF2B5EF4-FFF2-40B4-BE49-F238E27FC236}">
                <a16:creationId xmlns:a16="http://schemas.microsoft.com/office/drawing/2014/main" id="{0ADC5A27-09A1-4750-AC5E-1CF96F42F339}"/>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576152"/>
                </a:solidFill>
                <a:latin typeface="JetBrains Mono"/>
                <a:ea typeface="JetBrains Mono"/>
                <a:cs typeface="JetBrains Mono"/>
              </a:defRPr>
            </a:pPr>
            <a:r>
              <a:rPr sz="1275" b="0">
                <a:solidFill>
                  <a:srgbClr val="576152"/>
                </a:solidFill>
                <a:latin typeface="JetBrains Mono"/>
                <a:ea typeface="JetBrains Mono"/>
                <a:cs typeface="JetBrains Mono"/>
              </a:rPr>
              <a:t>03</a:t>
            </a:r>
          </a:p>
        </p:txBody>
      </p:sp>
      <p:sp>
        <p:nvSpPr>
          <p:cNvPr id="2" name="Today’s workshop">
            <a:extLst>
              <a:ext uri="{FF2B5EF4-FFF2-40B4-BE49-F238E27FC236}">
                <a16:creationId xmlns:a16="http://schemas.microsoft.com/office/drawing/2014/main" id="{E7ADC657-34D8-40F8-82D1-2EF2E7C0CA36}"/>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19211B"/>
                </a:solidFill>
                <a:latin typeface="Avenir Next"/>
                <a:ea typeface="Avenir Next"/>
                <a:cs typeface="Avenir Next"/>
              </a:defRPr>
            </a:pPr>
            <a:r>
              <a:rPr sz="4050" b="1">
                <a:solidFill>
                  <a:srgbClr val="19211B"/>
                </a:solidFill>
                <a:latin typeface="Avenir Next"/>
                <a:ea typeface="Avenir Next"/>
                <a:cs typeface="Avenir Next"/>
              </a:rPr>
              <a:t>Today’s workshop</a:t>
            </a:r>
          </a:p>
        </p:txBody>
      </p:sp>
      <p:sp>
        <p:nvSpPr>
          <p:cNvPr id="3" name="01">
            <a:extLst>
              <a:ext uri="{FF2B5EF4-FFF2-40B4-BE49-F238E27FC236}">
                <a16:creationId xmlns:a16="http://schemas.microsoft.com/office/drawing/2014/main" id="{2DE49449-1961-4271-AD8A-5C9E34456EC7}"/>
              </a:ext>
            </a:extLst>
          </p:cNvPr>
          <p:cNvSpPr>
            <a:spLocks noGrp="1"/>
          </p:cNvSpPr>
          <p:nvPr/>
        </p:nvSpPr>
        <p:spPr>
          <a:xfrm>
            <a:off x="609600" y="2124075"/>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01</a:t>
            </a:r>
          </a:p>
        </p:txBody>
      </p:sp>
      <p:sp>
        <p:nvSpPr>
          <p:cNvPr id="4" name="Describe the idea">
            <a:extLst>
              <a:ext uri="{FF2B5EF4-FFF2-40B4-BE49-F238E27FC236}">
                <a16:creationId xmlns:a16="http://schemas.microsoft.com/office/drawing/2014/main" id="{0F2F69C5-37CC-464B-AEB5-C2CF04E2858A}"/>
              </a:ext>
            </a:extLst>
          </p:cNvPr>
          <p:cNvSpPr>
            <a:spLocks noGrp="1"/>
          </p:cNvSpPr>
          <p:nvPr/>
        </p:nvSpPr>
        <p:spPr>
          <a:xfrm>
            <a:off x="1409700" y="2057400"/>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Describe the idea</a:t>
            </a:r>
          </a:p>
        </p:txBody>
      </p:sp>
      <p:sp>
        <p:nvSpPr>
          <p:cNvPr id="5" name="Translate a vague intention into a clear brief.">
            <a:extLst>
              <a:ext uri="{FF2B5EF4-FFF2-40B4-BE49-F238E27FC236}">
                <a16:creationId xmlns:a16="http://schemas.microsoft.com/office/drawing/2014/main" id="{6CB74849-8AAF-4B03-B112-8831413B0EC1}"/>
              </a:ext>
            </a:extLst>
          </p:cNvPr>
          <p:cNvSpPr>
            <a:spLocks noGrp="1"/>
          </p:cNvSpPr>
          <p:nvPr/>
        </p:nvSpPr>
        <p:spPr>
          <a:xfrm>
            <a:off x="5457825" y="2095500"/>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Translate a vague intention into a clear brief.</a:t>
            </a:r>
          </a:p>
        </p:txBody>
      </p:sp>
      <p:sp>
        <p:nvSpPr>
          <p:cNvPr id="6" name="02">
            <a:extLst>
              <a:ext uri="{FF2B5EF4-FFF2-40B4-BE49-F238E27FC236}">
                <a16:creationId xmlns:a16="http://schemas.microsoft.com/office/drawing/2014/main" id="{31D48F7E-ED06-4125-825E-E5095FDE3226}"/>
              </a:ext>
            </a:extLst>
          </p:cNvPr>
          <p:cNvSpPr>
            <a:spLocks noGrp="1"/>
          </p:cNvSpPr>
          <p:nvPr/>
        </p:nvSpPr>
        <p:spPr>
          <a:xfrm>
            <a:off x="609600" y="3343275"/>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02</a:t>
            </a:r>
          </a:p>
        </p:txBody>
      </p:sp>
      <p:sp>
        <p:nvSpPr>
          <p:cNvPr id="7" name="Build and refine">
            <a:extLst>
              <a:ext uri="{FF2B5EF4-FFF2-40B4-BE49-F238E27FC236}">
                <a16:creationId xmlns:a16="http://schemas.microsoft.com/office/drawing/2014/main" id="{44ED8028-9CE7-49A3-AE5B-737CDDFE2647}"/>
              </a:ext>
            </a:extLst>
          </p:cNvPr>
          <p:cNvSpPr>
            <a:spLocks noGrp="1"/>
          </p:cNvSpPr>
          <p:nvPr/>
        </p:nvSpPr>
        <p:spPr>
          <a:xfrm>
            <a:off x="1409700" y="3276600"/>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Build and refine</a:t>
            </a:r>
          </a:p>
        </p:txBody>
      </p:sp>
      <p:sp>
        <p:nvSpPr>
          <p:cNvPr id="8" name="Run a small app and give specific feedback.">
            <a:extLst>
              <a:ext uri="{FF2B5EF4-FFF2-40B4-BE49-F238E27FC236}">
                <a16:creationId xmlns:a16="http://schemas.microsoft.com/office/drawing/2014/main" id="{2B4E05BD-1832-4C70-B8A9-1EA102D25F53}"/>
              </a:ext>
            </a:extLst>
          </p:cNvPr>
          <p:cNvSpPr>
            <a:spLocks noGrp="1"/>
          </p:cNvSpPr>
          <p:nvPr/>
        </p:nvSpPr>
        <p:spPr>
          <a:xfrm>
            <a:off x="5457825" y="3314700"/>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Run a small app and give specific feedback.</a:t>
            </a:r>
          </a:p>
        </p:txBody>
      </p:sp>
      <p:sp>
        <p:nvSpPr>
          <p:cNvPr id="9" name="03">
            <a:extLst>
              <a:ext uri="{FF2B5EF4-FFF2-40B4-BE49-F238E27FC236}">
                <a16:creationId xmlns:a16="http://schemas.microsoft.com/office/drawing/2014/main" id="{1145FBF9-3BA4-472A-AE49-B67DCA35887A}"/>
              </a:ext>
            </a:extLst>
          </p:cNvPr>
          <p:cNvSpPr>
            <a:spLocks noGrp="1"/>
          </p:cNvSpPr>
          <p:nvPr/>
        </p:nvSpPr>
        <p:spPr>
          <a:xfrm>
            <a:off x="609600" y="4562475"/>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03</a:t>
            </a:r>
          </a:p>
        </p:txBody>
      </p:sp>
      <p:sp>
        <p:nvSpPr>
          <p:cNvPr id="10" name="Check the result">
            <a:extLst>
              <a:ext uri="{FF2B5EF4-FFF2-40B4-BE49-F238E27FC236}">
                <a16:creationId xmlns:a16="http://schemas.microsoft.com/office/drawing/2014/main" id="{DAD16EB8-CF17-44B7-9B31-19DB14B241B8}"/>
              </a:ext>
            </a:extLst>
          </p:cNvPr>
          <p:cNvSpPr>
            <a:spLocks noGrp="1"/>
          </p:cNvSpPr>
          <p:nvPr/>
        </p:nvSpPr>
        <p:spPr>
          <a:xfrm>
            <a:off x="1409700" y="4495800"/>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Check the result</a:t>
            </a:r>
          </a:p>
        </p:txBody>
      </p:sp>
      <p:sp>
        <p:nvSpPr>
          <p:cNvPr id="11" name="Test the behaviour and discuss what makes it ready">
            <a:extLst>
              <a:ext uri="{FF2B5EF4-FFF2-40B4-BE49-F238E27FC236}">
                <a16:creationId xmlns:a16="http://schemas.microsoft.com/office/drawing/2014/main" id="{EBBFDCFA-2057-40E1-959B-E73CF7C225FA}"/>
              </a:ext>
            </a:extLst>
          </p:cNvPr>
          <p:cNvSpPr>
            <a:spLocks noGrp="1"/>
          </p:cNvSpPr>
          <p:nvPr/>
        </p:nvSpPr>
        <p:spPr>
          <a:xfrm>
            <a:off x="5457825" y="4533900"/>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Test the behaviour and discuss what makes it ready.</a:t>
            </a:r>
          </a:p>
        </p:txBody>
      </p:sp>
    </p:spTree>
    <p:extLst>
      <p:ext uri="{BB962C8B-B14F-4D97-AF65-F5344CB8AC3E}">
        <p14:creationId xmlns:p14="http://schemas.microsoft.com/office/powerpoint/2010/main" val="1858779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51716"/>
        </a:solidFill>
        <a:effectLst/>
      </p:bgPr>
    </p:bg>
    <p:spTree>
      <p:nvGrpSpPr>
        <p:cNvPr id="1" name=""/>
        <p:cNvGrpSpPr/>
        <p:nvPr/>
      </p:nvGrpSpPr>
      <p:grpSpPr>
        <a:xfrm>
          <a:off x="0" y="0"/>
          <a:ext cx="0" cy="0"/>
          <a:chOff x="0" y="0"/>
          <a:chExt cx="0" cy="0"/>
        </a:xfrm>
      </p:grpSpPr>
      <p:sp>
        <p:nvSpPr>
          <p:cNvPr id="5" name="04">
            <a:extLst>
              <a:ext uri="{FF2B5EF4-FFF2-40B4-BE49-F238E27FC236}">
                <a16:creationId xmlns:a16="http://schemas.microsoft.com/office/drawing/2014/main" id="{7FEDD4CF-BC93-4079-B7F5-15DB2F966CB8}"/>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A9B0A7"/>
                </a:solidFill>
                <a:latin typeface="JetBrains Mono"/>
                <a:ea typeface="JetBrains Mono"/>
                <a:cs typeface="JetBrains Mono"/>
              </a:defRPr>
            </a:pPr>
            <a:r>
              <a:rPr sz="1275" b="0">
                <a:solidFill>
                  <a:srgbClr val="A9B0A7"/>
                </a:solidFill>
                <a:latin typeface="JetBrains Mono"/>
                <a:ea typeface="JetBrains Mono"/>
                <a:cs typeface="JetBrains Mono"/>
              </a:rPr>
              <a:t>04</a:t>
            </a:r>
          </a:p>
        </p:txBody>
      </p:sp>
      <p:sp>
        <p:nvSpPr>
          <p:cNvPr id="2" name="What is vibe coding?">
            <a:extLst>
              <a:ext uri="{FF2B5EF4-FFF2-40B4-BE49-F238E27FC236}">
                <a16:creationId xmlns:a16="http://schemas.microsoft.com/office/drawing/2014/main" id="{DF077236-1B74-450C-AF46-F53728F9CF8A}"/>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F3F1E9"/>
                </a:solidFill>
                <a:latin typeface="Avenir Next"/>
                <a:ea typeface="Avenir Next"/>
                <a:cs typeface="Avenir Next"/>
              </a:defRPr>
            </a:pPr>
            <a:r>
              <a:rPr sz="4050" b="1">
                <a:solidFill>
                  <a:srgbClr val="F3F1E9"/>
                </a:solidFill>
                <a:latin typeface="Avenir Next"/>
                <a:ea typeface="Avenir Next"/>
                <a:cs typeface="Avenir Next"/>
              </a:rPr>
              <a:t>What is vibe coding?</a:t>
            </a:r>
          </a:p>
        </p:txBody>
      </p:sp>
      <p:sp>
        <p:nvSpPr>
          <p:cNvPr id="3" name="Describe what you want.&#10;AI drafts the software.">
            <a:extLst>
              <a:ext uri="{FF2B5EF4-FFF2-40B4-BE49-F238E27FC236}">
                <a16:creationId xmlns:a16="http://schemas.microsoft.com/office/drawing/2014/main" id="{1F1D292F-EFF4-4DCE-88CA-BA8D95AE6FFE}"/>
              </a:ext>
            </a:extLst>
          </p:cNvPr>
          <p:cNvSpPr>
            <a:spLocks noGrp="1"/>
          </p:cNvSpPr>
          <p:nvPr/>
        </p:nvSpPr>
        <p:spPr>
          <a:xfrm>
            <a:off x="609600" y="2143125"/>
            <a:ext cx="10906125" cy="1714500"/>
          </a:xfrm>
          <a:prstGeom prst="rect">
            <a:avLst/>
          </a:prstGeom>
          <a:noFill/>
          <a:ln w="0">
            <a:noFill/>
          </a:ln>
        </p:spPr>
        <p:txBody>
          <a:bodyPr wrap="square" lIns="0" tIns="0" rIns="0" bIns="0">
            <a:noAutofit/>
          </a:bodyPr>
          <a:lstStyle/>
          <a:p>
            <a:pPr>
              <a:defRPr sz="4875" b="1">
                <a:solidFill>
                  <a:srgbClr val="F3F1E9"/>
                </a:solidFill>
                <a:latin typeface="Avenir Next"/>
                <a:ea typeface="Avenir Next"/>
                <a:cs typeface="Avenir Next"/>
              </a:defRPr>
            </a:pPr>
            <a:r>
              <a:rPr sz="4875" b="1">
                <a:solidFill>
                  <a:srgbClr val="F3F1E9"/>
                </a:solidFill>
                <a:latin typeface="Avenir Next"/>
                <a:ea typeface="Avenir Next"/>
                <a:cs typeface="Avenir Next"/>
              </a:rPr>
              <a:t>Describe what you want.</a:t>
            </a:r>
          </a:p>
          <a:p>
            <a:pPr>
              <a:defRPr sz="4875" b="1">
                <a:solidFill>
                  <a:srgbClr val="F3F1E9"/>
                </a:solidFill>
                <a:latin typeface="Avenir Next"/>
                <a:ea typeface="Avenir Next"/>
                <a:cs typeface="Avenir Next"/>
              </a:defRPr>
            </a:pPr>
            <a:r>
              <a:rPr sz="4875" b="1">
                <a:solidFill>
                  <a:srgbClr val="F3F1E9"/>
                </a:solidFill>
                <a:latin typeface="Avenir Next"/>
                <a:ea typeface="Avenir Next"/>
                <a:cs typeface="Avenir Next"/>
              </a:rPr>
              <a:t>AI drafts the software.</a:t>
            </a:r>
          </a:p>
        </p:txBody>
      </p:sp>
      <p:sp>
        <p:nvSpPr>
          <p:cNvPr id="4" name="You run it, react to it, and refine the result.">
            <a:extLst>
              <a:ext uri="{FF2B5EF4-FFF2-40B4-BE49-F238E27FC236}">
                <a16:creationId xmlns:a16="http://schemas.microsoft.com/office/drawing/2014/main" id="{67E586A2-5988-4E2F-BB2E-EC86A7C3881E}"/>
              </a:ext>
            </a:extLst>
          </p:cNvPr>
          <p:cNvSpPr>
            <a:spLocks noGrp="1"/>
          </p:cNvSpPr>
          <p:nvPr/>
        </p:nvSpPr>
        <p:spPr>
          <a:xfrm>
            <a:off x="628650" y="4524375"/>
            <a:ext cx="10382250" cy="923925"/>
          </a:xfrm>
          <a:prstGeom prst="rect">
            <a:avLst/>
          </a:prstGeom>
          <a:noFill/>
          <a:ln w="0">
            <a:noFill/>
          </a:ln>
        </p:spPr>
        <p:txBody>
          <a:bodyPr wrap="square" lIns="0" tIns="0" rIns="0" bIns="0">
            <a:noAutofit/>
          </a:bodyPr>
          <a:lstStyle/>
          <a:p>
            <a:pPr>
              <a:defRPr sz="2625" b="0">
                <a:solidFill>
                  <a:srgbClr val="D2F85A"/>
                </a:solidFill>
                <a:latin typeface="Avenir Next"/>
                <a:ea typeface="Avenir Next"/>
                <a:cs typeface="Avenir Next"/>
              </a:defRPr>
            </a:pPr>
            <a:r>
              <a:rPr sz="2625" b="0">
                <a:solidFill>
                  <a:srgbClr val="D2F85A"/>
                </a:solidFill>
                <a:latin typeface="Avenir Next"/>
                <a:ea typeface="Avenir Next"/>
                <a:cs typeface="Avenir Next"/>
              </a:rPr>
              <a:t>You run it, react to it, and refine the result.</a:t>
            </a:r>
          </a:p>
        </p:txBody>
      </p:sp>
    </p:spTree>
    <p:extLst>
      <p:ext uri="{BB962C8B-B14F-4D97-AF65-F5344CB8AC3E}">
        <p14:creationId xmlns:p14="http://schemas.microsoft.com/office/powerpoint/2010/main" val="1687329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1E9"/>
        </a:solidFill>
        <a:effectLst/>
      </p:bgPr>
    </p:bg>
    <p:spTree>
      <p:nvGrpSpPr>
        <p:cNvPr id="1" name=""/>
        <p:cNvGrpSpPr/>
        <p:nvPr/>
      </p:nvGrpSpPr>
      <p:grpSpPr>
        <a:xfrm>
          <a:off x="0" y="0"/>
          <a:ext cx="0" cy="0"/>
          <a:chOff x="0" y="0"/>
          <a:chExt cx="0" cy="0"/>
        </a:xfrm>
      </p:grpSpPr>
      <p:sp>
        <p:nvSpPr>
          <p:cNvPr id="13" name="05">
            <a:extLst>
              <a:ext uri="{FF2B5EF4-FFF2-40B4-BE49-F238E27FC236}">
                <a16:creationId xmlns:a16="http://schemas.microsoft.com/office/drawing/2014/main" id="{5061F419-23AF-4314-941F-33F209332457}"/>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576152"/>
                </a:solidFill>
                <a:latin typeface="JetBrains Mono"/>
                <a:ea typeface="JetBrains Mono"/>
                <a:cs typeface="JetBrains Mono"/>
              </a:defRPr>
            </a:pPr>
            <a:r>
              <a:rPr sz="1275" b="0">
                <a:solidFill>
                  <a:srgbClr val="576152"/>
                </a:solidFill>
                <a:latin typeface="JetBrains Mono"/>
                <a:ea typeface="JetBrains Mono"/>
                <a:cs typeface="JetBrains Mono"/>
              </a:rPr>
              <a:t>05</a:t>
            </a:r>
          </a:p>
        </p:txBody>
      </p:sp>
      <p:sp>
        <p:nvSpPr>
          <p:cNvPr id="2" name="The personal shopper analogy">
            <a:extLst>
              <a:ext uri="{FF2B5EF4-FFF2-40B4-BE49-F238E27FC236}">
                <a16:creationId xmlns:a16="http://schemas.microsoft.com/office/drawing/2014/main" id="{FD047493-A587-4ED3-9FED-34C1E21FCA31}"/>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19211B"/>
                </a:solidFill>
                <a:latin typeface="Avenir Next"/>
                <a:ea typeface="Avenir Next"/>
                <a:cs typeface="Avenir Next"/>
              </a:defRPr>
            </a:pPr>
            <a:r>
              <a:rPr sz="4050" b="1">
                <a:solidFill>
                  <a:srgbClr val="19211B"/>
                </a:solidFill>
                <a:latin typeface="Avenir Next"/>
                <a:ea typeface="Avenir Next"/>
                <a:cs typeface="Avenir Next"/>
              </a:rPr>
              <a:t>The personal shopper analogy</a:t>
            </a:r>
          </a:p>
        </p:txBody>
      </p:sp>
      <p:sp>
        <p:nvSpPr>
          <p:cNvPr id="3" name="01">
            <a:extLst>
              <a:ext uri="{FF2B5EF4-FFF2-40B4-BE49-F238E27FC236}">
                <a16:creationId xmlns:a16="http://schemas.microsoft.com/office/drawing/2014/main" id="{691649C8-6C1D-4E54-9D4D-43C097F63810}"/>
              </a:ext>
            </a:extLst>
          </p:cNvPr>
          <p:cNvSpPr>
            <a:spLocks noGrp="1"/>
          </p:cNvSpPr>
          <p:nvPr/>
        </p:nvSpPr>
        <p:spPr>
          <a:xfrm>
            <a:off x="609600" y="2095500"/>
            <a:ext cx="3416300"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01</a:t>
            </a:r>
          </a:p>
        </p:txBody>
      </p:sp>
      <p:sp>
        <p:nvSpPr>
          <p:cNvPr id="4" name="Your brief">
            <a:extLst>
              <a:ext uri="{FF2B5EF4-FFF2-40B4-BE49-F238E27FC236}">
                <a16:creationId xmlns:a16="http://schemas.microsoft.com/office/drawing/2014/main" id="{842E6FCA-EA47-4338-8E38-9EAD88CE70A7}"/>
              </a:ext>
            </a:extLst>
          </p:cNvPr>
          <p:cNvSpPr>
            <a:spLocks noGrp="1"/>
          </p:cNvSpPr>
          <p:nvPr/>
        </p:nvSpPr>
        <p:spPr>
          <a:xfrm>
            <a:off x="609600" y="2571750"/>
            <a:ext cx="3321050" cy="1047750"/>
          </a:xfrm>
          <a:prstGeom prst="rect">
            <a:avLst/>
          </a:prstGeom>
          <a:noFill/>
          <a:ln w="0">
            <a:noFill/>
          </a:ln>
        </p:spPr>
        <p:txBody>
          <a:bodyPr wrap="square" lIns="0" tIns="0" rIns="0" bIns="0">
            <a:noAutofit/>
          </a:bodyPr>
          <a:lstStyle/>
          <a:p>
            <a:pPr>
              <a:defRPr sz="2850" b="1">
                <a:solidFill>
                  <a:srgbClr val="19211B"/>
                </a:solidFill>
                <a:latin typeface="Avenir Next"/>
                <a:ea typeface="Avenir Next"/>
                <a:cs typeface="Avenir Next"/>
              </a:defRPr>
            </a:pPr>
            <a:r>
              <a:rPr sz="2850" b="1">
                <a:solidFill>
                  <a:srgbClr val="19211B"/>
                </a:solidFill>
                <a:latin typeface="Avenir Next"/>
                <a:ea typeface="Avenir Next"/>
                <a:cs typeface="Avenir Next"/>
              </a:rPr>
              <a:t>Your brief</a:t>
            </a:r>
          </a:p>
        </p:txBody>
      </p:sp>
      <p:sp>
        <p:nvSpPr>
          <p:cNvPr id="5" name="“A relaxed outfit for&#10;a hot afternoon.”">
            <a:extLst>
              <a:ext uri="{FF2B5EF4-FFF2-40B4-BE49-F238E27FC236}">
                <a16:creationId xmlns:a16="http://schemas.microsoft.com/office/drawing/2014/main" id="{B5FAFE75-F8A0-4B1F-BE14-CA888609F812}"/>
              </a:ext>
            </a:extLst>
          </p:cNvPr>
          <p:cNvSpPr>
            <a:spLocks noGrp="1"/>
          </p:cNvSpPr>
          <p:nvPr/>
        </p:nvSpPr>
        <p:spPr>
          <a:xfrm>
            <a:off x="609600" y="3790950"/>
            <a:ext cx="3321050" cy="165735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dirty="0">
                <a:solidFill>
                  <a:srgbClr val="576152"/>
                </a:solidFill>
                <a:latin typeface="Avenir Next"/>
                <a:ea typeface="Avenir Next"/>
                <a:cs typeface="Avenir Next"/>
              </a:rPr>
              <a:t>“A relaxed outfit for</a:t>
            </a:r>
          </a:p>
          <a:p>
            <a:pPr>
              <a:defRPr sz="2025" b="0">
                <a:solidFill>
                  <a:srgbClr val="576152"/>
                </a:solidFill>
                <a:latin typeface="Avenir Next"/>
                <a:ea typeface="Avenir Next"/>
                <a:cs typeface="Avenir Next"/>
              </a:defRPr>
            </a:pPr>
            <a:r>
              <a:rPr sz="2025" b="0" dirty="0">
                <a:solidFill>
                  <a:srgbClr val="576152"/>
                </a:solidFill>
                <a:latin typeface="Avenir Next"/>
                <a:ea typeface="Avenir Next"/>
                <a:cs typeface="Avenir Next"/>
              </a:rPr>
              <a:t>a hot afternoon.”</a:t>
            </a:r>
          </a:p>
        </p:txBody>
      </p:sp>
      <p:sp>
        <p:nvSpPr>
          <p:cNvPr id="6" name="02">
            <a:extLst>
              <a:ext uri="{FF2B5EF4-FFF2-40B4-BE49-F238E27FC236}">
                <a16:creationId xmlns:a16="http://schemas.microsoft.com/office/drawing/2014/main" id="{A4763682-37EE-48DF-8654-AA4830FBE6FB}"/>
              </a:ext>
            </a:extLst>
          </p:cNvPr>
          <p:cNvSpPr>
            <a:spLocks noGrp="1"/>
          </p:cNvSpPr>
          <p:nvPr/>
        </p:nvSpPr>
        <p:spPr>
          <a:xfrm>
            <a:off x="4216400" y="2095500"/>
            <a:ext cx="3416300"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02</a:t>
            </a:r>
          </a:p>
        </p:txBody>
      </p:sp>
      <p:sp>
        <p:nvSpPr>
          <p:cNvPr id="7" name="Their draft">
            <a:extLst>
              <a:ext uri="{FF2B5EF4-FFF2-40B4-BE49-F238E27FC236}">
                <a16:creationId xmlns:a16="http://schemas.microsoft.com/office/drawing/2014/main" id="{6FD83379-5B70-4A4A-BA2C-BEA271BC0FED}"/>
              </a:ext>
            </a:extLst>
          </p:cNvPr>
          <p:cNvSpPr>
            <a:spLocks noGrp="1"/>
          </p:cNvSpPr>
          <p:nvPr/>
        </p:nvSpPr>
        <p:spPr>
          <a:xfrm>
            <a:off x="4216400" y="2571750"/>
            <a:ext cx="3321050" cy="1047750"/>
          </a:xfrm>
          <a:prstGeom prst="rect">
            <a:avLst/>
          </a:prstGeom>
          <a:noFill/>
          <a:ln w="0">
            <a:noFill/>
          </a:ln>
        </p:spPr>
        <p:txBody>
          <a:bodyPr wrap="square" lIns="0" tIns="0" rIns="0" bIns="0">
            <a:noAutofit/>
          </a:bodyPr>
          <a:lstStyle/>
          <a:p>
            <a:pPr>
              <a:defRPr sz="2850" b="1">
                <a:solidFill>
                  <a:srgbClr val="19211B"/>
                </a:solidFill>
                <a:latin typeface="Avenir Next"/>
                <a:ea typeface="Avenir Next"/>
                <a:cs typeface="Avenir Next"/>
              </a:defRPr>
            </a:pPr>
            <a:r>
              <a:rPr sz="2850" b="1">
                <a:solidFill>
                  <a:srgbClr val="19211B"/>
                </a:solidFill>
                <a:latin typeface="Avenir Next"/>
                <a:ea typeface="Avenir Next"/>
                <a:cs typeface="Avenir Next"/>
              </a:rPr>
              <a:t>Their draft</a:t>
            </a:r>
          </a:p>
        </p:txBody>
      </p:sp>
      <p:sp>
        <p:nvSpPr>
          <p:cNvPr id="8" name="They choose a first&#10;combination for you.">
            <a:extLst>
              <a:ext uri="{FF2B5EF4-FFF2-40B4-BE49-F238E27FC236}">
                <a16:creationId xmlns:a16="http://schemas.microsoft.com/office/drawing/2014/main" id="{9135B461-70C0-449F-8A3F-38292564420A}"/>
              </a:ext>
            </a:extLst>
          </p:cNvPr>
          <p:cNvSpPr>
            <a:spLocks noGrp="1"/>
          </p:cNvSpPr>
          <p:nvPr/>
        </p:nvSpPr>
        <p:spPr>
          <a:xfrm>
            <a:off x="4216400" y="3790950"/>
            <a:ext cx="3321050" cy="165735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They choose a first</a:t>
            </a:r>
          </a:p>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combination for you.</a:t>
            </a:r>
          </a:p>
        </p:txBody>
      </p:sp>
      <p:sp>
        <p:nvSpPr>
          <p:cNvPr id="9" name="03">
            <a:extLst>
              <a:ext uri="{FF2B5EF4-FFF2-40B4-BE49-F238E27FC236}">
                <a16:creationId xmlns:a16="http://schemas.microsoft.com/office/drawing/2014/main" id="{E2C3E4F4-344B-4B8B-A9C6-BEBCBCF2436D}"/>
              </a:ext>
            </a:extLst>
          </p:cNvPr>
          <p:cNvSpPr>
            <a:spLocks noGrp="1"/>
          </p:cNvSpPr>
          <p:nvPr/>
        </p:nvSpPr>
        <p:spPr>
          <a:xfrm>
            <a:off x="7823200" y="2095500"/>
            <a:ext cx="3416300"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03</a:t>
            </a:r>
          </a:p>
        </p:txBody>
      </p:sp>
      <p:sp>
        <p:nvSpPr>
          <p:cNvPr id="10" name="Your feedback">
            <a:extLst>
              <a:ext uri="{FF2B5EF4-FFF2-40B4-BE49-F238E27FC236}">
                <a16:creationId xmlns:a16="http://schemas.microsoft.com/office/drawing/2014/main" id="{DB7AE95C-0014-4BB0-B296-C0676F0EF676}"/>
              </a:ext>
            </a:extLst>
          </p:cNvPr>
          <p:cNvSpPr>
            <a:spLocks noGrp="1"/>
          </p:cNvSpPr>
          <p:nvPr/>
        </p:nvSpPr>
        <p:spPr>
          <a:xfrm>
            <a:off x="7823200" y="2571750"/>
            <a:ext cx="3321050" cy="1047750"/>
          </a:xfrm>
          <a:prstGeom prst="rect">
            <a:avLst/>
          </a:prstGeom>
          <a:noFill/>
          <a:ln w="0">
            <a:noFill/>
          </a:ln>
        </p:spPr>
        <p:txBody>
          <a:bodyPr wrap="square" lIns="0" tIns="0" rIns="0" bIns="0">
            <a:noAutofit/>
          </a:bodyPr>
          <a:lstStyle/>
          <a:p>
            <a:pPr>
              <a:defRPr sz="2850" b="1">
                <a:solidFill>
                  <a:srgbClr val="19211B"/>
                </a:solidFill>
                <a:latin typeface="Avenir Next"/>
                <a:ea typeface="Avenir Next"/>
                <a:cs typeface="Avenir Next"/>
              </a:defRPr>
            </a:pPr>
            <a:r>
              <a:rPr sz="2850" b="1" dirty="0">
                <a:solidFill>
                  <a:srgbClr val="19211B"/>
                </a:solidFill>
                <a:latin typeface="Avenir Next"/>
                <a:ea typeface="Avenir Next"/>
                <a:cs typeface="Avenir Next"/>
              </a:rPr>
              <a:t>Your feedback</a:t>
            </a:r>
          </a:p>
        </p:txBody>
      </p:sp>
      <p:sp>
        <p:nvSpPr>
          <p:cNvPr id="11" name="“Lighter colours.&#10;Less formal.”">
            <a:extLst>
              <a:ext uri="{FF2B5EF4-FFF2-40B4-BE49-F238E27FC236}">
                <a16:creationId xmlns:a16="http://schemas.microsoft.com/office/drawing/2014/main" id="{9F23865D-5E75-405A-8063-BA28088D23F0}"/>
              </a:ext>
            </a:extLst>
          </p:cNvPr>
          <p:cNvSpPr>
            <a:spLocks noGrp="1"/>
          </p:cNvSpPr>
          <p:nvPr/>
        </p:nvSpPr>
        <p:spPr>
          <a:xfrm>
            <a:off x="7823200" y="3790950"/>
            <a:ext cx="3321050" cy="165735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“Lighter colours.</a:t>
            </a:r>
          </a:p>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Less formal.”</a:t>
            </a:r>
          </a:p>
        </p:txBody>
      </p:sp>
      <p:sp>
        <p:nvSpPr>
          <p:cNvPr id="12" name="In software, you still decide whether the result f">
            <a:extLst>
              <a:ext uri="{FF2B5EF4-FFF2-40B4-BE49-F238E27FC236}">
                <a16:creationId xmlns:a16="http://schemas.microsoft.com/office/drawing/2014/main" id="{1D84BCD8-4B82-4823-9EBC-C23CE9224AA6}"/>
              </a:ext>
            </a:extLst>
          </p:cNvPr>
          <p:cNvSpPr>
            <a:spLocks noGrp="1"/>
          </p:cNvSpPr>
          <p:nvPr/>
        </p:nvSpPr>
        <p:spPr>
          <a:xfrm>
            <a:off x="609600" y="5648325"/>
            <a:ext cx="10858500" cy="495300"/>
          </a:xfrm>
          <a:prstGeom prst="rect">
            <a:avLst/>
          </a:prstGeom>
          <a:noFill/>
          <a:ln w="0">
            <a:noFill/>
          </a:ln>
        </p:spPr>
        <p:txBody>
          <a:bodyPr wrap="square" lIns="0" tIns="0" rIns="0" bIns="0">
            <a:noAutofit/>
          </a:bodyPr>
          <a:lstStyle/>
          <a:p>
            <a:pPr>
              <a:defRPr sz="2175" b="1">
                <a:solidFill>
                  <a:srgbClr val="38613C"/>
                </a:solidFill>
                <a:latin typeface="Avenir Next"/>
                <a:ea typeface="Avenir Next"/>
                <a:cs typeface="Avenir Next"/>
              </a:defRPr>
            </a:pPr>
            <a:r>
              <a:rPr sz="2175" b="1">
                <a:solidFill>
                  <a:srgbClr val="38613C"/>
                </a:solidFill>
                <a:latin typeface="Avenir Next"/>
                <a:ea typeface="Avenir Next"/>
                <a:cs typeface="Avenir Next"/>
              </a:rPr>
              <a:t>In software, you still decide whether the result fits the need.</a:t>
            </a:r>
          </a:p>
        </p:txBody>
      </p:sp>
    </p:spTree>
    <p:extLst>
      <p:ext uri="{BB962C8B-B14F-4D97-AF65-F5344CB8AC3E}">
        <p14:creationId xmlns:p14="http://schemas.microsoft.com/office/powerpoint/2010/main" val="43949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1E9"/>
        </a:solidFill>
        <a:effectLst/>
      </p:bgPr>
    </p:bg>
    <p:spTree>
      <p:nvGrpSpPr>
        <p:cNvPr id="1" name=""/>
        <p:cNvGrpSpPr/>
        <p:nvPr/>
      </p:nvGrpSpPr>
      <p:grpSpPr>
        <a:xfrm>
          <a:off x="0" y="0"/>
          <a:ext cx="0" cy="0"/>
          <a:chOff x="0" y="0"/>
          <a:chExt cx="0" cy="0"/>
        </a:xfrm>
      </p:grpSpPr>
      <p:pic>
        <p:nvPicPr>
          <p:cNvPr id="44" name="Picture 43">
            <a:extLst>
              <a:ext uri="{FF2B5EF4-FFF2-40B4-BE49-F238E27FC236}">
                <a16:creationId xmlns:a16="http://schemas.microsoft.com/office/drawing/2014/main" id="{70713252-3DE8-ACED-54D7-6911E3478F83}"/>
              </a:ext>
            </a:extLst>
          </p:cNvPr>
          <p:cNvPicPr>
            <a:picLocks noChangeAspect="1"/>
          </p:cNvPicPr>
          <p:nvPr/>
        </p:nvPicPr>
        <p:blipFill>
          <a:blip r:embed="rId3"/>
          <a:stretch/>
        </p:blipFill>
        <p:spPr>
          <a:xfrm>
            <a:off x="4095750" y="1994325"/>
            <a:ext cx="7772400" cy="4374299"/>
          </a:xfrm>
          <a:prstGeom prst="rect">
            <a:avLst/>
          </a:prstGeom>
        </p:spPr>
      </p:pic>
      <p:sp>
        <p:nvSpPr>
          <p:cNvPr id="45" name="01  Describe">
            <a:extLst>
              <a:ext uri="{FF2B5EF4-FFF2-40B4-BE49-F238E27FC236}">
                <a16:creationId xmlns:a16="http://schemas.microsoft.com/office/drawing/2014/main" id="{9980E476-559D-7B4E-694D-7D50979F58B0}"/>
              </a:ext>
            </a:extLst>
          </p:cNvPr>
          <p:cNvSpPr>
            <a:spLocks noGrp="1"/>
          </p:cNvSpPr>
          <p:nvPr/>
        </p:nvSpPr>
        <p:spPr>
          <a:xfrm>
            <a:off x="542925" y="2076450"/>
            <a:ext cx="3286125" cy="523875"/>
          </a:xfrm>
          <a:prstGeom prst="rect">
            <a:avLst/>
          </a:prstGeom>
          <a:noFill/>
          <a:ln w="0">
            <a:noFill/>
          </a:ln>
        </p:spPr>
        <p:txBody>
          <a:bodyPr wrap="square" lIns="0" tIns="0" rIns="0" bIns="0">
            <a:noAutofit/>
          </a:bodyPr>
          <a:lstStyle/>
          <a:p>
            <a:pPr>
              <a:defRPr sz="2400" b="1" i="0">
                <a:solidFill>
                  <a:srgbClr val="38533D"/>
                </a:solidFill>
                <a:latin typeface="Avenir Next"/>
                <a:ea typeface="Avenir Next"/>
                <a:cs typeface="Avenir Next"/>
              </a:defRPr>
            </a:pPr>
            <a:r>
              <a:rPr sz="2400" b="1" i="0">
                <a:solidFill>
                  <a:srgbClr val="38533D"/>
                </a:solidFill>
                <a:latin typeface="Avenir Next"/>
                <a:ea typeface="Avenir Next"/>
                <a:cs typeface="Avenir Next"/>
              </a:rPr>
              <a:t>01  Describe</a:t>
            </a:r>
          </a:p>
        </p:txBody>
      </p:sp>
      <p:sp>
        <p:nvSpPr>
          <p:cNvPr id="46" name="The user and the outcome">
            <a:extLst>
              <a:ext uri="{FF2B5EF4-FFF2-40B4-BE49-F238E27FC236}">
                <a16:creationId xmlns:a16="http://schemas.microsoft.com/office/drawing/2014/main" id="{50C2EFBB-F5E7-85A5-EABE-EB1E5DF30B75}"/>
              </a:ext>
            </a:extLst>
          </p:cNvPr>
          <p:cNvSpPr>
            <a:spLocks noGrp="1"/>
          </p:cNvSpPr>
          <p:nvPr/>
        </p:nvSpPr>
        <p:spPr>
          <a:xfrm>
            <a:off x="552450" y="2571750"/>
            <a:ext cx="3333750" cy="600075"/>
          </a:xfrm>
          <a:prstGeom prst="rect">
            <a:avLst/>
          </a:prstGeom>
          <a:noFill/>
          <a:ln w="0">
            <a:noFill/>
          </a:ln>
        </p:spPr>
        <p:txBody>
          <a:bodyPr wrap="square" lIns="0" tIns="0" rIns="0" bIns="0">
            <a:noAutofit/>
          </a:bodyPr>
          <a:lstStyle/>
          <a:p>
            <a:pPr>
              <a:defRPr sz="1875" b="0" i="0">
                <a:solidFill>
                  <a:srgbClr val="55604F"/>
                </a:solidFill>
                <a:latin typeface="Avenir Next"/>
                <a:ea typeface="Avenir Next"/>
                <a:cs typeface="Avenir Next"/>
              </a:defRPr>
            </a:pPr>
            <a:r>
              <a:rPr sz="1875" b="0" i="0" dirty="0">
                <a:solidFill>
                  <a:srgbClr val="55604F"/>
                </a:solidFill>
                <a:latin typeface="Avenir Next"/>
                <a:ea typeface="Avenir Next"/>
                <a:cs typeface="Avenir Next"/>
              </a:rPr>
              <a:t>The user and the outcome</a:t>
            </a:r>
          </a:p>
        </p:txBody>
      </p:sp>
      <p:sp>
        <p:nvSpPr>
          <p:cNvPr id="47" name="02  Generate">
            <a:extLst>
              <a:ext uri="{FF2B5EF4-FFF2-40B4-BE49-F238E27FC236}">
                <a16:creationId xmlns:a16="http://schemas.microsoft.com/office/drawing/2014/main" id="{B88A4B86-C099-95BF-1105-C1C9004CD29F}"/>
              </a:ext>
            </a:extLst>
          </p:cNvPr>
          <p:cNvSpPr>
            <a:spLocks noGrp="1"/>
          </p:cNvSpPr>
          <p:nvPr/>
        </p:nvSpPr>
        <p:spPr>
          <a:xfrm>
            <a:off x="542925" y="3133725"/>
            <a:ext cx="3286125" cy="523875"/>
          </a:xfrm>
          <a:prstGeom prst="rect">
            <a:avLst/>
          </a:prstGeom>
          <a:noFill/>
          <a:ln w="0">
            <a:noFill/>
          </a:ln>
        </p:spPr>
        <p:txBody>
          <a:bodyPr wrap="square" lIns="0" tIns="0" rIns="0" bIns="0">
            <a:noAutofit/>
          </a:bodyPr>
          <a:lstStyle/>
          <a:p>
            <a:pPr>
              <a:defRPr sz="2400" b="1" i="0">
                <a:solidFill>
                  <a:srgbClr val="38533D"/>
                </a:solidFill>
                <a:latin typeface="Avenir Next"/>
                <a:ea typeface="Avenir Next"/>
                <a:cs typeface="Avenir Next"/>
              </a:defRPr>
            </a:pPr>
            <a:r>
              <a:rPr sz="2400" b="1" i="0">
                <a:solidFill>
                  <a:srgbClr val="38533D"/>
                </a:solidFill>
                <a:latin typeface="Avenir Next"/>
                <a:ea typeface="Avenir Next"/>
                <a:cs typeface="Avenir Next"/>
              </a:rPr>
              <a:t>02  Generate</a:t>
            </a:r>
          </a:p>
        </p:txBody>
      </p:sp>
      <p:sp>
        <p:nvSpPr>
          <p:cNvPr id="48" name="One small runnable version">
            <a:extLst>
              <a:ext uri="{FF2B5EF4-FFF2-40B4-BE49-F238E27FC236}">
                <a16:creationId xmlns:a16="http://schemas.microsoft.com/office/drawing/2014/main" id="{0C04BACF-1669-289D-D590-4A1A094312D9}"/>
              </a:ext>
            </a:extLst>
          </p:cNvPr>
          <p:cNvSpPr>
            <a:spLocks noGrp="1"/>
          </p:cNvSpPr>
          <p:nvPr/>
        </p:nvSpPr>
        <p:spPr>
          <a:xfrm>
            <a:off x="552450" y="3629025"/>
            <a:ext cx="3333750" cy="600075"/>
          </a:xfrm>
          <a:prstGeom prst="rect">
            <a:avLst/>
          </a:prstGeom>
          <a:noFill/>
          <a:ln w="0">
            <a:noFill/>
          </a:ln>
        </p:spPr>
        <p:txBody>
          <a:bodyPr wrap="square" lIns="0" tIns="0" rIns="0" bIns="0">
            <a:noAutofit/>
          </a:bodyPr>
          <a:lstStyle/>
          <a:p>
            <a:pPr>
              <a:defRPr sz="1875" b="0" i="0">
                <a:solidFill>
                  <a:srgbClr val="55604F"/>
                </a:solidFill>
                <a:latin typeface="Avenir Next"/>
                <a:ea typeface="Avenir Next"/>
                <a:cs typeface="Avenir Next"/>
              </a:defRPr>
            </a:pPr>
            <a:r>
              <a:rPr sz="1875" b="0" i="0">
                <a:solidFill>
                  <a:srgbClr val="55604F"/>
                </a:solidFill>
                <a:latin typeface="Avenir Next"/>
                <a:ea typeface="Avenir Next"/>
                <a:cs typeface="Avenir Next"/>
              </a:rPr>
              <a:t>One small runnable version</a:t>
            </a:r>
          </a:p>
        </p:txBody>
      </p:sp>
      <p:sp>
        <p:nvSpPr>
          <p:cNvPr id="49" name="03  Inspect">
            <a:extLst>
              <a:ext uri="{FF2B5EF4-FFF2-40B4-BE49-F238E27FC236}">
                <a16:creationId xmlns:a16="http://schemas.microsoft.com/office/drawing/2014/main" id="{8DBD90CB-A7FF-02E3-A48C-51776A1A1557}"/>
              </a:ext>
            </a:extLst>
          </p:cNvPr>
          <p:cNvSpPr>
            <a:spLocks noGrp="1"/>
          </p:cNvSpPr>
          <p:nvPr/>
        </p:nvSpPr>
        <p:spPr>
          <a:xfrm>
            <a:off x="542925" y="4191000"/>
            <a:ext cx="3286125" cy="523875"/>
          </a:xfrm>
          <a:prstGeom prst="rect">
            <a:avLst/>
          </a:prstGeom>
          <a:noFill/>
          <a:ln w="0">
            <a:noFill/>
          </a:ln>
        </p:spPr>
        <p:txBody>
          <a:bodyPr wrap="square" lIns="0" tIns="0" rIns="0" bIns="0">
            <a:noAutofit/>
          </a:bodyPr>
          <a:lstStyle/>
          <a:p>
            <a:pPr>
              <a:defRPr sz="2400" b="1" i="0">
                <a:solidFill>
                  <a:srgbClr val="38533D"/>
                </a:solidFill>
                <a:latin typeface="Avenir Next"/>
                <a:ea typeface="Avenir Next"/>
                <a:cs typeface="Avenir Next"/>
              </a:defRPr>
            </a:pPr>
            <a:r>
              <a:rPr sz="2400" b="1" i="0">
                <a:solidFill>
                  <a:srgbClr val="38533D"/>
                </a:solidFill>
                <a:latin typeface="Avenir Next"/>
                <a:ea typeface="Avenir Next"/>
                <a:cs typeface="Avenir Next"/>
              </a:rPr>
              <a:t>03  Inspect</a:t>
            </a:r>
          </a:p>
        </p:txBody>
      </p:sp>
      <p:sp>
        <p:nvSpPr>
          <p:cNvPr id="50" name="What really happens?">
            <a:extLst>
              <a:ext uri="{FF2B5EF4-FFF2-40B4-BE49-F238E27FC236}">
                <a16:creationId xmlns:a16="http://schemas.microsoft.com/office/drawing/2014/main" id="{1201CB76-0A71-FBE0-7B7C-A0DB4DDBA4D0}"/>
              </a:ext>
            </a:extLst>
          </p:cNvPr>
          <p:cNvSpPr>
            <a:spLocks noGrp="1"/>
          </p:cNvSpPr>
          <p:nvPr/>
        </p:nvSpPr>
        <p:spPr>
          <a:xfrm>
            <a:off x="552450" y="4686300"/>
            <a:ext cx="3333750" cy="600075"/>
          </a:xfrm>
          <a:prstGeom prst="rect">
            <a:avLst/>
          </a:prstGeom>
          <a:noFill/>
          <a:ln w="0">
            <a:noFill/>
          </a:ln>
        </p:spPr>
        <p:txBody>
          <a:bodyPr wrap="square" lIns="0" tIns="0" rIns="0" bIns="0">
            <a:noAutofit/>
          </a:bodyPr>
          <a:lstStyle/>
          <a:p>
            <a:pPr>
              <a:defRPr sz="1875" b="0" i="0">
                <a:solidFill>
                  <a:srgbClr val="55604F"/>
                </a:solidFill>
                <a:latin typeface="Avenir Next"/>
                <a:ea typeface="Avenir Next"/>
                <a:cs typeface="Avenir Next"/>
              </a:defRPr>
            </a:pPr>
            <a:r>
              <a:rPr sz="1875" b="0" i="0">
                <a:solidFill>
                  <a:srgbClr val="55604F"/>
                </a:solidFill>
                <a:latin typeface="Avenir Next"/>
                <a:ea typeface="Avenir Next"/>
                <a:cs typeface="Avenir Next"/>
              </a:rPr>
              <a:t>What really happens?</a:t>
            </a:r>
          </a:p>
        </p:txBody>
      </p:sp>
      <p:sp>
        <p:nvSpPr>
          <p:cNvPr id="51" name="04  Refine">
            <a:extLst>
              <a:ext uri="{FF2B5EF4-FFF2-40B4-BE49-F238E27FC236}">
                <a16:creationId xmlns:a16="http://schemas.microsoft.com/office/drawing/2014/main" id="{380D47FD-AF9F-9298-C7F1-384FA80A4811}"/>
              </a:ext>
            </a:extLst>
          </p:cNvPr>
          <p:cNvSpPr>
            <a:spLocks noGrp="1"/>
          </p:cNvSpPr>
          <p:nvPr/>
        </p:nvSpPr>
        <p:spPr>
          <a:xfrm>
            <a:off x="542925" y="5248275"/>
            <a:ext cx="3286125" cy="523875"/>
          </a:xfrm>
          <a:prstGeom prst="rect">
            <a:avLst/>
          </a:prstGeom>
          <a:noFill/>
          <a:ln w="0">
            <a:noFill/>
          </a:ln>
        </p:spPr>
        <p:txBody>
          <a:bodyPr wrap="square" lIns="0" tIns="0" rIns="0" bIns="0">
            <a:noAutofit/>
          </a:bodyPr>
          <a:lstStyle/>
          <a:p>
            <a:pPr>
              <a:defRPr sz="2400" b="1" i="0">
                <a:solidFill>
                  <a:srgbClr val="38533D"/>
                </a:solidFill>
                <a:latin typeface="Avenir Next"/>
                <a:ea typeface="Avenir Next"/>
                <a:cs typeface="Avenir Next"/>
              </a:defRPr>
            </a:pPr>
            <a:r>
              <a:rPr sz="2400" b="1" i="0">
                <a:solidFill>
                  <a:srgbClr val="38533D"/>
                </a:solidFill>
                <a:latin typeface="Avenir Next"/>
                <a:ea typeface="Avenir Next"/>
                <a:cs typeface="Avenir Next"/>
              </a:rPr>
              <a:t>04  Refine</a:t>
            </a:r>
          </a:p>
        </p:txBody>
      </p:sp>
      <p:sp>
        <p:nvSpPr>
          <p:cNvPr id="52" name="One specific mismatch">
            <a:extLst>
              <a:ext uri="{FF2B5EF4-FFF2-40B4-BE49-F238E27FC236}">
                <a16:creationId xmlns:a16="http://schemas.microsoft.com/office/drawing/2014/main" id="{F01D9107-7510-DAA9-B192-17A6EE430DE1}"/>
              </a:ext>
            </a:extLst>
          </p:cNvPr>
          <p:cNvSpPr>
            <a:spLocks noGrp="1"/>
          </p:cNvSpPr>
          <p:nvPr/>
        </p:nvSpPr>
        <p:spPr>
          <a:xfrm>
            <a:off x="552450" y="5743575"/>
            <a:ext cx="3333750" cy="600075"/>
          </a:xfrm>
          <a:prstGeom prst="rect">
            <a:avLst/>
          </a:prstGeom>
          <a:noFill/>
          <a:ln w="0">
            <a:noFill/>
          </a:ln>
        </p:spPr>
        <p:txBody>
          <a:bodyPr wrap="square" lIns="0" tIns="0" rIns="0" bIns="0">
            <a:noAutofit/>
          </a:bodyPr>
          <a:lstStyle/>
          <a:p>
            <a:pPr>
              <a:defRPr sz="1875" b="0" i="0">
                <a:solidFill>
                  <a:srgbClr val="55604F"/>
                </a:solidFill>
                <a:latin typeface="Avenir Next"/>
                <a:ea typeface="Avenir Next"/>
                <a:cs typeface="Avenir Next"/>
              </a:defRPr>
            </a:pPr>
            <a:r>
              <a:rPr sz="1875" b="0" i="0">
                <a:solidFill>
                  <a:srgbClr val="55604F"/>
                </a:solidFill>
                <a:latin typeface="Avenir Next"/>
                <a:ea typeface="Avenir Next"/>
                <a:cs typeface="Avenir Next"/>
              </a:rPr>
              <a:t>One specific mismatch</a:t>
            </a:r>
          </a:p>
        </p:txBody>
      </p:sp>
      <p:sp>
        <p:nvSpPr>
          <p:cNvPr id="53" name="Tools by starting point">
            <a:extLst>
              <a:ext uri="{FF2B5EF4-FFF2-40B4-BE49-F238E27FC236}">
                <a16:creationId xmlns:a16="http://schemas.microsoft.com/office/drawing/2014/main" id="{49F559A2-B4DA-E8A8-EA83-CF0A0A082F69}"/>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3975" b="1" i="0">
                <a:solidFill>
                  <a:srgbClr val="19211B"/>
                </a:solidFill>
                <a:latin typeface="Avenir Next"/>
                <a:ea typeface="Avenir Next"/>
                <a:cs typeface="Avenir Next"/>
              </a:defRPr>
            </a:pPr>
            <a:r>
              <a:rPr lang="en-US" sz="4400" b="1" dirty="0">
                <a:solidFill>
                  <a:srgbClr val="19211B"/>
                </a:solidFill>
                <a:latin typeface="Avenir Next"/>
                <a:ea typeface="Avenir Next"/>
                <a:cs typeface="Avenir Next"/>
              </a:rPr>
              <a:t>The first draft is a starting point</a:t>
            </a:r>
          </a:p>
        </p:txBody>
      </p:sp>
      <p:sp>
        <p:nvSpPr>
          <p:cNvPr id="54" name="05">
            <a:extLst>
              <a:ext uri="{FF2B5EF4-FFF2-40B4-BE49-F238E27FC236}">
                <a16:creationId xmlns:a16="http://schemas.microsoft.com/office/drawing/2014/main" id="{F886F983-476C-32D3-E75E-890DC6384092}"/>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576152"/>
                </a:solidFill>
                <a:latin typeface="JetBrains Mono"/>
                <a:ea typeface="JetBrains Mono"/>
                <a:cs typeface="JetBrains Mono"/>
              </a:defRPr>
            </a:pPr>
            <a:r>
              <a:rPr lang="en-US" sz="1275" b="0" dirty="0">
                <a:solidFill>
                  <a:srgbClr val="576152"/>
                </a:solidFill>
                <a:latin typeface="JetBrains Mono"/>
                <a:ea typeface="JetBrains Mono"/>
                <a:cs typeface="JetBrains Mono"/>
              </a:rPr>
              <a:t>06</a:t>
            </a:r>
            <a:endParaRPr sz="1275" b="0" dirty="0">
              <a:solidFill>
                <a:srgbClr val="576152"/>
              </a:solidFill>
              <a:latin typeface="JetBrains Mono"/>
              <a:ea typeface="JetBrains Mono"/>
              <a:cs typeface="JetBrains Mono"/>
            </a:endParaRPr>
          </a:p>
        </p:txBody>
      </p:sp>
    </p:spTree>
    <p:extLst>
      <p:ext uri="{BB962C8B-B14F-4D97-AF65-F5344CB8AC3E}">
        <p14:creationId xmlns:p14="http://schemas.microsoft.com/office/powerpoint/2010/main" val="771442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1E9"/>
        </a:solidFill>
        <a:effectLst/>
      </p:bgPr>
    </p:bg>
    <p:spTree>
      <p:nvGrpSpPr>
        <p:cNvPr id="1" name="">
          <a:extLst>
            <a:ext uri="{FF2B5EF4-FFF2-40B4-BE49-F238E27FC236}">
              <a16:creationId xmlns:a16="http://schemas.microsoft.com/office/drawing/2014/main" id="{D3D8EA2A-2251-6B73-386A-0A986D2F7CE8}"/>
            </a:ext>
          </a:extLst>
        </p:cNvPr>
        <p:cNvGrpSpPr/>
        <p:nvPr/>
      </p:nvGrpSpPr>
      <p:grpSpPr>
        <a:xfrm>
          <a:off x="0" y="0"/>
          <a:ext cx="0" cy="0"/>
          <a:chOff x="0" y="0"/>
          <a:chExt cx="0" cy="0"/>
        </a:xfrm>
      </p:grpSpPr>
      <p:sp>
        <p:nvSpPr>
          <p:cNvPr id="12" name="07">
            <a:extLst>
              <a:ext uri="{FF2B5EF4-FFF2-40B4-BE49-F238E27FC236}">
                <a16:creationId xmlns:a16="http://schemas.microsoft.com/office/drawing/2014/main" id="{31FF6A20-05E9-40E7-CEF8-259448BFF69B}"/>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576152"/>
                </a:solidFill>
                <a:latin typeface="JetBrains Mono"/>
                <a:ea typeface="JetBrains Mono"/>
                <a:cs typeface="JetBrains Mono"/>
              </a:defRPr>
            </a:pPr>
            <a:r>
              <a:rPr sz="1275" b="0">
                <a:solidFill>
                  <a:srgbClr val="576152"/>
                </a:solidFill>
                <a:latin typeface="JetBrains Mono"/>
                <a:ea typeface="JetBrains Mono"/>
                <a:cs typeface="JetBrains Mono"/>
              </a:rPr>
              <a:t>07</a:t>
            </a:r>
          </a:p>
        </p:txBody>
      </p:sp>
      <p:sp>
        <p:nvSpPr>
          <p:cNvPr id="2" name="Tools by starting point">
            <a:extLst>
              <a:ext uri="{FF2B5EF4-FFF2-40B4-BE49-F238E27FC236}">
                <a16:creationId xmlns:a16="http://schemas.microsoft.com/office/drawing/2014/main" id="{0538F7CC-1FF9-AB59-0DC1-D800A89C8233}"/>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3900" b="1" i="0">
                <a:solidFill>
                  <a:srgbClr val="19211B"/>
                </a:solidFill>
                <a:latin typeface="Avenir Next"/>
                <a:ea typeface="Avenir Next"/>
                <a:cs typeface="Avenir Next"/>
              </a:defRPr>
            </a:pPr>
            <a:r>
              <a:rPr lang="en-US" sz="4400" b="1" dirty="0">
                <a:solidFill>
                  <a:srgbClr val="19211B"/>
                </a:solidFill>
                <a:latin typeface="Avenir Next"/>
                <a:ea typeface="Avenir Next"/>
                <a:cs typeface="Avenir Next"/>
              </a:rPr>
              <a:t>Different ways into the same loop</a:t>
            </a:r>
          </a:p>
        </p:txBody>
      </p:sp>
      <p:pic>
        <p:nvPicPr>
          <p:cNvPr id="34" name="Picture 33">
            <a:extLst>
              <a:ext uri="{FF2B5EF4-FFF2-40B4-BE49-F238E27FC236}">
                <a16:creationId xmlns:a16="http://schemas.microsoft.com/office/drawing/2014/main" id="{5AC23072-A258-55CE-2391-2C4953415E2E}"/>
              </a:ext>
            </a:extLst>
          </p:cNvPr>
          <p:cNvPicPr>
            <a:picLocks noChangeAspect="1"/>
          </p:cNvPicPr>
          <p:nvPr/>
        </p:nvPicPr>
        <p:blipFill>
          <a:blip r:embed="rId3"/>
          <a:srcRect l="5080" r="5080"/>
          <a:stretch>
            <a:fillRect/>
          </a:stretch>
        </p:blipFill>
        <p:spPr>
          <a:xfrm>
            <a:off x="533400" y="2105025"/>
            <a:ext cx="3524250" cy="2724150"/>
          </a:xfrm>
          <a:prstGeom prst="rect">
            <a:avLst/>
          </a:prstGeom>
        </p:spPr>
      </p:pic>
      <p:sp>
        <p:nvSpPr>
          <p:cNvPr id="35" name="Cursor">
            <a:extLst>
              <a:ext uri="{FF2B5EF4-FFF2-40B4-BE49-F238E27FC236}">
                <a16:creationId xmlns:a16="http://schemas.microsoft.com/office/drawing/2014/main" id="{65A9913E-12FA-02F5-E7D8-B1FE7237ED3F}"/>
              </a:ext>
            </a:extLst>
          </p:cNvPr>
          <p:cNvSpPr>
            <a:spLocks noGrp="1"/>
          </p:cNvSpPr>
          <p:nvPr/>
        </p:nvSpPr>
        <p:spPr>
          <a:xfrm>
            <a:off x="533400" y="5105400"/>
            <a:ext cx="3571875" cy="571500"/>
          </a:xfrm>
          <a:prstGeom prst="rect">
            <a:avLst/>
          </a:prstGeom>
          <a:noFill/>
          <a:ln w="0">
            <a:noFill/>
          </a:ln>
        </p:spPr>
        <p:txBody>
          <a:bodyPr wrap="square" lIns="0" tIns="0" rIns="0" bIns="0">
            <a:noAutofit/>
          </a:bodyPr>
          <a:lstStyle/>
          <a:p>
            <a:pPr>
              <a:defRPr sz="2625" b="1" i="0">
                <a:solidFill>
                  <a:srgbClr val="19211B"/>
                </a:solidFill>
                <a:latin typeface="Avenir Next"/>
                <a:ea typeface="Avenir Next"/>
                <a:cs typeface="Avenir Next"/>
              </a:defRPr>
            </a:pPr>
            <a:r>
              <a:rPr sz="2625" b="1" i="0">
                <a:solidFill>
                  <a:srgbClr val="19211B"/>
                </a:solidFill>
                <a:latin typeface="Avenir Next"/>
                <a:ea typeface="Avenir Next"/>
                <a:cs typeface="Avenir Next"/>
              </a:rPr>
              <a:t>Cursor</a:t>
            </a:r>
          </a:p>
        </p:txBody>
      </p:sp>
      <p:sp>
        <p:nvSpPr>
          <p:cNvPr id="36" name="An existing codebase">
            <a:extLst>
              <a:ext uri="{FF2B5EF4-FFF2-40B4-BE49-F238E27FC236}">
                <a16:creationId xmlns:a16="http://schemas.microsoft.com/office/drawing/2014/main" id="{1FED7C12-BEA9-705E-DB63-8AE6962845AE}"/>
              </a:ext>
            </a:extLst>
          </p:cNvPr>
          <p:cNvSpPr>
            <a:spLocks noGrp="1"/>
          </p:cNvSpPr>
          <p:nvPr/>
        </p:nvSpPr>
        <p:spPr>
          <a:xfrm>
            <a:off x="533400" y="5667375"/>
            <a:ext cx="3590925" cy="542925"/>
          </a:xfrm>
          <a:prstGeom prst="rect">
            <a:avLst/>
          </a:prstGeom>
          <a:noFill/>
          <a:ln w="0">
            <a:noFill/>
          </a:ln>
        </p:spPr>
        <p:txBody>
          <a:bodyPr wrap="square" lIns="0" tIns="0" rIns="0" bIns="0">
            <a:noAutofit/>
          </a:bodyPr>
          <a:lstStyle/>
          <a:p>
            <a:pPr>
              <a:defRPr sz="1800" b="0" i="0">
                <a:solidFill>
                  <a:srgbClr val="55604F"/>
                </a:solidFill>
                <a:latin typeface="Avenir Next"/>
                <a:ea typeface="Avenir Next"/>
                <a:cs typeface="Avenir Next"/>
              </a:defRPr>
            </a:pPr>
            <a:r>
              <a:rPr sz="1800" b="0" i="0">
                <a:solidFill>
                  <a:srgbClr val="55604F"/>
                </a:solidFill>
                <a:latin typeface="Avenir Next"/>
                <a:ea typeface="Avenir Next"/>
                <a:cs typeface="Avenir Next"/>
              </a:rPr>
              <a:t>An existing codebase</a:t>
            </a:r>
          </a:p>
        </p:txBody>
      </p:sp>
      <p:pic>
        <p:nvPicPr>
          <p:cNvPr id="37" name="Picture 36">
            <a:extLst>
              <a:ext uri="{FF2B5EF4-FFF2-40B4-BE49-F238E27FC236}">
                <a16:creationId xmlns:a16="http://schemas.microsoft.com/office/drawing/2014/main" id="{DECC9F86-7F19-13D8-BF10-0C94562E9C55}"/>
              </a:ext>
            </a:extLst>
          </p:cNvPr>
          <p:cNvPicPr>
            <a:picLocks noChangeAspect="1"/>
          </p:cNvPicPr>
          <p:nvPr/>
        </p:nvPicPr>
        <p:blipFill>
          <a:blip r:embed="rId4"/>
          <a:srcRect l="5080" r="5080"/>
          <a:stretch>
            <a:fillRect/>
          </a:stretch>
        </p:blipFill>
        <p:spPr>
          <a:xfrm>
            <a:off x="4324350" y="2105025"/>
            <a:ext cx="3524250" cy="2724150"/>
          </a:xfrm>
          <a:prstGeom prst="rect">
            <a:avLst/>
          </a:prstGeom>
        </p:spPr>
      </p:pic>
      <p:sp>
        <p:nvSpPr>
          <p:cNvPr id="38" name="Replit Agent">
            <a:extLst>
              <a:ext uri="{FF2B5EF4-FFF2-40B4-BE49-F238E27FC236}">
                <a16:creationId xmlns:a16="http://schemas.microsoft.com/office/drawing/2014/main" id="{D242B556-5B04-D58B-4585-06EB6CC2AD98}"/>
              </a:ext>
            </a:extLst>
          </p:cNvPr>
          <p:cNvSpPr>
            <a:spLocks noGrp="1"/>
          </p:cNvSpPr>
          <p:nvPr/>
        </p:nvSpPr>
        <p:spPr>
          <a:xfrm>
            <a:off x="4324350" y="5105400"/>
            <a:ext cx="3571875" cy="571500"/>
          </a:xfrm>
          <a:prstGeom prst="rect">
            <a:avLst/>
          </a:prstGeom>
          <a:noFill/>
          <a:ln w="0">
            <a:noFill/>
          </a:ln>
        </p:spPr>
        <p:txBody>
          <a:bodyPr wrap="square" lIns="0" tIns="0" rIns="0" bIns="0">
            <a:noAutofit/>
          </a:bodyPr>
          <a:lstStyle/>
          <a:p>
            <a:pPr>
              <a:defRPr sz="2625" b="1" i="0">
                <a:solidFill>
                  <a:srgbClr val="19211B"/>
                </a:solidFill>
                <a:latin typeface="Avenir Next"/>
                <a:ea typeface="Avenir Next"/>
                <a:cs typeface="Avenir Next"/>
              </a:defRPr>
            </a:pPr>
            <a:r>
              <a:rPr sz="2625" b="1" i="0">
                <a:solidFill>
                  <a:srgbClr val="19211B"/>
                </a:solidFill>
                <a:latin typeface="Avenir Next"/>
                <a:ea typeface="Avenir Next"/>
                <a:cs typeface="Avenir Next"/>
              </a:rPr>
              <a:t>Replit Agent</a:t>
            </a:r>
          </a:p>
        </p:txBody>
      </p:sp>
      <p:sp>
        <p:nvSpPr>
          <p:cNvPr id="39" name="A new app in a browser">
            <a:extLst>
              <a:ext uri="{FF2B5EF4-FFF2-40B4-BE49-F238E27FC236}">
                <a16:creationId xmlns:a16="http://schemas.microsoft.com/office/drawing/2014/main" id="{D3475F78-218F-E367-6054-5829934A7139}"/>
              </a:ext>
            </a:extLst>
          </p:cNvPr>
          <p:cNvSpPr>
            <a:spLocks noGrp="1"/>
          </p:cNvSpPr>
          <p:nvPr/>
        </p:nvSpPr>
        <p:spPr>
          <a:xfrm>
            <a:off x="4324350" y="5667375"/>
            <a:ext cx="3590925" cy="542925"/>
          </a:xfrm>
          <a:prstGeom prst="rect">
            <a:avLst/>
          </a:prstGeom>
          <a:noFill/>
          <a:ln w="0">
            <a:noFill/>
          </a:ln>
        </p:spPr>
        <p:txBody>
          <a:bodyPr wrap="square" lIns="0" tIns="0" rIns="0" bIns="0">
            <a:noAutofit/>
          </a:bodyPr>
          <a:lstStyle/>
          <a:p>
            <a:pPr>
              <a:defRPr sz="1800" b="0" i="0">
                <a:solidFill>
                  <a:srgbClr val="55604F"/>
                </a:solidFill>
                <a:latin typeface="Avenir Next"/>
                <a:ea typeface="Avenir Next"/>
                <a:cs typeface="Avenir Next"/>
              </a:defRPr>
            </a:pPr>
            <a:r>
              <a:rPr sz="1800" b="0" i="0">
                <a:solidFill>
                  <a:srgbClr val="55604F"/>
                </a:solidFill>
                <a:latin typeface="Avenir Next"/>
                <a:ea typeface="Avenir Next"/>
                <a:cs typeface="Avenir Next"/>
              </a:rPr>
              <a:t>A new app in a browser</a:t>
            </a:r>
          </a:p>
        </p:txBody>
      </p:sp>
      <p:pic>
        <p:nvPicPr>
          <p:cNvPr id="40" name="Picture 39">
            <a:extLst>
              <a:ext uri="{FF2B5EF4-FFF2-40B4-BE49-F238E27FC236}">
                <a16:creationId xmlns:a16="http://schemas.microsoft.com/office/drawing/2014/main" id="{96F454F5-6B5D-5077-26B3-2AAACF9C51B5}"/>
              </a:ext>
            </a:extLst>
          </p:cNvPr>
          <p:cNvPicPr>
            <a:picLocks noChangeAspect="1"/>
          </p:cNvPicPr>
          <p:nvPr/>
        </p:nvPicPr>
        <p:blipFill>
          <a:blip r:embed="rId5"/>
          <a:srcRect l="9194" r="9194"/>
          <a:stretch>
            <a:fillRect/>
          </a:stretch>
        </p:blipFill>
        <p:spPr>
          <a:xfrm>
            <a:off x="8115300" y="2105025"/>
            <a:ext cx="3524250" cy="2724150"/>
          </a:xfrm>
          <a:prstGeom prst="rect">
            <a:avLst/>
          </a:prstGeom>
        </p:spPr>
      </p:pic>
      <p:sp>
        <p:nvSpPr>
          <p:cNvPr id="41" name="Lovable">
            <a:extLst>
              <a:ext uri="{FF2B5EF4-FFF2-40B4-BE49-F238E27FC236}">
                <a16:creationId xmlns:a16="http://schemas.microsoft.com/office/drawing/2014/main" id="{A27AFFF2-1BF1-62A2-DD9D-99166EC96783}"/>
              </a:ext>
            </a:extLst>
          </p:cNvPr>
          <p:cNvSpPr>
            <a:spLocks noGrp="1"/>
          </p:cNvSpPr>
          <p:nvPr/>
        </p:nvSpPr>
        <p:spPr>
          <a:xfrm>
            <a:off x="8115300" y="5105400"/>
            <a:ext cx="3571875" cy="571500"/>
          </a:xfrm>
          <a:prstGeom prst="rect">
            <a:avLst/>
          </a:prstGeom>
          <a:noFill/>
          <a:ln w="0">
            <a:noFill/>
          </a:ln>
        </p:spPr>
        <p:txBody>
          <a:bodyPr wrap="square" lIns="0" tIns="0" rIns="0" bIns="0">
            <a:noAutofit/>
          </a:bodyPr>
          <a:lstStyle/>
          <a:p>
            <a:pPr>
              <a:defRPr sz="2625" b="1" i="0">
                <a:solidFill>
                  <a:srgbClr val="19211B"/>
                </a:solidFill>
                <a:latin typeface="Avenir Next"/>
                <a:ea typeface="Avenir Next"/>
                <a:cs typeface="Avenir Next"/>
              </a:defRPr>
            </a:pPr>
            <a:r>
              <a:rPr sz="2625" b="1" i="0">
                <a:solidFill>
                  <a:srgbClr val="19211B"/>
                </a:solidFill>
                <a:latin typeface="Avenir Next"/>
                <a:ea typeface="Avenir Next"/>
                <a:cs typeface="Avenir Next"/>
              </a:rPr>
              <a:t>Lovable</a:t>
            </a:r>
          </a:p>
        </p:txBody>
      </p:sp>
      <p:sp>
        <p:nvSpPr>
          <p:cNvPr id="42" name="A prompt and a preview">
            <a:extLst>
              <a:ext uri="{FF2B5EF4-FFF2-40B4-BE49-F238E27FC236}">
                <a16:creationId xmlns:a16="http://schemas.microsoft.com/office/drawing/2014/main" id="{0AF4249B-8945-8AA1-F8EC-EF9F974A7975}"/>
              </a:ext>
            </a:extLst>
          </p:cNvPr>
          <p:cNvSpPr>
            <a:spLocks noGrp="1"/>
          </p:cNvSpPr>
          <p:nvPr/>
        </p:nvSpPr>
        <p:spPr>
          <a:xfrm>
            <a:off x="8115300" y="5667375"/>
            <a:ext cx="3590925" cy="542925"/>
          </a:xfrm>
          <a:prstGeom prst="rect">
            <a:avLst/>
          </a:prstGeom>
          <a:noFill/>
          <a:ln w="0">
            <a:noFill/>
          </a:ln>
        </p:spPr>
        <p:txBody>
          <a:bodyPr wrap="square" lIns="0" tIns="0" rIns="0" bIns="0">
            <a:noAutofit/>
          </a:bodyPr>
          <a:lstStyle/>
          <a:p>
            <a:pPr>
              <a:defRPr sz="1800" b="0" i="0">
                <a:solidFill>
                  <a:srgbClr val="55604F"/>
                </a:solidFill>
                <a:latin typeface="Avenir Next"/>
                <a:ea typeface="Avenir Next"/>
                <a:cs typeface="Avenir Next"/>
              </a:defRPr>
            </a:pPr>
            <a:r>
              <a:rPr sz="1800" b="0" i="0">
                <a:solidFill>
                  <a:srgbClr val="55604F"/>
                </a:solidFill>
                <a:latin typeface="Avenir Next"/>
                <a:ea typeface="Avenir Next"/>
                <a:cs typeface="Avenir Next"/>
              </a:rPr>
              <a:t>A prompt and a preview</a:t>
            </a:r>
          </a:p>
        </p:txBody>
      </p:sp>
    </p:spTree>
    <p:extLst>
      <p:ext uri="{BB962C8B-B14F-4D97-AF65-F5344CB8AC3E}">
        <p14:creationId xmlns:p14="http://schemas.microsoft.com/office/powerpoint/2010/main" val="3011364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1E9"/>
        </a:solidFill>
        <a:effectLst/>
      </p:bgPr>
    </p:bg>
    <p:spTree>
      <p:nvGrpSpPr>
        <p:cNvPr id="1" name=""/>
        <p:cNvGrpSpPr/>
        <p:nvPr/>
      </p:nvGrpSpPr>
      <p:grpSpPr>
        <a:xfrm>
          <a:off x="0" y="0"/>
          <a:ext cx="0" cy="0"/>
          <a:chOff x="0" y="0"/>
          <a:chExt cx="0" cy="0"/>
        </a:xfrm>
      </p:grpSpPr>
      <p:sp>
        <p:nvSpPr>
          <p:cNvPr id="18" name="08">
            <a:extLst>
              <a:ext uri="{FF2B5EF4-FFF2-40B4-BE49-F238E27FC236}">
                <a16:creationId xmlns:a16="http://schemas.microsoft.com/office/drawing/2014/main" id="{E9BCB145-E55E-4C2F-8A6F-873E531814CA}"/>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576152"/>
                </a:solidFill>
                <a:latin typeface="JetBrains Mono"/>
                <a:ea typeface="JetBrains Mono"/>
                <a:cs typeface="JetBrains Mono"/>
              </a:defRPr>
            </a:pPr>
            <a:r>
              <a:rPr sz="1275" b="0">
                <a:solidFill>
                  <a:srgbClr val="576152"/>
                </a:solidFill>
                <a:latin typeface="JetBrains Mono"/>
                <a:ea typeface="JetBrains Mono"/>
                <a:cs typeface="JetBrains Mono"/>
              </a:rPr>
              <a:t>08</a:t>
            </a:r>
          </a:p>
        </p:txBody>
      </p:sp>
      <p:sp>
        <p:nvSpPr>
          <p:cNvPr id="2" name="A prompt that can be checked">
            <a:extLst>
              <a:ext uri="{FF2B5EF4-FFF2-40B4-BE49-F238E27FC236}">
                <a16:creationId xmlns:a16="http://schemas.microsoft.com/office/drawing/2014/main" id="{79F8942F-A161-408B-B1C0-BA1057ACFBF3}"/>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19211B"/>
                </a:solidFill>
                <a:latin typeface="Avenir Next"/>
                <a:ea typeface="Avenir Next"/>
                <a:cs typeface="Avenir Next"/>
              </a:defRPr>
            </a:pPr>
            <a:r>
              <a:rPr sz="4050" b="1" dirty="0">
                <a:solidFill>
                  <a:srgbClr val="19211B"/>
                </a:solidFill>
                <a:latin typeface="Avenir Next"/>
                <a:ea typeface="Avenir Next"/>
                <a:cs typeface="Avenir Next"/>
              </a:rPr>
              <a:t>A </a:t>
            </a:r>
            <a:r>
              <a:rPr lang="en-US" sz="4050" b="1" dirty="0">
                <a:solidFill>
                  <a:srgbClr val="19211B"/>
                </a:solidFill>
                <a:latin typeface="Avenir Next"/>
                <a:ea typeface="Avenir Next"/>
                <a:cs typeface="Avenir Next"/>
              </a:rPr>
              <a:t>good </a:t>
            </a:r>
            <a:r>
              <a:rPr sz="4050" b="1" dirty="0">
                <a:solidFill>
                  <a:srgbClr val="19211B"/>
                </a:solidFill>
                <a:latin typeface="Avenir Next"/>
                <a:ea typeface="Avenir Next"/>
                <a:cs typeface="Avenir Next"/>
              </a:rPr>
              <a:t>prompt </a:t>
            </a:r>
            <a:r>
              <a:rPr lang="en-US" sz="4050" b="1" dirty="0">
                <a:solidFill>
                  <a:srgbClr val="19211B"/>
                </a:solidFill>
                <a:latin typeface="Avenir Next"/>
                <a:ea typeface="Avenir Next"/>
                <a:cs typeface="Avenir Next"/>
              </a:rPr>
              <a:t>guideline</a:t>
            </a:r>
            <a:endParaRPr sz="4050" b="1" dirty="0">
              <a:solidFill>
                <a:srgbClr val="19211B"/>
              </a:solidFill>
              <a:latin typeface="Avenir Next"/>
              <a:ea typeface="Avenir Next"/>
              <a:cs typeface="Avenir Next"/>
            </a:endParaRPr>
          </a:p>
        </p:txBody>
      </p:sp>
      <p:sp>
        <p:nvSpPr>
          <p:cNvPr id="3" name="01">
            <a:extLst>
              <a:ext uri="{FF2B5EF4-FFF2-40B4-BE49-F238E27FC236}">
                <a16:creationId xmlns:a16="http://schemas.microsoft.com/office/drawing/2014/main" id="{A24A5849-DA11-40B6-AA8E-FCD4805006C4}"/>
              </a:ext>
            </a:extLst>
          </p:cNvPr>
          <p:cNvSpPr>
            <a:spLocks noGrp="1"/>
          </p:cNvSpPr>
          <p:nvPr/>
        </p:nvSpPr>
        <p:spPr>
          <a:xfrm>
            <a:off x="609600" y="1895475"/>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01</a:t>
            </a:r>
          </a:p>
        </p:txBody>
      </p:sp>
      <p:sp>
        <p:nvSpPr>
          <p:cNvPr id="4" name="Purpose">
            <a:extLst>
              <a:ext uri="{FF2B5EF4-FFF2-40B4-BE49-F238E27FC236}">
                <a16:creationId xmlns:a16="http://schemas.microsoft.com/office/drawing/2014/main" id="{F60A4E80-F3B9-4786-A03D-527B938E5B70}"/>
              </a:ext>
            </a:extLst>
          </p:cNvPr>
          <p:cNvSpPr>
            <a:spLocks noGrp="1"/>
          </p:cNvSpPr>
          <p:nvPr/>
        </p:nvSpPr>
        <p:spPr>
          <a:xfrm>
            <a:off x="1409700" y="1828800"/>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Purpose</a:t>
            </a:r>
          </a:p>
        </p:txBody>
      </p:sp>
      <p:sp>
        <p:nvSpPr>
          <p:cNvPr id="5" name="Who is it for, and what should they accomplish?">
            <a:extLst>
              <a:ext uri="{FF2B5EF4-FFF2-40B4-BE49-F238E27FC236}">
                <a16:creationId xmlns:a16="http://schemas.microsoft.com/office/drawing/2014/main" id="{E4272C3E-4C6B-40A2-81E8-6B0C585D3325}"/>
              </a:ext>
            </a:extLst>
          </p:cNvPr>
          <p:cNvSpPr>
            <a:spLocks noGrp="1"/>
          </p:cNvSpPr>
          <p:nvPr/>
        </p:nvSpPr>
        <p:spPr>
          <a:xfrm>
            <a:off x="5457825" y="1866900"/>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Who is it for, and what should they accomplish?</a:t>
            </a:r>
          </a:p>
        </p:txBody>
      </p:sp>
      <p:sp>
        <p:nvSpPr>
          <p:cNvPr id="6" name="02">
            <a:extLst>
              <a:ext uri="{FF2B5EF4-FFF2-40B4-BE49-F238E27FC236}">
                <a16:creationId xmlns:a16="http://schemas.microsoft.com/office/drawing/2014/main" id="{33675687-BD96-45C3-804A-5EFB7CED4E04}"/>
              </a:ext>
            </a:extLst>
          </p:cNvPr>
          <p:cNvSpPr>
            <a:spLocks noGrp="1"/>
          </p:cNvSpPr>
          <p:nvPr/>
        </p:nvSpPr>
        <p:spPr>
          <a:xfrm>
            <a:off x="609600" y="2752725"/>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02</a:t>
            </a:r>
          </a:p>
        </p:txBody>
      </p:sp>
      <p:sp>
        <p:nvSpPr>
          <p:cNvPr id="7" name="Visual direction">
            <a:extLst>
              <a:ext uri="{FF2B5EF4-FFF2-40B4-BE49-F238E27FC236}">
                <a16:creationId xmlns:a16="http://schemas.microsoft.com/office/drawing/2014/main" id="{420D7D05-A7FB-4AD6-8A38-D95C69D3943E}"/>
              </a:ext>
            </a:extLst>
          </p:cNvPr>
          <p:cNvSpPr>
            <a:spLocks noGrp="1"/>
          </p:cNvSpPr>
          <p:nvPr/>
        </p:nvSpPr>
        <p:spPr>
          <a:xfrm>
            <a:off x="1409700" y="2686050"/>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Visual direction</a:t>
            </a:r>
          </a:p>
        </p:txBody>
      </p:sp>
      <p:sp>
        <p:nvSpPr>
          <p:cNvPr id="8" name="Name the mood, layout, colours or reference.">
            <a:extLst>
              <a:ext uri="{FF2B5EF4-FFF2-40B4-BE49-F238E27FC236}">
                <a16:creationId xmlns:a16="http://schemas.microsoft.com/office/drawing/2014/main" id="{CEEF7885-78E2-4A6A-966E-A0877DC32CAB}"/>
              </a:ext>
            </a:extLst>
          </p:cNvPr>
          <p:cNvSpPr>
            <a:spLocks noGrp="1"/>
          </p:cNvSpPr>
          <p:nvPr/>
        </p:nvSpPr>
        <p:spPr>
          <a:xfrm>
            <a:off x="5457825" y="2724150"/>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Name the mood, layout, colours or reference.</a:t>
            </a:r>
          </a:p>
        </p:txBody>
      </p:sp>
      <p:sp>
        <p:nvSpPr>
          <p:cNvPr id="9" name="03">
            <a:extLst>
              <a:ext uri="{FF2B5EF4-FFF2-40B4-BE49-F238E27FC236}">
                <a16:creationId xmlns:a16="http://schemas.microsoft.com/office/drawing/2014/main" id="{10F67350-C5DB-48F4-9A20-6B435F8D1594}"/>
              </a:ext>
            </a:extLst>
          </p:cNvPr>
          <p:cNvSpPr>
            <a:spLocks noGrp="1"/>
          </p:cNvSpPr>
          <p:nvPr/>
        </p:nvSpPr>
        <p:spPr>
          <a:xfrm>
            <a:off x="609600" y="3609975"/>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03</a:t>
            </a:r>
          </a:p>
        </p:txBody>
      </p:sp>
      <p:sp>
        <p:nvSpPr>
          <p:cNvPr id="10" name="Scope and constraints">
            <a:extLst>
              <a:ext uri="{FF2B5EF4-FFF2-40B4-BE49-F238E27FC236}">
                <a16:creationId xmlns:a16="http://schemas.microsoft.com/office/drawing/2014/main" id="{DD6BAC8E-D194-40A1-AAA1-773AC4CE54E9}"/>
              </a:ext>
            </a:extLst>
          </p:cNvPr>
          <p:cNvSpPr>
            <a:spLocks noGrp="1"/>
          </p:cNvSpPr>
          <p:nvPr/>
        </p:nvSpPr>
        <p:spPr>
          <a:xfrm>
            <a:off x="1409700" y="3543300"/>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Scope and constraints</a:t>
            </a:r>
          </a:p>
        </p:txBody>
      </p:sp>
      <p:sp>
        <p:nvSpPr>
          <p:cNvPr id="11" name="Specify behaviour, stack and what is out of scope.">
            <a:extLst>
              <a:ext uri="{FF2B5EF4-FFF2-40B4-BE49-F238E27FC236}">
                <a16:creationId xmlns:a16="http://schemas.microsoft.com/office/drawing/2014/main" id="{AB98026E-EAFC-47F3-A322-C13257419632}"/>
              </a:ext>
            </a:extLst>
          </p:cNvPr>
          <p:cNvSpPr>
            <a:spLocks noGrp="1"/>
          </p:cNvSpPr>
          <p:nvPr/>
        </p:nvSpPr>
        <p:spPr>
          <a:xfrm>
            <a:off x="5457825" y="3581400"/>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Specify behaviour, stack and what is out of scope.</a:t>
            </a:r>
          </a:p>
        </p:txBody>
      </p:sp>
      <p:sp>
        <p:nvSpPr>
          <p:cNvPr id="12" name="04">
            <a:extLst>
              <a:ext uri="{FF2B5EF4-FFF2-40B4-BE49-F238E27FC236}">
                <a16:creationId xmlns:a16="http://schemas.microsoft.com/office/drawing/2014/main" id="{3614F894-3D99-46CF-984A-1FA414DD2EA8}"/>
              </a:ext>
            </a:extLst>
          </p:cNvPr>
          <p:cNvSpPr>
            <a:spLocks noGrp="1"/>
          </p:cNvSpPr>
          <p:nvPr/>
        </p:nvSpPr>
        <p:spPr>
          <a:xfrm>
            <a:off x="609600" y="4467225"/>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04</a:t>
            </a:r>
          </a:p>
        </p:txBody>
      </p:sp>
      <p:sp>
        <p:nvSpPr>
          <p:cNvPr id="13" name="Deliverable">
            <a:extLst>
              <a:ext uri="{FF2B5EF4-FFF2-40B4-BE49-F238E27FC236}">
                <a16:creationId xmlns:a16="http://schemas.microsoft.com/office/drawing/2014/main" id="{83CAC438-7177-4562-AAF7-50F6C1A87291}"/>
              </a:ext>
            </a:extLst>
          </p:cNvPr>
          <p:cNvSpPr>
            <a:spLocks noGrp="1"/>
          </p:cNvSpPr>
          <p:nvPr/>
        </p:nvSpPr>
        <p:spPr>
          <a:xfrm>
            <a:off x="1409700" y="4400550"/>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Deliverable</a:t>
            </a:r>
          </a:p>
        </p:txBody>
      </p:sp>
      <p:sp>
        <p:nvSpPr>
          <p:cNvPr id="14" name="Ask for runnable code and setup instructions.">
            <a:extLst>
              <a:ext uri="{FF2B5EF4-FFF2-40B4-BE49-F238E27FC236}">
                <a16:creationId xmlns:a16="http://schemas.microsoft.com/office/drawing/2014/main" id="{30C48EF2-1322-41E6-B74A-BC04D4383C1D}"/>
              </a:ext>
            </a:extLst>
          </p:cNvPr>
          <p:cNvSpPr>
            <a:spLocks noGrp="1"/>
          </p:cNvSpPr>
          <p:nvPr/>
        </p:nvSpPr>
        <p:spPr>
          <a:xfrm>
            <a:off x="5457825" y="4438650"/>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Ask for runnable code and setup instructions.</a:t>
            </a:r>
          </a:p>
        </p:txBody>
      </p:sp>
      <p:sp>
        <p:nvSpPr>
          <p:cNvPr id="15" name="05">
            <a:extLst>
              <a:ext uri="{FF2B5EF4-FFF2-40B4-BE49-F238E27FC236}">
                <a16:creationId xmlns:a16="http://schemas.microsoft.com/office/drawing/2014/main" id="{8DB642B6-6176-4EBF-9156-1B39EBD50496}"/>
              </a:ext>
            </a:extLst>
          </p:cNvPr>
          <p:cNvSpPr>
            <a:spLocks noGrp="1"/>
          </p:cNvSpPr>
          <p:nvPr/>
        </p:nvSpPr>
        <p:spPr>
          <a:xfrm>
            <a:off x="609600" y="5324475"/>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05</a:t>
            </a:r>
          </a:p>
        </p:txBody>
      </p:sp>
      <p:sp>
        <p:nvSpPr>
          <p:cNvPr id="16" name="Acceptance checks">
            <a:extLst>
              <a:ext uri="{FF2B5EF4-FFF2-40B4-BE49-F238E27FC236}">
                <a16:creationId xmlns:a16="http://schemas.microsoft.com/office/drawing/2014/main" id="{0B95C010-10FB-495C-AABD-7951B9B28C58}"/>
              </a:ext>
            </a:extLst>
          </p:cNvPr>
          <p:cNvSpPr>
            <a:spLocks noGrp="1"/>
          </p:cNvSpPr>
          <p:nvPr/>
        </p:nvSpPr>
        <p:spPr>
          <a:xfrm>
            <a:off x="1409700" y="5257800"/>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Acceptance checks</a:t>
            </a:r>
          </a:p>
        </p:txBody>
      </p:sp>
      <p:sp>
        <p:nvSpPr>
          <p:cNvPr id="17" name="Define the actions and outcomes you will verify.">
            <a:extLst>
              <a:ext uri="{FF2B5EF4-FFF2-40B4-BE49-F238E27FC236}">
                <a16:creationId xmlns:a16="http://schemas.microsoft.com/office/drawing/2014/main" id="{0D963884-0C52-4DC3-895D-C6CC95BD3712}"/>
              </a:ext>
            </a:extLst>
          </p:cNvPr>
          <p:cNvSpPr>
            <a:spLocks noGrp="1"/>
          </p:cNvSpPr>
          <p:nvPr/>
        </p:nvSpPr>
        <p:spPr>
          <a:xfrm>
            <a:off x="5457825" y="5295900"/>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Define the actions and outcomes you will verify.</a:t>
            </a:r>
          </a:p>
        </p:txBody>
      </p:sp>
    </p:spTree>
    <p:extLst>
      <p:ext uri="{BB962C8B-B14F-4D97-AF65-F5344CB8AC3E}">
        <p14:creationId xmlns:p14="http://schemas.microsoft.com/office/powerpoint/2010/main" val="991565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51716"/>
        </a:solidFill>
        <a:effectLst/>
      </p:bgPr>
    </p:bg>
    <p:spTree>
      <p:nvGrpSpPr>
        <p:cNvPr id="1" name="">
          <a:extLst>
            <a:ext uri="{FF2B5EF4-FFF2-40B4-BE49-F238E27FC236}">
              <a16:creationId xmlns:a16="http://schemas.microsoft.com/office/drawing/2014/main" id="{74040F63-5BED-9FF5-918E-0C7335B76788}"/>
            </a:ext>
          </a:extLst>
        </p:cNvPr>
        <p:cNvGrpSpPr/>
        <p:nvPr/>
      </p:nvGrpSpPr>
      <p:grpSpPr>
        <a:xfrm>
          <a:off x="0" y="0"/>
          <a:ext cx="0" cy="0"/>
          <a:chOff x="0" y="0"/>
          <a:chExt cx="0" cy="0"/>
        </a:xfrm>
      </p:grpSpPr>
      <p:sp>
        <p:nvSpPr>
          <p:cNvPr id="5" name="09">
            <a:extLst>
              <a:ext uri="{FF2B5EF4-FFF2-40B4-BE49-F238E27FC236}">
                <a16:creationId xmlns:a16="http://schemas.microsoft.com/office/drawing/2014/main" id="{FA1F8F8C-7499-B488-3F0A-0A46515F2CF8}"/>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A9B0A7"/>
                </a:solidFill>
                <a:latin typeface="JetBrains Mono"/>
                <a:ea typeface="JetBrains Mono"/>
                <a:cs typeface="JetBrains Mono"/>
              </a:defRPr>
            </a:pPr>
            <a:r>
              <a:rPr sz="1275" b="0">
                <a:solidFill>
                  <a:srgbClr val="A9B0A7"/>
                </a:solidFill>
                <a:latin typeface="JetBrains Mono"/>
                <a:ea typeface="JetBrains Mono"/>
                <a:cs typeface="JetBrains Mono"/>
              </a:rPr>
              <a:t>09</a:t>
            </a:r>
          </a:p>
        </p:txBody>
      </p:sp>
      <p:sp>
        <p:nvSpPr>
          <p:cNvPr id="2" name="A vague prompt">
            <a:extLst>
              <a:ext uri="{FF2B5EF4-FFF2-40B4-BE49-F238E27FC236}">
                <a16:creationId xmlns:a16="http://schemas.microsoft.com/office/drawing/2014/main" id="{FBA43AE6-24C4-6355-A867-D2C2632CA429}"/>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F3F1E9"/>
                </a:solidFill>
                <a:latin typeface="Avenir Next"/>
                <a:ea typeface="Avenir Next"/>
                <a:cs typeface="Avenir Next"/>
              </a:defRPr>
            </a:pPr>
            <a:r>
              <a:rPr sz="4050" b="1">
                <a:solidFill>
                  <a:srgbClr val="F3F1E9"/>
                </a:solidFill>
                <a:latin typeface="Avenir Next"/>
                <a:ea typeface="Avenir Next"/>
                <a:cs typeface="Avenir Next"/>
              </a:rPr>
              <a:t>A vague prompt</a:t>
            </a:r>
          </a:p>
        </p:txBody>
      </p:sp>
      <p:sp>
        <p:nvSpPr>
          <p:cNvPr id="3" name="“Build a landing page for a&#10;meditation app using R">
            <a:extLst>
              <a:ext uri="{FF2B5EF4-FFF2-40B4-BE49-F238E27FC236}">
                <a16:creationId xmlns:a16="http://schemas.microsoft.com/office/drawing/2014/main" id="{DF551019-62B5-02CD-A6F1-9FFB2105BE19}"/>
              </a:ext>
            </a:extLst>
          </p:cNvPr>
          <p:cNvSpPr>
            <a:spLocks noGrp="1"/>
          </p:cNvSpPr>
          <p:nvPr/>
        </p:nvSpPr>
        <p:spPr>
          <a:xfrm>
            <a:off x="609600" y="2000250"/>
            <a:ext cx="10953750" cy="2857500"/>
          </a:xfrm>
          <a:prstGeom prst="rect">
            <a:avLst/>
          </a:prstGeom>
          <a:noFill/>
          <a:ln w="0">
            <a:noFill/>
          </a:ln>
        </p:spPr>
        <p:txBody>
          <a:bodyPr wrap="square" lIns="0" tIns="0" rIns="0" bIns="0">
            <a:noAutofit/>
          </a:bodyPr>
          <a:lstStyle/>
          <a:p>
            <a:pPr>
              <a:defRPr sz="3150" b="0">
                <a:solidFill>
                  <a:srgbClr val="F3F1E9"/>
                </a:solidFill>
                <a:latin typeface="JetBrains Mono"/>
                <a:ea typeface="JetBrains Mono"/>
                <a:cs typeface="JetBrains Mono"/>
              </a:defRPr>
            </a:pPr>
            <a:r>
              <a:rPr sz="3150" b="0">
                <a:solidFill>
                  <a:srgbClr val="F3F1E9"/>
                </a:solidFill>
                <a:latin typeface="JetBrains Mono"/>
                <a:ea typeface="JetBrains Mono"/>
                <a:cs typeface="JetBrains Mono"/>
              </a:rPr>
              <a:t>“Build a landing page for a</a:t>
            </a:r>
          </a:p>
          <a:p>
            <a:pPr>
              <a:defRPr sz="3150" b="0">
                <a:solidFill>
                  <a:srgbClr val="F3F1E9"/>
                </a:solidFill>
                <a:latin typeface="JetBrains Mono"/>
                <a:ea typeface="JetBrains Mono"/>
                <a:cs typeface="JetBrains Mono"/>
              </a:defRPr>
            </a:pPr>
            <a:r>
              <a:rPr sz="3150" b="0">
                <a:solidFill>
                  <a:srgbClr val="F3F1E9"/>
                </a:solidFill>
                <a:latin typeface="JetBrains Mono"/>
                <a:ea typeface="JetBrains Mono"/>
                <a:cs typeface="JetBrains Mono"/>
              </a:rPr>
              <a:t>meditation app using React</a:t>
            </a:r>
          </a:p>
          <a:p>
            <a:pPr>
              <a:defRPr sz="3150" b="0">
                <a:solidFill>
                  <a:srgbClr val="F3F1E9"/>
                </a:solidFill>
                <a:latin typeface="JetBrains Mono"/>
                <a:ea typeface="JetBrains Mono"/>
                <a:cs typeface="JetBrains Mono"/>
              </a:defRPr>
            </a:pPr>
            <a:r>
              <a:rPr sz="3150" b="0">
                <a:solidFill>
                  <a:srgbClr val="F3F1E9"/>
                </a:solidFill>
                <a:latin typeface="JetBrains Mono"/>
                <a:ea typeface="JetBrains Mono"/>
                <a:cs typeface="JetBrains Mono"/>
              </a:rPr>
              <a:t>and Tailwind. Make it look nice</a:t>
            </a:r>
          </a:p>
          <a:p>
            <a:pPr>
              <a:defRPr sz="3150" b="0">
                <a:solidFill>
                  <a:srgbClr val="F3F1E9"/>
                </a:solidFill>
                <a:latin typeface="JetBrains Mono"/>
                <a:ea typeface="JetBrains Mono"/>
                <a:cs typeface="JetBrains Mono"/>
              </a:defRPr>
            </a:pPr>
            <a:r>
              <a:rPr sz="3150" b="0">
                <a:solidFill>
                  <a:srgbClr val="F3F1E9"/>
                </a:solidFill>
                <a:latin typeface="JetBrains Mono"/>
                <a:ea typeface="JetBrains Mono"/>
                <a:cs typeface="JetBrains Mono"/>
              </a:rPr>
              <a:t>and modern. Add some animations.”</a:t>
            </a:r>
          </a:p>
        </p:txBody>
      </p:sp>
      <p:sp>
        <p:nvSpPr>
          <p:cNvPr id="4" name="Who is it for? What does a button do? What counts ">
            <a:extLst>
              <a:ext uri="{FF2B5EF4-FFF2-40B4-BE49-F238E27FC236}">
                <a16:creationId xmlns:a16="http://schemas.microsoft.com/office/drawing/2014/main" id="{F87A20C4-FF4B-9B2D-E0DD-5D4EBDBC07A4}"/>
              </a:ext>
            </a:extLst>
          </p:cNvPr>
          <p:cNvSpPr>
            <a:spLocks noGrp="1"/>
          </p:cNvSpPr>
          <p:nvPr/>
        </p:nvSpPr>
        <p:spPr>
          <a:xfrm>
            <a:off x="609600" y="5419725"/>
            <a:ext cx="10934700" cy="666750"/>
          </a:xfrm>
          <a:prstGeom prst="rect">
            <a:avLst/>
          </a:prstGeom>
          <a:noFill/>
          <a:ln w="0">
            <a:noFill/>
          </a:ln>
        </p:spPr>
        <p:txBody>
          <a:bodyPr wrap="square" lIns="0" tIns="0" rIns="0" bIns="0">
            <a:noAutofit/>
          </a:bodyPr>
          <a:lstStyle/>
          <a:p>
            <a:pPr>
              <a:defRPr sz="2025" b="0">
                <a:solidFill>
                  <a:srgbClr val="D2F85A"/>
                </a:solidFill>
                <a:latin typeface="Avenir Next"/>
                <a:ea typeface="Avenir Next"/>
                <a:cs typeface="Avenir Next"/>
              </a:defRPr>
            </a:pPr>
            <a:r>
              <a:rPr sz="2025" b="0">
                <a:solidFill>
                  <a:srgbClr val="D2F85A"/>
                </a:solidFill>
                <a:latin typeface="Avenir Next"/>
                <a:ea typeface="Avenir Next"/>
                <a:cs typeface="Avenir Next"/>
              </a:rPr>
              <a:t>Who is it for? What does a button do? What counts as done?</a:t>
            </a:r>
          </a:p>
        </p:txBody>
      </p:sp>
    </p:spTree>
    <p:extLst>
      <p:ext uri="{BB962C8B-B14F-4D97-AF65-F5344CB8AC3E}">
        <p14:creationId xmlns:p14="http://schemas.microsoft.com/office/powerpoint/2010/main" val="4187316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1E9"/>
        </a:solidFill>
        <a:effectLst/>
      </p:bgPr>
    </p:bg>
    <p:spTree>
      <p:nvGrpSpPr>
        <p:cNvPr id="1" name=""/>
        <p:cNvGrpSpPr/>
        <p:nvPr/>
      </p:nvGrpSpPr>
      <p:grpSpPr>
        <a:xfrm>
          <a:off x="0" y="0"/>
          <a:ext cx="0" cy="0"/>
          <a:chOff x="0" y="0"/>
          <a:chExt cx="0" cy="0"/>
        </a:xfrm>
      </p:grpSpPr>
      <p:sp>
        <p:nvSpPr>
          <p:cNvPr id="13" name="10">
            <a:extLst>
              <a:ext uri="{FF2B5EF4-FFF2-40B4-BE49-F238E27FC236}">
                <a16:creationId xmlns:a16="http://schemas.microsoft.com/office/drawing/2014/main" id="{776FDA05-1884-4ACB-A258-DE1EBD15970F}"/>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576152"/>
                </a:solidFill>
                <a:latin typeface="JetBrains Mono"/>
                <a:ea typeface="JetBrains Mono"/>
                <a:cs typeface="JetBrains Mono"/>
              </a:defRPr>
            </a:pPr>
            <a:r>
              <a:rPr sz="1275" b="0">
                <a:solidFill>
                  <a:srgbClr val="576152"/>
                </a:solidFill>
                <a:latin typeface="JetBrains Mono"/>
                <a:ea typeface="JetBrains Mono"/>
                <a:cs typeface="JetBrains Mono"/>
              </a:rPr>
              <a:t>10</a:t>
            </a:r>
          </a:p>
        </p:txBody>
      </p:sp>
      <p:sp>
        <p:nvSpPr>
          <p:cNvPr id="2" name="A specific prompt">
            <a:extLst>
              <a:ext uri="{FF2B5EF4-FFF2-40B4-BE49-F238E27FC236}">
                <a16:creationId xmlns:a16="http://schemas.microsoft.com/office/drawing/2014/main" id="{1E1C4E8B-2AE2-4368-B33F-3472DF18EC8E}"/>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19211B"/>
                </a:solidFill>
                <a:latin typeface="Avenir Next"/>
                <a:ea typeface="Avenir Next"/>
                <a:cs typeface="Avenir Next"/>
              </a:defRPr>
            </a:pPr>
            <a:r>
              <a:rPr sz="4050" b="1">
                <a:solidFill>
                  <a:srgbClr val="19211B"/>
                </a:solidFill>
                <a:latin typeface="Avenir Next"/>
                <a:ea typeface="Avenir Next"/>
                <a:cs typeface="Avenir Next"/>
              </a:rPr>
              <a:t>A specific prompt</a:t>
            </a:r>
          </a:p>
        </p:txBody>
      </p:sp>
      <p:sp>
        <p:nvSpPr>
          <p:cNvPr id="3" name="PURPOSE">
            <a:extLst>
              <a:ext uri="{FF2B5EF4-FFF2-40B4-BE49-F238E27FC236}">
                <a16:creationId xmlns:a16="http://schemas.microsoft.com/office/drawing/2014/main" id="{813640F4-8E85-467B-88AA-D8F5A92C6A14}"/>
              </a:ext>
            </a:extLst>
          </p:cNvPr>
          <p:cNvSpPr>
            <a:spLocks noGrp="1"/>
          </p:cNvSpPr>
          <p:nvPr/>
        </p:nvSpPr>
        <p:spPr>
          <a:xfrm>
            <a:off x="609600" y="1952625"/>
            <a:ext cx="2190750"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PURPOSE</a:t>
            </a:r>
          </a:p>
        </p:txBody>
      </p:sp>
      <p:sp>
        <p:nvSpPr>
          <p:cNvPr id="4" name="Build “Still”, a meditation page for busy students">
            <a:extLst>
              <a:ext uri="{FF2B5EF4-FFF2-40B4-BE49-F238E27FC236}">
                <a16:creationId xmlns:a16="http://schemas.microsoft.com/office/drawing/2014/main" id="{7A1B9DA9-2B65-440F-82B6-00E95269EFE3}"/>
              </a:ext>
            </a:extLst>
          </p:cNvPr>
          <p:cNvSpPr>
            <a:spLocks noGrp="1"/>
          </p:cNvSpPr>
          <p:nvPr/>
        </p:nvSpPr>
        <p:spPr>
          <a:xfrm>
            <a:off x="2809875" y="1905000"/>
            <a:ext cx="8667750" cy="819150"/>
          </a:xfrm>
          <a:prstGeom prst="rect">
            <a:avLst/>
          </a:prstGeom>
          <a:noFill/>
          <a:ln w="0">
            <a:noFill/>
          </a:ln>
        </p:spPr>
        <p:txBody>
          <a:bodyPr wrap="square" lIns="0" tIns="0" rIns="0" bIns="0">
            <a:noAutofit/>
          </a:bodyPr>
          <a:lstStyle/>
          <a:p>
            <a:pPr>
              <a:defRPr sz="2025" b="0">
                <a:solidFill>
                  <a:srgbClr val="19211B"/>
                </a:solidFill>
                <a:latin typeface="Avenir Next"/>
                <a:ea typeface="Avenir Next"/>
                <a:cs typeface="Avenir Next"/>
              </a:defRPr>
            </a:pPr>
            <a:r>
              <a:rPr sz="2025" b="0">
                <a:solidFill>
                  <a:srgbClr val="19211B"/>
                </a:solidFill>
                <a:latin typeface="Avenir Next"/>
                <a:ea typeface="Avenir Next"/>
                <a:cs typeface="Avenir Next"/>
              </a:rPr>
              <a:t>Build “Still”, a meditation page for busy students.</a:t>
            </a:r>
          </a:p>
        </p:txBody>
      </p:sp>
      <p:sp>
        <p:nvSpPr>
          <p:cNvPr id="5" name="DESIGN">
            <a:extLst>
              <a:ext uri="{FF2B5EF4-FFF2-40B4-BE49-F238E27FC236}">
                <a16:creationId xmlns:a16="http://schemas.microsoft.com/office/drawing/2014/main" id="{9FA6D53D-5F33-4476-9416-9607C09C5462}"/>
              </a:ext>
            </a:extLst>
          </p:cNvPr>
          <p:cNvSpPr>
            <a:spLocks noGrp="1"/>
          </p:cNvSpPr>
          <p:nvPr/>
        </p:nvSpPr>
        <p:spPr>
          <a:xfrm>
            <a:off x="609600" y="2695575"/>
            <a:ext cx="2190750"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DESIGN</a:t>
            </a:r>
          </a:p>
        </p:txBody>
      </p:sp>
      <p:sp>
        <p:nvSpPr>
          <p:cNvPr id="6" name="Warm cream, sage green, generous space, gentle mot">
            <a:extLst>
              <a:ext uri="{FF2B5EF4-FFF2-40B4-BE49-F238E27FC236}">
                <a16:creationId xmlns:a16="http://schemas.microsoft.com/office/drawing/2014/main" id="{1648B191-AA30-4B56-ADC6-3443A331CB61}"/>
              </a:ext>
            </a:extLst>
          </p:cNvPr>
          <p:cNvSpPr>
            <a:spLocks noGrp="1"/>
          </p:cNvSpPr>
          <p:nvPr/>
        </p:nvSpPr>
        <p:spPr>
          <a:xfrm>
            <a:off x="2809875" y="2647950"/>
            <a:ext cx="8667750" cy="819150"/>
          </a:xfrm>
          <a:prstGeom prst="rect">
            <a:avLst/>
          </a:prstGeom>
          <a:noFill/>
          <a:ln w="0">
            <a:noFill/>
          </a:ln>
        </p:spPr>
        <p:txBody>
          <a:bodyPr wrap="square" lIns="0" tIns="0" rIns="0" bIns="0">
            <a:noAutofit/>
          </a:bodyPr>
          <a:lstStyle/>
          <a:p>
            <a:pPr>
              <a:defRPr sz="2025" b="0">
                <a:solidFill>
                  <a:srgbClr val="19211B"/>
                </a:solidFill>
                <a:latin typeface="Avenir Next"/>
                <a:ea typeface="Avenir Next"/>
                <a:cs typeface="Avenir Next"/>
              </a:defRPr>
            </a:pPr>
            <a:r>
              <a:rPr sz="2025" b="0">
                <a:solidFill>
                  <a:srgbClr val="19211B"/>
                </a:solidFill>
                <a:latin typeface="Avenir Next"/>
                <a:ea typeface="Avenir Next"/>
                <a:cs typeface="Avenir Next"/>
              </a:rPr>
              <a:t>Warm cream, sage green, generous space, gentle motion.</a:t>
            </a:r>
          </a:p>
        </p:txBody>
      </p:sp>
      <p:sp>
        <p:nvSpPr>
          <p:cNvPr id="7" name="BEHAVIOUR">
            <a:extLst>
              <a:ext uri="{FF2B5EF4-FFF2-40B4-BE49-F238E27FC236}">
                <a16:creationId xmlns:a16="http://schemas.microsoft.com/office/drawing/2014/main" id="{0EE2BC8D-75F0-4680-B2E2-DC8C810EE289}"/>
              </a:ext>
            </a:extLst>
          </p:cNvPr>
          <p:cNvSpPr>
            <a:spLocks noGrp="1"/>
          </p:cNvSpPr>
          <p:nvPr/>
        </p:nvSpPr>
        <p:spPr>
          <a:xfrm>
            <a:off x="609600" y="3438525"/>
            <a:ext cx="2190750"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BEHAVIOUR</a:t>
            </a:r>
          </a:p>
        </p:txBody>
      </p:sp>
      <p:sp>
        <p:nvSpPr>
          <p:cNvPr id="8" name="Both session buttons open a 60-second breathing ti">
            <a:extLst>
              <a:ext uri="{FF2B5EF4-FFF2-40B4-BE49-F238E27FC236}">
                <a16:creationId xmlns:a16="http://schemas.microsoft.com/office/drawing/2014/main" id="{C8561CD3-072C-4582-AB59-6CE99CE39A56}"/>
              </a:ext>
            </a:extLst>
          </p:cNvPr>
          <p:cNvSpPr>
            <a:spLocks noGrp="1"/>
          </p:cNvSpPr>
          <p:nvPr/>
        </p:nvSpPr>
        <p:spPr>
          <a:xfrm>
            <a:off x="2809875" y="3390900"/>
            <a:ext cx="8667750" cy="819150"/>
          </a:xfrm>
          <a:prstGeom prst="rect">
            <a:avLst/>
          </a:prstGeom>
          <a:noFill/>
          <a:ln w="0">
            <a:noFill/>
          </a:ln>
        </p:spPr>
        <p:txBody>
          <a:bodyPr wrap="square" lIns="0" tIns="0" rIns="0" bIns="0">
            <a:noAutofit/>
          </a:bodyPr>
          <a:lstStyle/>
          <a:p>
            <a:pPr>
              <a:defRPr sz="2025" b="0">
                <a:solidFill>
                  <a:srgbClr val="19211B"/>
                </a:solidFill>
                <a:latin typeface="Avenir Next"/>
                <a:ea typeface="Avenir Next"/>
                <a:cs typeface="Avenir Next"/>
              </a:defRPr>
            </a:pPr>
            <a:r>
              <a:rPr sz="2025" b="0">
                <a:solidFill>
                  <a:srgbClr val="19211B"/>
                </a:solidFill>
                <a:latin typeface="Avenir Next"/>
                <a:ea typeface="Avenir Next"/>
                <a:cs typeface="Avenir Next"/>
              </a:rPr>
              <a:t>Both session buttons open a 60-second breathing timer.</a:t>
            </a:r>
          </a:p>
          <a:p>
            <a:pPr>
              <a:defRPr sz="2025" b="0">
                <a:solidFill>
                  <a:srgbClr val="19211B"/>
                </a:solidFill>
                <a:latin typeface="Avenir Next"/>
                <a:ea typeface="Avenir Next"/>
                <a:cs typeface="Avenir Next"/>
              </a:defRPr>
            </a:pPr>
            <a:r>
              <a:rPr sz="2025" b="0">
                <a:solidFill>
                  <a:srgbClr val="19211B"/>
                </a:solidFill>
                <a:latin typeface="Avenir Next"/>
                <a:ea typeface="Avenir Next"/>
                <a:cs typeface="Avenir Next"/>
              </a:rPr>
              <a:t>Add start, pause, reset and a completion message.</a:t>
            </a:r>
          </a:p>
        </p:txBody>
      </p:sp>
      <p:sp>
        <p:nvSpPr>
          <p:cNvPr id="9" name="CONSTRAINTS">
            <a:extLst>
              <a:ext uri="{FF2B5EF4-FFF2-40B4-BE49-F238E27FC236}">
                <a16:creationId xmlns:a16="http://schemas.microsoft.com/office/drawing/2014/main" id="{DB3B9D24-6FC8-45F8-AD07-ADB1F79C951F}"/>
              </a:ext>
            </a:extLst>
          </p:cNvPr>
          <p:cNvSpPr>
            <a:spLocks noGrp="1"/>
          </p:cNvSpPr>
          <p:nvPr/>
        </p:nvSpPr>
        <p:spPr>
          <a:xfrm>
            <a:off x="609600" y="4467225"/>
            <a:ext cx="2190750"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CONSTRAINTS</a:t>
            </a:r>
          </a:p>
        </p:txBody>
      </p:sp>
      <p:sp>
        <p:nvSpPr>
          <p:cNvPr id="10" name="React + Tailwind. Mobile layout. Keyboard access.&#10;">
            <a:extLst>
              <a:ext uri="{FF2B5EF4-FFF2-40B4-BE49-F238E27FC236}">
                <a16:creationId xmlns:a16="http://schemas.microsoft.com/office/drawing/2014/main" id="{DC044F52-6CCE-4A71-9DC4-59B2559DD3C1}"/>
              </a:ext>
            </a:extLst>
          </p:cNvPr>
          <p:cNvSpPr>
            <a:spLocks noGrp="1"/>
          </p:cNvSpPr>
          <p:nvPr/>
        </p:nvSpPr>
        <p:spPr>
          <a:xfrm>
            <a:off x="2809875" y="4419600"/>
            <a:ext cx="8667750" cy="819150"/>
          </a:xfrm>
          <a:prstGeom prst="rect">
            <a:avLst/>
          </a:prstGeom>
          <a:noFill/>
          <a:ln w="0">
            <a:noFill/>
          </a:ln>
        </p:spPr>
        <p:txBody>
          <a:bodyPr wrap="square" lIns="0" tIns="0" rIns="0" bIns="0">
            <a:noAutofit/>
          </a:bodyPr>
          <a:lstStyle/>
          <a:p>
            <a:pPr>
              <a:defRPr sz="2025" b="0">
                <a:solidFill>
                  <a:srgbClr val="19211B"/>
                </a:solidFill>
                <a:latin typeface="Avenir Next"/>
                <a:ea typeface="Avenir Next"/>
                <a:cs typeface="Avenir Next"/>
              </a:defRPr>
            </a:pPr>
            <a:r>
              <a:rPr sz="2025" b="0">
                <a:solidFill>
                  <a:srgbClr val="19211B"/>
                </a:solidFill>
                <a:latin typeface="Avenir Next"/>
                <a:ea typeface="Avenir Next"/>
                <a:cs typeface="Avenir Next"/>
              </a:rPr>
              <a:t>React + Tailwind. Mobile layout. Keyboard access.</a:t>
            </a:r>
          </a:p>
          <a:p>
            <a:pPr>
              <a:defRPr sz="2025" b="0">
                <a:solidFill>
                  <a:srgbClr val="19211B"/>
                </a:solidFill>
                <a:latin typeface="Avenir Next"/>
                <a:ea typeface="Avenir Next"/>
                <a:cs typeface="Avenir Next"/>
              </a:defRPr>
            </a:pPr>
            <a:r>
              <a:rPr sz="2025" b="0">
                <a:solidFill>
                  <a:srgbClr val="19211B"/>
                </a:solidFill>
                <a:latin typeface="Avenir Next"/>
                <a:ea typeface="Avenir Next"/>
                <a:cs typeface="Avenir Next"/>
              </a:rPr>
              <a:t>Reduced motion. No login, backend or paid services.</a:t>
            </a:r>
          </a:p>
        </p:txBody>
      </p:sp>
      <p:sp>
        <p:nvSpPr>
          <p:cNvPr id="11" name="VERIFY">
            <a:extLst>
              <a:ext uri="{FF2B5EF4-FFF2-40B4-BE49-F238E27FC236}">
                <a16:creationId xmlns:a16="http://schemas.microsoft.com/office/drawing/2014/main" id="{C58CCD06-2E7B-4556-BD02-D46BF1D553E6}"/>
              </a:ext>
            </a:extLst>
          </p:cNvPr>
          <p:cNvSpPr>
            <a:spLocks noGrp="1"/>
          </p:cNvSpPr>
          <p:nvPr/>
        </p:nvSpPr>
        <p:spPr>
          <a:xfrm>
            <a:off x="609600" y="5495925"/>
            <a:ext cx="2190750"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VERIFY</a:t>
            </a:r>
          </a:p>
        </p:txBody>
      </p:sp>
      <p:sp>
        <p:nvSpPr>
          <p:cNvPr id="12" name="Check both buttons, timer states and mobile overfl">
            <a:extLst>
              <a:ext uri="{FF2B5EF4-FFF2-40B4-BE49-F238E27FC236}">
                <a16:creationId xmlns:a16="http://schemas.microsoft.com/office/drawing/2014/main" id="{D64A7460-93BB-4474-9DBC-C50BCC0656B7}"/>
              </a:ext>
            </a:extLst>
          </p:cNvPr>
          <p:cNvSpPr>
            <a:spLocks noGrp="1"/>
          </p:cNvSpPr>
          <p:nvPr/>
        </p:nvSpPr>
        <p:spPr>
          <a:xfrm>
            <a:off x="2809875" y="5448300"/>
            <a:ext cx="8667750" cy="819150"/>
          </a:xfrm>
          <a:prstGeom prst="rect">
            <a:avLst/>
          </a:prstGeom>
          <a:noFill/>
          <a:ln w="0">
            <a:noFill/>
          </a:ln>
        </p:spPr>
        <p:txBody>
          <a:bodyPr wrap="square" lIns="0" tIns="0" rIns="0" bIns="0">
            <a:noAutofit/>
          </a:bodyPr>
          <a:lstStyle/>
          <a:p>
            <a:pPr>
              <a:defRPr sz="2025" b="0">
                <a:solidFill>
                  <a:srgbClr val="19211B"/>
                </a:solidFill>
                <a:latin typeface="Avenir Next"/>
                <a:ea typeface="Avenir Next"/>
                <a:cs typeface="Avenir Next"/>
              </a:defRPr>
            </a:pPr>
            <a:r>
              <a:rPr sz="2025" b="0">
                <a:solidFill>
                  <a:srgbClr val="19211B"/>
                </a:solidFill>
                <a:latin typeface="Avenir Next"/>
                <a:ea typeface="Avenir Next"/>
                <a:cs typeface="Avenir Next"/>
              </a:rPr>
              <a:t>Check both buttons, timer states and mobile overflow.</a:t>
            </a:r>
          </a:p>
        </p:txBody>
      </p:sp>
    </p:spTree>
    <p:extLst>
      <p:ext uri="{BB962C8B-B14F-4D97-AF65-F5344CB8AC3E}">
        <p14:creationId xmlns:p14="http://schemas.microsoft.com/office/powerpoint/2010/main" val="1720164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1E9"/>
        </a:solidFill>
        <a:effectLst/>
      </p:bgPr>
    </p:bg>
    <p:spTree>
      <p:nvGrpSpPr>
        <p:cNvPr id="1" name=""/>
        <p:cNvGrpSpPr/>
        <p:nvPr/>
      </p:nvGrpSpPr>
      <p:grpSpPr>
        <a:xfrm>
          <a:off x="0" y="0"/>
          <a:ext cx="0" cy="0"/>
          <a:chOff x="0" y="0"/>
          <a:chExt cx="0" cy="0"/>
        </a:xfrm>
      </p:grpSpPr>
      <p:sp>
        <p:nvSpPr>
          <p:cNvPr id="5" name="11">
            <a:extLst>
              <a:ext uri="{FF2B5EF4-FFF2-40B4-BE49-F238E27FC236}">
                <a16:creationId xmlns:a16="http://schemas.microsoft.com/office/drawing/2014/main" id="{E9FEADF2-AF66-4705-AEC7-44A67D721320}"/>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576152"/>
                </a:solidFill>
                <a:latin typeface="JetBrains Mono"/>
                <a:ea typeface="JetBrains Mono"/>
                <a:cs typeface="JetBrains Mono"/>
              </a:defRPr>
            </a:pPr>
            <a:r>
              <a:rPr sz="1275" b="0">
                <a:solidFill>
                  <a:srgbClr val="576152"/>
                </a:solidFill>
                <a:latin typeface="JetBrains Mono"/>
                <a:ea typeface="JetBrains Mono"/>
                <a:cs typeface="JetBrains Mono"/>
              </a:rPr>
              <a:t>11</a:t>
            </a:r>
          </a:p>
        </p:txBody>
      </p:sp>
      <p:sp>
        <p:nvSpPr>
          <p:cNvPr id="2" name="A vocabulary for the visual brief">
            <a:extLst>
              <a:ext uri="{FF2B5EF4-FFF2-40B4-BE49-F238E27FC236}">
                <a16:creationId xmlns:a16="http://schemas.microsoft.com/office/drawing/2014/main" id="{76071EF1-4DDE-4A82-A49C-41E8AF9493FD}"/>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19211B"/>
                </a:solidFill>
                <a:latin typeface="Avenir Next"/>
                <a:ea typeface="Avenir Next"/>
                <a:cs typeface="Avenir Next"/>
              </a:defRPr>
            </a:pPr>
            <a:r>
              <a:rPr sz="4050" b="1">
                <a:solidFill>
                  <a:srgbClr val="19211B"/>
                </a:solidFill>
                <a:latin typeface="Avenir Next"/>
                <a:ea typeface="Avenir Next"/>
                <a:cs typeface="Avenir Next"/>
              </a:rPr>
              <a:t>A vocabulary for the visual brief</a:t>
            </a:r>
          </a:p>
        </p:txBody>
      </p:sp>
      <p:graphicFrame>
        <p:nvGraphicFramePr>
          <p:cNvPr id="7" name="Table 6"/>
          <p:cNvGraphicFramePr/>
          <p:nvPr/>
        </p:nvGraphicFramePr>
        <p:xfrm>
          <a:off x="609600" y="2095500"/>
          <a:ext cx="10972800" cy="2876552"/>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719138">
                <a:tc>
                  <a:txBody>
                    <a:bodyPr/>
                    <a:lstStyle/>
                    <a:p>
                      <a:r>
                        <a:rPr sz="2025" b="1">
                          <a:solidFill>
                            <a:srgbClr val="F3F1E9"/>
                          </a:solidFill>
                          <a:latin typeface="Avenir Next"/>
                          <a:ea typeface="Avenir Next"/>
                          <a:cs typeface="Avenir Next"/>
                        </a:rPr>
                        <a:t>Visual</a:t>
                      </a:r>
                    </a:p>
                  </a:txBody>
                  <a:tcPr>
                    <a:solidFill>
                      <a:srgbClr val="19211B"/>
                    </a:solidFill>
                  </a:tcPr>
                </a:tc>
                <a:tc>
                  <a:txBody>
                    <a:bodyPr/>
                    <a:lstStyle/>
                    <a:p>
                      <a:r>
                        <a:rPr sz="2025" b="1">
                          <a:solidFill>
                            <a:srgbClr val="F3F1E9"/>
                          </a:solidFill>
                          <a:latin typeface="Avenir Next"/>
                          <a:ea typeface="Avenir Next"/>
                          <a:cs typeface="Avenir Next"/>
                        </a:rPr>
                        <a:t>Motion</a:t>
                      </a:r>
                    </a:p>
                  </a:txBody>
                  <a:tcPr>
                    <a:solidFill>
                      <a:srgbClr val="19211B"/>
                    </a:solidFill>
                  </a:tcPr>
                </a:tc>
                <a:tc>
                  <a:txBody>
                    <a:bodyPr/>
                    <a:lstStyle/>
                    <a:p>
                      <a:r>
                        <a:rPr sz="2025" b="1">
                          <a:solidFill>
                            <a:srgbClr val="F3F1E9"/>
                          </a:solidFill>
                          <a:latin typeface="Avenir Next"/>
                          <a:ea typeface="Avenir Next"/>
                          <a:cs typeface="Avenir Next"/>
                        </a:rPr>
                        <a:t>Tone</a:t>
                      </a:r>
                    </a:p>
                  </a:txBody>
                  <a:tcPr>
                    <a:solidFill>
                      <a:srgbClr val="19211B"/>
                    </a:solidFill>
                  </a:tcPr>
                </a:tc>
                <a:tc>
                  <a:txBody>
                    <a:bodyPr/>
                    <a:lstStyle/>
                    <a:p>
                      <a:r>
                        <a:rPr sz="2025" b="1">
                          <a:solidFill>
                            <a:srgbClr val="F3F1E9"/>
                          </a:solidFill>
                          <a:latin typeface="Avenir Next"/>
                          <a:ea typeface="Avenir Next"/>
                          <a:cs typeface="Avenir Next"/>
                        </a:rPr>
                        <a:t>Style</a:t>
                      </a:r>
                    </a:p>
                  </a:txBody>
                  <a:tcPr>
                    <a:solidFill>
                      <a:srgbClr val="19211B"/>
                    </a:solidFill>
                  </a:tcPr>
                </a:tc>
                <a:extLst>
                  <a:ext uri="{0D108BD9-81ED-4DB2-BD59-A6C34878D82A}">
                    <a16:rowId xmlns:a16="http://schemas.microsoft.com/office/drawing/2014/main" val="10000"/>
                  </a:ext>
                </a:extLst>
              </a:tr>
              <a:tr h="719138">
                <a:tc>
                  <a:txBody>
                    <a:bodyPr/>
                    <a:lstStyle/>
                    <a:p>
                      <a:r>
                        <a:rPr sz="2025" b="1">
                          <a:solidFill>
                            <a:srgbClr val="19211B"/>
                          </a:solidFill>
                          <a:latin typeface="Avenir Next"/>
                          <a:ea typeface="Avenir Next"/>
                          <a:cs typeface="Avenir Next"/>
                        </a:rPr>
                        <a:t>Soft, dreamy</a:t>
                      </a:r>
                    </a:p>
                  </a:txBody>
                  <a:tcPr>
                    <a:solidFill>
                      <a:srgbClr val="E5E7DC"/>
                    </a:solidFill>
                  </a:tcPr>
                </a:tc>
                <a:tc>
                  <a:txBody>
                    <a:bodyPr/>
                    <a:lstStyle/>
                    <a:p>
                      <a:r>
                        <a:rPr sz="2025" b="0">
                          <a:solidFill>
                            <a:srgbClr val="19211B"/>
                          </a:solidFill>
                          <a:latin typeface="Avenir Next"/>
                          <a:ea typeface="Avenir Next"/>
                          <a:cs typeface="Avenir Next"/>
                        </a:rPr>
                        <a:t>Slow, fluid</a:t>
                      </a:r>
                    </a:p>
                  </a:txBody>
                  <a:tcPr>
                    <a:solidFill>
                      <a:srgbClr val="E5E7DC"/>
                    </a:solidFill>
                  </a:tcPr>
                </a:tc>
                <a:tc>
                  <a:txBody>
                    <a:bodyPr/>
                    <a:lstStyle/>
                    <a:p>
                      <a:r>
                        <a:rPr sz="2025" b="0">
                          <a:solidFill>
                            <a:srgbClr val="19211B"/>
                          </a:solidFill>
                          <a:latin typeface="Avenir Next"/>
                          <a:ea typeface="Avenir Next"/>
                          <a:cs typeface="Avenir Next"/>
                        </a:rPr>
                        <a:t>Playful, formal</a:t>
                      </a:r>
                    </a:p>
                  </a:txBody>
                  <a:tcPr>
                    <a:solidFill>
                      <a:srgbClr val="E5E7DC"/>
                    </a:solidFill>
                  </a:tcPr>
                </a:tc>
                <a:tc>
                  <a:txBody>
                    <a:bodyPr/>
                    <a:lstStyle/>
                    <a:p>
                      <a:r>
                        <a:rPr sz="2025" b="0">
                          <a:solidFill>
                            <a:srgbClr val="19211B"/>
                          </a:solidFill>
                          <a:latin typeface="Avenir Next"/>
                          <a:ea typeface="Avenir Next"/>
                          <a:cs typeface="Avenir Next"/>
                        </a:rPr>
                        <a:t>Retro, brutalist</a:t>
                      </a:r>
                    </a:p>
                  </a:txBody>
                  <a:tcPr>
                    <a:solidFill>
                      <a:srgbClr val="E5E7DC"/>
                    </a:solidFill>
                  </a:tcPr>
                </a:tc>
                <a:extLst>
                  <a:ext uri="{0D108BD9-81ED-4DB2-BD59-A6C34878D82A}">
                    <a16:rowId xmlns:a16="http://schemas.microsoft.com/office/drawing/2014/main" val="10001"/>
                  </a:ext>
                </a:extLst>
              </a:tr>
              <a:tr h="719138">
                <a:tc>
                  <a:txBody>
                    <a:bodyPr/>
                    <a:lstStyle/>
                    <a:p>
                      <a:r>
                        <a:rPr sz="2025" b="1">
                          <a:solidFill>
                            <a:srgbClr val="19211B"/>
                          </a:solidFill>
                          <a:latin typeface="Avenir Next"/>
                          <a:ea typeface="Avenir Next"/>
                          <a:cs typeface="Avenir Next"/>
                        </a:rPr>
                        <a:t>Cosy, warm</a:t>
                      </a:r>
                    </a:p>
                  </a:txBody>
                  <a:tcPr>
                    <a:solidFill>
                      <a:srgbClr val="F3F1E9"/>
                    </a:solidFill>
                  </a:tcPr>
                </a:tc>
                <a:tc>
                  <a:txBody>
                    <a:bodyPr/>
                    <a:lstStyle/>
                    <a:p>
                      <a:r>
                        <a:rPr sz="2025" b="0">
                          <a:solidFill>
                            <a:srgbClr val="19211B"/>
                          </a:solidFill>
                          <a:latin typeface="Avenir Next"/>
                          <a:ea typeface="Avenir Next"/>
                          <a:cs typeface="Avenir Next"/>
                        </a:rPr>
                        <a:t>Springy, elastic</a:t>
                      </a:r>
                    </a:p>
                  </a:txBody>
                  <a:tcPr>
                    <a:solidFill>
                      <a:srgbClr val="F3F1E9"/>
                    </a:solidFill>
                  </a:tcPr>
                </a:tc>
                <a:tc>
                  <a:txBody>
                    <a:bodyPr/>
                    <a:lstStyle/>
                    <a:p>
                      <a:r>
                        <a:rPr sz="2025" b="0">
                          <a:solidFill>
                            <a:srgbClr val="19211B"/>
                          </a:solidFill>
                          <a:latin typeface="Avenir Next"/>
                          <a:ea typeface="Avenir Next"/>
                          <a:cs typeface="Avenir Next"/>
                        </a:rPr>
                        <a:t>Gentle, sharp</a:t>
                      </a:r>
                    </a:p>
                  </a:txBody>
                  <a:tcPr>
                    <a:solidFill>
                      <a:srgbClr val="F3F1E9"/>
                    </a:solidFill>
                  </a:tcPr>
                </a:tc>
                <a:tc>
                  <a:txBody>
                    <a:bodyPr/>
                    <a:lstStyle/>
                    <a:p>
                      <a:r>
                        <a:rPr sz="2025" b="0">
                          <a:solidFill>
                            <a:srgbClr val="19211B"/>
                          </a:solidFill>
                          <a:latin typeface="Avenir Next"/>
                          <a:ea typeface="Avenir Next"/>
                          <a:cs typeface="Avenir Next"/>
                        </a:rPr>
                        <a:t>Minimal, maximal</a:t>
                      </a:r>
                    </a:p>
                  </a:txBody>
                  <a:tcPr>
                    <a:solidFill>
                      <a:srgbClr val="F3F1E9"/>
                    </a:solidFill>
                  </a:tcPr>
                </a:tc>
                <a:extLst>
                  <a:ext uri="{0D108BD9-81ED-4DB2-BD59-A6C34878D82A}">
                    <a16:rowId xmlns:a16="http://schemas.microsoft.com/office/drawing/2014/main" val="10002"/>
                  </a:ext>
                </a:extLst>
              </a:tr>
              <a:tr h="719138">
                <a:tc>
                  <a:txBody>
                    <a:bodyPr/>
                    <a:lstStyle/>
                    <a:p>
                      <a:r>
                        <a:rPr sz="2025" b="1">
                          <a:solidFill>
                            <a:srgbClr val="19211B"/>
                          </a:solidFill>
                          <a:latin typeface="Avenir Next"/>
                          <a:ea typeface="Avenir Next"/>
                          <a:cs typeface="Avenir Next"/>
                        </a:rPr>
                        <a:t>Dark, moody</a:t>
                      </a:r>
                    </a:p>
                  </a:txBody>
                  <a:tcPr>
                    <a:solidFill>
                      <a:srgbClr val="E5E7DC"/>
                    </a:solidFill>
                  </a:tcPr>
                </a:tc>
                <a:tc>
                  <a:txBody>
                    <a:bodyPr/>
                    <a:lstStyle/>
                    <a:p>
                      <a:r>
                        <a:rPr sz="2025" b="0">
                          <a:solidFill>
                            <a:srgbClr val="19211B"/>
                          </a:solidFill>
                          <a:latin typeface="Avenir Next"/>
                          <a:ea typeface="Avenir Next"/>
                          <a:cs typeface="Avenir Next"/>
                        </a:rPr>
                        <a:t>Quick, responsive</a:t>
                      </a:r>
                    </a:p>
                  </a:txBody>
                  <a:tcPr>
                    <a:solidFill>
                      <a:srgbClr val="E5E7DC"/>
                    </a:solidFill>
                  </a:tcPr>
                </a:tc>
                <a:tc>
                  <a:txBody>
                    <a:bodyPr/>
                    <a:lstStyle/>
                    <a:p>
                      <a:r>
                        <a:rPr sz="2025" b="0">
                          <a:solidFill>
                            <a:srgbClr val="19211B"/>
                          </a:solidFill>
                          <a:latin typeface="Avenir Next"/>
                          <a:ea typeface="Avenir Next"/>
                          <a:cs typeface="Avenir Next"/>
                        </a:rPr>
                        <a:t>Calming, bold</a:t>
                      </a:r>
                    </a:p>
                  </a:txBody>
                  <a:tcPr>
                    <a:solidFill>
                      <a:srgbClr val="E5E7DC"/>
                    </a:solidFill>
                  </a:tcPr>
                </a:tc>
                <a:tc>
                  <a:txBody>
                    <a:bodyPr/>
                    <a:lstStyle/>
                    <a:p>
                      <a:r>
                        <a:rPr sz="2025" b="0">
                          <a:solidFill>
                            <a:srgbClr val="19211B"/>
                          </a:solidFill>
                          <a:latin typeface="Avenir Next"/>
                          <a:ea typeface="Avenir Next"/>
                          <a:cs typeface="Avenir Next"/>
                        </a:rPr>
                        <a:t>Glassy, grainy</a:t>
                      </a:r>
                    </a:p>
                  </a:txBody>
                  <a:tcPr>
                    <a:solidFill>
                      <a:srgbClr val="E5E7DC"/>
                    </a:solidFill>
                  </a:tcPr>
                </a:tc>
                <a:extLst>
                  <a:ext uri="{0D108BD9-81ED-4DB2-BD59-A6C34878D82A}">
                    <a16:rowId xmlns:a16="http://schemas.microsoft.com/office/drawing/2014/main" val="10003"/>
                  </a:ext>
                </a:extLst>
              </a:tr>
            </a:tbl>
          </a:graphicData>
        </a:graphic>
      </p:graphicFrame>
      <p:sp>
        <p:nvSpPr>
          <p:cNvPr id="4" name="“Calm” becomes more useful with a palette, layout ">
            <a:extLst>
              <a:ext uri="{FF2B5EF4-FFF2-40B4-BE49-F238E27FC236}">
                <a16:creationId xmlns:a16="http://schemas.microsoft.com/office/drawing/2014/main" id="{9CE27945-1389-41EA-941F-34CEC271202B}"/>
              </a:ext>
            </a:extLst>
          </p:cNvPr>
          <p:cNvSpPr>
            <a:spLocks noGrp="1"/>
          </p:cNvSpPr>
          <p:nvPr/>
        </p:nvSpPr>
        <p:spPr>
          <a:xfrm>
            <a:off x="609600" y="5448300"/>
            <a:ext cx="10934700" cy="762000"/>
          </a:xfrm>
          <a:prstGeom prst="rect">
            <a:avLst/>
          </a:prstGeom>
          <a:noFill/>
          <a:ln w="0">
            <a:noFill/>
          </a:ln>
        </p:spPr>
        <p:txBody>
          <a:bodyPr wrap="square" lIns="0" tIns="0" rIns="0" bIns="0">
            <a:noAutofit/>
          </a:bodyPr>
          <a:lstStyle/>
          <a:p>
            <a:pPr>
              <a:defRPr sz="2175" b="1">
                <a:solidFill>
                  <a:srgbClr val="38613C"/>
                </a:solidFill>
                <a:latin typeface="Avenir Next"/>
                <a:ea typeface="Avenir Next"/>
                <a:cs typeface="Avenir Next"/>
              </a:defRPr>
            </a:pPr>
            <a:r>
              <a:rPr sz="2175" b="1">
                <a:solidFill>
                  <a:srgbClr val="38613C"/>
                </a:solidFill>
                <a:latin typeface="Avenir Next"/>
                <a:ea typeface="Avenir Next"/>
                <a:cs typeface="Avenir Next"/>
              </a:rPr>
              <a:t>“Calm” becomes more useful with a palette, layout and motion limit.</a:t>
            </a:r>
          </a:p>
        </p:txBody>
      </p:sp>
    </p:spTree>
    <p:extLst>
      <p:ext uri="{BB962C8B-B14F-4D97-AF65-F5344CB8AC3E}">
        <p14:creationId xmlns:p14="http://schemas.microsoft.com/office/powerpoint/2010/main" val="61513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51716"/>
        </a:solidFill>
        <a:effectLst/>
      </p:bgPr>
    </p:bg>
    <p:spTree>
      <p:nvGrpSpPr>
        <p:cNvPr id="1" name=""/>
        <p:cNvGrpSpPr/>
        <p:nvPr/>
      </p:nvGrpSpPr>
      <p:grpSpPr>
        <a:xfrm>
          <a:off x="0" y="0"/>
          <a:ext cx="0" cy="0"/>
          <a:chOff x="0" y="0"/>
          <a:chExt cx="0" cy="0"/>
        </a:xfrm>
      </p:grpSpPr>
      <p:sp>
        <p:nvSpPr>
          <p:cNvPr id="6" name="12">
            <a:extLst>
              <a:ext uri="{FF2B5EF4-FFF2-40B4-BE49-F238E27FC236}">
                <a16:creationId xmlns:a16="http://schemas.microsoft.com/office/drawing/2014/main" id="{EDBA3FFC-9A1F-41DD-A349-DB979557421A}"/>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A9B0A7"/>
                </a:solidFill>
                <a:latin typeface="JetBrains Mono"/>
                <a:ea typeface="JetBrains Mono"/>
                <a:cs typeface="JetBrains Mono"/>
              </a:defRPr>
            </a:pPr>
            <a:r>
              <a:rPr sz="1275" b="0">
                <a:solidFill>
                  <a:srgbClr val="A9B0A7"/>
                </a:solidFill>
                <a:latin typeface="JetBrains Mono"/>
                <a:ea typeface="JetBrains Mono"/>
                <a:cs typeface="JetBrains Mono"/>
              </a:rPr>
              <a:t>12</a:t>
            </a:r>
          </a:p>
        </p:txBody>
      </p:sp>
      <p:sp>
        <p:nvSpPr>
          <p:cNvPr id="2" name="Feedback that changes the result">
            <a:extLst>
              <a:ext uri="{FF2B5EF4-FFF2-40B4-BE49-F238E27FC236}">
                <a16:creationId xmlns:a16="http://schemas.microsoft.com/office/drawing/2014/main" id="{9DA94642-3FC6-471A-A479-8282FEA36674}"/>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F3F1E9"/>
                </a:solidFill>
                <a:latin typeface="Avenir Next"/>
                <a:ea typeface="Avenir Next"/>
                <a:cs typeface="Avenir Next"/>
              </a:defRPr>
            </a:pPr>
            <a:r>
              <a:rPr sz="4050" b="1">
                <a:solidFill>
                  <a:srgbClr val="F3F1E9"/>
                </a:solidFill>
                <a:latin typeface="Avenir Next"/>
                <a:ea typeface="Avenir Next"/>
                <a:cs typeface="Avenir Next"/>
              </a:rPr>
              <a:t>Feedback that changes the result</a:t>
            </a:r>
          </a:p>
        </p:txBody>
      </p:sp>
      <p:sp>
        <p:nvSpPr>
          <p:cNvPr id="3" name="INSTEAD OF “MAKE IT BETTER”">
            <a:extLst>
              <a:ext uri="{FF2B5EF4-FFF2-40B4-BE49-F238E27FC236}">
                <a16:creationId xmlns:a16="http://schemas.microsoft.com/office/drawing/2014/main" id="{63581F72-E7BB-47B3-905F-EA6EE63D1A4F}"/>
              </a:ext>
            </a:extLst>
          </p:cNvPr>
          <p:cNvSpPr>
            <a:spLocks noGrp="1"/>
          </p:cNvSpPr>
          <p:nvPr/>
        </p:nvSpPr>
        <p:spPr>
          <a:xfrm>
            <a:off x="609600" y="1952625"/>
            <a:ext cx="10477500"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INSTEAD OF “MAKE IT BETTER”</a:t>
            </a:r>
          </a:p>
        </p:txBody>
      </p:sp>
      <p:sp>
        <p:nvSpPr>
          <p:cNvPr id="4" name="“Reduce the hero to one headline&#10;and one primary a">
            <a:extLst>
              <a:ext uri="{FF2B5EF4-FFF2-40B4-BE49-F238E27FC236}">
                <a16:creationId xmlns:a16="http://schemas.microsoft.com/office/drawing/2014/main" id="{38D2AB68-277E-4C2E-8FB2-2ECC1ECE8341}"/>
              </a:ext>
            </a:extLst>
          </p:cNvPr>
          <p:cNvSpPr>
            <a:spLocks noGrp="1"/>
          </p:cNvSpPr>
          <p:nvPr/>
        </p:nvSpPr>
        <p:spPr>
          <a:xfrm>
            <a:off x="609600" y="2486025"/>
            <a:ext cx="10763250" cy="1295400"/>
          </a:xfrm>
          <a:prstGeom prst="rect">
            <a:avLst/>
          </a:prstGeom>
          <a:noFill/>
          <a:ln w="0">
            <a:noFill/>
          </a:ln>
        </p:spPr>
        <p:txBody>
          <a:bodyPr wrap="square" lIns="0" tIns="0" rIns="0" bIns="0">
            <a:noAutofit/>
          </a:bodyPr>
          <a:lstStyle/>
          <a:p>
            <a:pPr>
              <a:defRPr sz="3225" b="1">
                <a:solidFill>
                  <a:srgbClr val="F3F1E9"/>
                </a:solidFill>
                <a:latin typeface="Avenir Next"/>
                <a:ea typeface="Avenir Next"/>
                <a:cs typeface="Avenir Next"/>
              </a:defRPr>
            </a:pPr>
            <a:r>
              <a:rPr sz="3225" b="1">
                <a:solidFill>
                  <a:srgbClr val="F3F1E9"/>
                </a:solidFill>
                <a:latin typeface="Avenir Next"/>
                <a:ea typeface="Avenir Next"/>
                <a:cs typeface="Avenir Next"/>
              </a:rPr>
              <a:t>“Reduce the hero to one headline</a:t>
            </a:r>
          </a:p>
          <a:p>
            <a:pPr>
              <a:defRPr sz="3225" b="1">
                <a:solidFill>
                  <a:srgbClr val="F3F1E9"/>
                </a:solidFill>
                <a:latin typeface="Avenir Next"/>
                <a:ea typeface="Avenir Next"/>
                <a:cs typeface="Avenir Next"/>
              </a:defRPr>
            </a:pPr>
            <a:r>
              <a:rPr sz="3225" b="1">
                <a:solidFill>
                  <a:srgbClr val="F3F1E9"/>
                </a:solidFill>
                <a:latin typeface="Avenir Next"/>
                <a:ea typeface="Avenir Next"/>
                <a:cs typeface="Avenir Next"/>
              </a:rPr>
              <a:t>and one primary action.”</a:t>
            </a:r>
          </a:p>
        </p:txBody>
      </p:sp>
      <p:sp>
        <p:nvSpPr>
          <p:cNvPr id="5" name="“Use a serif heading for a vintage feel.”&#10;“Slow th">
            <a:extLst>
              <a:ext uri="{FF2B5EF4-FFF2-40B4-BE49-F238E27FC236}">
                <a16:creationId xmlns:a16="http://schemas.microsoft.com/office/drawing/2014/main" id="{B64396FE-8430-44F5-BA93-E42A2A2A517E}"/>
              </a:ext>
            </a:extLst>
          </p:cNvPr>
          <p:cNvSpPr>
            <a:spLocks noGrp="1"/>
          </p:cNvSpPr>
          <p:nvPr/>
        </p:nvSpPr>
        <p:spPr>
          <a:xfrm>
            <a:off x="609600" y="4133850"/>
            <a:ext cx="10763250" cy="1619250"/>
          </a:xfrm>
          <a:prstGeom prst="rect">
            <a:avLst/>
          </a:prstGeom>
          <a:noFill/>
          <a:ln w="0">
            <a:noFill/>
          </a:ln>
        </p:spPr>
        <p:txBody>
          <a:bodyPr wrap="square" lIns="0" tIns="0" rIns="0" bIns="0">
            <a:noAutofit/>
          </a:bodyPr>
          <a:lstStyle/>
          <a:p>
            <a:pPr>
              <a:defRPr sz="2250" b="0">
                <a:solidFill>
                  <a:srgbClr val="A9B0A7"/>
                </a:solidFill>
                <a:latin typeface="Avenir Next"/>
                <a:ea typeface="Avenir Next"/>
                <a:cs typeface="Avenir Next"/>
              </a:defRPr>
            </a:pPr>
            <a:r>
              <a:rPr sz="2250" b="0">
                <a:solidFill>
                  <a:srgbClr val="A9B0A7"/>
                </a:solidFill>
                <a:latin typeface="Avenir Next"/>
                <a:ea typeface="Avenir Next"/>
                <a:cs typeface="Avenir Next"/>
              </a:rPr>
              <a:t>“Use a serif heading for a vintage feel.”</a:t>
            </a:r>
          </a:p>
          <a:p>
            <a:pPr>
              <a:defRPr sz="2250" b="0">
                <a:solidFill>
                  <a:srgbClr val="A9B0A7"/>
                </a:solidFill>
                <a:latin typeface="Avenir Next"/>
                <a:ea typeface="Avenir Next"/>
                <a:cs typeface="Avenir Next"/>
              </a:defRPr>
            </a:pPr>
            <a:r>
              <a:rPr sz="2250" b="0">
                <a:solidFill>
                  <a:srgbClr val="A9B0A7"/>
                </a:solidFill>
                <a:latin typeface="Avenir Next"/>
                <a:ea typeface="Avenir Next"/>
                <a:cs typeface="Avenir Next"/>
              </a:rPr>
              <a:t>“Slow the motion and respect reduced motion.”</a:t>
            </a:r>
          </a:p>
          <a:p>
            <a:pPr>
              <a:defRPr sz="2250" b="0">
                <a:solidFill>
                  <a:srgbClr val="A9B0A7"/>
                </a:solidFill>
                <a:latin typeface="Avenir Next"/>
                <a:ea typeface="Avenir Next"/>
                <a:cs typeface="Avenir Next"/>
              </a:defRPr>
            </a:pPr>
            <a:r>
              <a:rPr sz="2250" b="0">
                <a:solidFill>
                  <a:srgbClr val="A9B0A7"/>
                </a:solidFill>
                <a:latin typeface="Avenir Next"/>
                <a:ea typeface="Avenir Next"/>
                <a:cs typeface="Avenir Next"/>
              </a:rPr>
              <a:t>“Keep the timer behaviour unchanged.”</a:t>
            </a:r>
          </a:p>
        </p:txBody>
      </p:sp>
    </p:spTree>
    <p:extLst>
      <p:ext uri="{BB962C8B-B14F-4D97-AF65-F5344CB8AC3E}">
        <p14:creationId xmlns:p14="http://schemas.microsoft.com/office/powerpoint/2010/main" val="217500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1E9"/>
        </a:solidFill>
        <a:effectLst/>
      </p:bgPr>
    </p:bg>
    <p:spTree>
      <p:nvGrpSpPr>
        <p:cNvPr id="1" name=""/>
        <p:cNvGrpSpPr/>
        <p:nvPr/>
      </p:nvGrpSpPr>
      <p:grpSpPr>
        <a:xfrm>
          <a:off x="0" y="0"/>
          <a:ext cx="0" cy="0"/>
          <a:chOff x="0" y="0"/>
          <a:chExt cx="0" cy="0"/>
        </a:xfrm>
      </p:grpSpPr>
      <p:sp>
        <p:nvSpPr>
          <p:cNvPr id="15" name="13">
            <a:extLst>
              <a:ext uri="{FF2B5EF4-FFF2-40B4-BE49-F238E27FC236}">
                <a16:creationId xmlns:a16="http://schemas.microsoft.com/office/drawing/2014/main" id="{6F31452E-2301-4ABF-A617-8C4604AF5F14}"/>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576152"/>
                </a:solidFill>
                <a:latin typeface="JetBrains Mono"/>
                <a:ea typeface="JetBrains Mono"/>
                <a:cs typeface="JetBrains Mono"/>
              </a:defRPr>
            </a:pPr>
            <a:r>
              <a:rPr sz="1275" b="0">
                <a:solidFill>
                  <a:srgbClr val="576152"/>
                </a:solidFill>
                <a:latin typeface="JetBrains Mono"/>
                <a:ea typeface="JetBrains Mono"/>
                <a:cs typeface="JetBrains Mono"/>
              </a:rPr>
              <a:t>13</a:t>
            </a:r>
          </a:p>
        </p:txBody>
      </p:sp>
      <p:sp>
        <p:nvSpPr>
          <p:cNvPr id="2" name="Good habits during iteration">
            <a:extLst>
              <a:ext uri="{FF2B5EF4-FFF2-40B4-BE49-F238E27FC236}">
                <a16:creationId xmlns:a16="http://schemas.microsoft.com/office/drawing/2014/main" id="{60631114-640F-428E-BAAA-2891B3376430}"/>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19211B"/>
                </a:solidFill>
                <a:latin typeface="Avenir Next"/>
                <a:ea typeface="Avenir Next"/>
                <a:cs typeface="Avenir Next"/>
              </a:defRPr>
            </a:pPr>
            <a:r>
              <a:rPr sz="4050" b="1">
                <a:solidFill>
                  <a:srgbClr val="19211B"/>
                </a:solidFill>
                <a:latin typeface="Avenir Next"/>
                <a:ea typeface="Avenir Next"/>
                <a:cs typeface="Avenir Next"/>
              </a:rPr>
              <a:t>Good habits during iteration</a:t>
            </a:r>
          </a:p>
        </p:txBody>
      </p:sp>
      <p:sp>
        <p:nvSpPr>
          <p:cNvPr id="3" name="01">
            <a:extLst>
              <a:ext uri="{FF2B5EF4-FFF2-40B4-BE49-F238E27FC236}">
                <a16:creationId xmlns:a16="http://schemas.microsoft.com/office/drawing/2014/main" id="{DAF2DC38-0445-452D-A800-6936FC8C1507}"/>
              </a:ext>
            </a:extLst>
          </p:cNvPr>
          <p:cNvSpPr>
            <a:spLocks noGrp="1"/>
          </p:cNvSpPr>
          <p:nvPr/>
        </p:nvSpPr>
        <p:spPr>
          <a:xfrm>
            <a:off x="609600" y="2057400"/>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01</a:t>
            </a:r>
          </a:p>
        </p:txBody>
      </p:sp>
      <p:sp>
        <p:nvSpPr>
          <p:cNvPr id="4" name="One useful slice">
            <a:extLst>
              <a:ext uri="{FF2B5EF4-FFF2-40B4-BE49-F238E27FC236}">
                <a16:creationId xmlns:a16="http://schemas.microsoft.com/office/drawing/2014/main" id="{39C0DE61-A90D-4F36-ADD1-654E1B38F391}"/>
              </a:ext>
            </a:extLst>
          </p:cNvPr>
          <p:cNvSpPr>
            <a:spLocks noGrp="1"/>
          </p:cNvSpPr>
          <p:nvPr/>
        </p:nvSpPr>
        <p:spPr>
          <a:xfrm>
            <a:off x="1409700" y="1990725"/>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One useful slice</a:t>
            </a:r>
          </a:p>
        </p:txBody>
      </p:sp>
      <p:sp>
        <p:nvSpPr>
          <p:cNvPr id="5" name="Make one user flow work before expanding scope.">
            <a:extLst>
              <a:ext uri="{FF2B5EF4-FFF2-40B4-BE49-F238E27FC236}">
                <a16:creationId xmlns:a16="http://schemas.microsoft.com/office/drawing/2014/main" id="{34365749-643C-464E-B6E0-0C3498FD784F}"/>
              </a:ext>
            </a:extLst>
          </p:cNvPr>
          <p:cNvSpPr>
            <a:spLocks noGrp="1"/>
          </p:cNvSpPr>
          <p:nvPr/>
        </p:nvSpPr>
        <p:spPr>
          <a:xfrm>
            <a:off x="5457825" y="2028825"/>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Make one user flow work before expanding scope.</a:t>
            </a:r>
          </a:p>
        </p:txBody>
      </p:sp>
      <p:sp>
        <p:nvSpPr>
          <p:cNvPr id="6" name="02">
            <a:extLst>
              <a:ext uri="{FF2B5EF4-FFF2-40B4-BE49-F238E27FC236}">
                <a16:creationId xmlns:a16="http://schemas.microsoft.com/office/drawing/2014/main" id="{775C2E8C-0C56-488B-87A7-14018E0CA8AD}"/>
              </a:ext>
            </a:extLst>
          </p:cNvPr>
          <p:cNvSpPr>
            <a:spLocks noGrp="1"/>
          </p:cNvSpPr>
          <p:nvPr/>
        </p:nvSpPr>
        <p:spPr>
          <a:xfrm>
            <a:off x="609600" y="3048000"/>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02</a:t>
            </a:r>
          </a:p>
        </p:txBody>
      </p:sp>
      <p:sp>
        <p:nvSpPr>
          <p:cNvPr id="7" name="Specific feedback">
            <a:extLst>
              <a:ext uri="{FF2B5EF4-FFF2-40B4-BE49-F238E27FC236}">
                <a16:creationId xmlns:a16="http://schemas.microsoft.com/office/drawing/2014/main" id="{932B7F10-0734-48CE-B5E0-7A3375540843}"/>
              </a:ext>
            </a:extLst>
          </p:cNvPr>
          <p:cNvSpPr>
            <a:spLocks noGrp="1"/>
          </p:cNvSpPr>
          <p:nvPr/>
        </p:nvSpPr>
        <p:spPr>
          <a:xfrm>
            <a:off x="1409700" y="2981325"/>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Specific feedback</a:t>
            </a:r>
          </a:p>
        </p:txBody>
      </p:sp>
      <p:sp>
        <p:nvSpPr>
          <p:cNvPr id="8" name="Include the action, expected result and actual res">
            <a:extLst>
              <a:ext uri="{FF2B5EF4-FFF2-40B4-BE49-F238E27FC236}">
                <a16:creationId xmlns:a16="http://schemas.microsoft.com/office/drawing/2014/main" id="{46836BCC-A59C-44D4-91F5-693AA35A8B8E}"/>
              </a:ext>
            </a:extLst>
          </p:cNvPr>
          <p:cNvSpPr>
            <a:spLocks noGrp="1"/>
          </p:cNvSpPr>
          <p:nvPr/>
        </p:nvSpPr>
        <p:spPr>
          <a:xfrm>
            <a:off x="5457825" y="3019425"/>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Include the action, expected result and actual result.</a:t>
            </a:r>
          </a:p>
        </p:txBody>
      </p:sp>
      <p:sp>
        <p:nvSpPr>
          <p:cNvPr id="9" name="03">
            <a:extLst>
              <a:ext uri="{FF2B5EF4-FFF2-40B4-BE49-F238E27FC236}">
                <a16:creationId xmlns:a16="http://schemas.microsoft.com/office/drawing/2014/main" id="{04664C01-45B2-442F-89B5-4DDE6904EAB9}"/>
              </a:ext>
            </a:extLst>
          </p:cNvPr>
          <p:cNvSpPr>
            <a:spLocks noGrp="1"/>
          </p:cNvSpPr>
          <p:nvPr/>
        </p:nvSpPr>
        <p:spPr>
          <a:xfrm>
            <a:off x="609600" y="4038600"/>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03</a:t>
            </a:r>
          </a:p>
        </p:txBody>
      </p:sp>
      <p:sp>
        <p:nvSpPr>
          <p:cNvPr id="10" name="A working checkpoint">
            <a:extLst>
              <a:ext uri="{FF2B5EF4-FFF2-40B4-BE49-F238E27FC236}">
                <a16:creationId xmlns:a16="http://schemas.microsoft.com/office/drawing/2014/main" id="{02BE1C36-2284-44D7-B10E-D231CFC1990C}"/>
              </a:ext>
            </a:extLst>
          </p:cNvPr>
          <p:cNvSpPr>
            <a:spLocks noGrp="1"/>
          </p:cNvSpPr>
          <p:nvPr/>
        </p:nvSpPr>
        <p:spPr>
          <a:xfrm>
            <a:off x="1409700" y="3971925"/>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A working checkpoint</a:t>
            </a:r>
          </a:p>
        </p:txBody>
      </p:sp>
      <p:sp>
        <p:nvSpPr>
          <p:cNvPr id="11" name="Save a version you can return to before major edit">
            <a:extLst>
              <a:ext uri="{FF2B5EF4-FFF2-40B4-BE49-F238E27FC236}">
                <a16:creationId xmlns:a16="http://schemas.microsoft.com/office/drawing/2014/main" id="{896696C2-1592-4DA2-9D68-D1E3791E047E}"/>
              </a:ext>
            </a:extLst>
          </p:cNvPr>
          <p:cNvSpPr>
            <a:spLocks noGrp="1"/>
          </p:cNvSpPr>
          <p:nvPr/>
        </p:nvSpPr>
        <p:spPr>
          <a:xfrm>
            <a:off x="5457825" y="4010025"/>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Save a version you can return to before major edits.</a:t>
            </a:r>
          </a:p>
        </p:txBody>
      </p:sp>
      <p:sp>
        <p:nvSpPr>
          <p:cNvPr id="12" name="04">
            <a:extLst>
              <a:ext uri="{FF2B5EF4-FFF2-40B4-BE49-F238E27FC236}">
                <a16:creationId xmlns:a16="http://schemas.microsoft.com/office/drawing/2014/main" id="{0295CA84-2A75-48C4-B2F1-6196F7E3EEEB}"/>
              </a:ext>
            </a:extLst>
          </p:cNvPr>
          <p:cNvSpPr>
            <a:spLocks noGrp="1"/>
          </p:cNvSpPr>
          <p:nvPr/>
        </p:nvSpPr>
        <p:spPr>
          <a:xfrm>
            <a:off x="609600" y="5029200"/>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04</a:t>
            </a:r>
          </a:p>
        </p:txBody>
      </p:sp>
      <p:sp>
        <p:nvSpPr>
          <p:cNvPr id="13" name="A human review">
            <a:extLst>
              <a:ext uri="{FF2B5EF4-FFF2-40B4-BE49-F238E27FC236}">
                <a16:creationId xmlns:a16="http://schemas.microsoft.com/office/drawing/2014/main" id="{E1E7DAE1-8ACA-4EF5-BCB0-9DBE3F838537}"/>
              </a:ext>
            </a:extLst>
          </p:cNvPr>
          <p:cNvSpPr>
            <a:spLocks noGrp="1"/>
          </p:cNvSpPr>
          <p:nvPr/>
        </p:nvSpPr>
        <p:spPr>
          <a:xfrm>
            <a:off x="1409700" y="4962525"/>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A human review</a:t>
            </a:r>
          </a:p>
        </p:txBody>
      </p:sp>
      <p:sp>
        <p:nvSpPr>
          <p:cNvPr id="14" name="Read the changes and check the real app.">
            <a:extLst>
              <a:ext uri="{FF2B5EF4-FFF2-40B4-BE49-F238E27FC236}">
                <a16:creationId xmlns:a16="http://schemas.microsoft.com/office/drawing/2014/main" id="{14D77F22-AB9F-4E10-AAF9-B75CE6DA150C}"/>
              </a:ext>
            </a:extLst>
          </p:cNvPr>
          <p:cNvSpPr>
            <a:spLocks noGrp="1"/>
          </p:cNvSpPr>
          <p:nvPr/>
        </p:nvSpPr>
        <p:spPr>
          <a:xfrm>
            <a:off x="5457825" y="5000625"/>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Read the changes and check the real app.</a:t>
            </a:r>
          </a:p>
        </p:txBody>
      </p:sp>
    </p:spTree>
    <p:extLst>
      <p:ext uri="{BB962C8B-B14F-4D97-AF65-F5344CB8AC3E}">
        <p14:creationId xmlns:p14="http://schemas.microsoft.com/office/powerpoint/2010/main" val="1305499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51716"/>
        </a:solidFill>
        <a:effectLst/>
      </p:bgPr>
    </p:bg>
    <p:spTree>
      <p:nvGrpSpPr>
        <p:cNvPr id="1" name=""/>
        <p:cNvGrpSpPr/>
        <p:nvPr/>
      </p:nvGrpSpPr>
      <p:grpSpPr>
        <a:xfrm>
          <a:off x="0" y="0"/>
          <a:ext cx="0" cy="0"/>
          <a:chOff x="0" y="0"/>
          <a:chExt cx="0" cy="0"/>
        </a:xfrm>
      </p:grpSpPr>
      <p:sp>
        <p:nvSpPr>
          <p:cNvPr id="15" name="14">
            <a:extLst>
              <a:ext uri="{FF2B5EF4-FFF2-40B4-BE49-F238E27FC236}">
                <a16:creationId xmlns:a16="http://schemas.microsoft.com/office/drawing/2014/main" id="{699503B4-C2F6-408B-B0DC-A64D21308F1B}"/>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A9B0A7"/>
                </a:solidFill>
                <a:latin typeface="JetBrains Mono"/>
                <a:ea typeface="JetBrains Mono"/>
                <a:cs typeface="JetBrains Mono"/>
              </a:defRPr>
            </a:pPr>
            <a:r>
              <a:rPr sz="1275" b="0">
                <a:solidFill>
                  <a:srgbClr val="A9B0A7"/>
                </a:solidFill>
                <a:latin typeface="JetBrains Mono"/>
                <a:ea typeface="JetBrains Mono"/>
                <a:cs typeface="JetBrains Mono"/>
              </a:rPr>
              <a:t>14</a:t>
            </a:r>
          </a:p>
        </p:txBody>
      </p:sp>
      <p:sp>
        <p:nvSpPr>
          <p:cNvPr id="2" name="Where it can go wrong">
            <a:extLst>
              <a:ext uri="{FF2B5EF4-FFF2-40B4-BE49-F238E27FC236}">
                <a16:creationId xmlns:a16="http://schemas.microsoft.com/office/drawing/2014/main" id="{C4413C1A-35CB-4466-8BA6-66B7F147C7A9}"/>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F3F1E9"/>
                </a:solidFill>
                <a:latin typeface="Avenir Next"/>
                <a:ea typeface="Avenir Next"/>
                <a:cs typeface="Avenir Next"/>
              </a:defRPr>
            </a:pPr>
            <a:r>
              <a:rPr sz="4050" b="1">
                <a:solidFill>
                  <a:srgbClr val="F3F1E9"/>
                </a:solidFill>
                <a:latin typeface="Avenir Next"/>
                <a:ea typeface="Avenir Next"/>
                <a:cs typeface="Avenir Next"/>
              </a:rPr>
              <a:t>Where it can go wrong</a:t>
            </a:r>
          </a:p>
        </p:txBody>
      </p:sp>
      <p:sp>
        <p:nvSpPr>
          <p:cNvPr id="3" name="01">
            <a:extLst>
              <a:ext uri="{FF2B5EF4-FFF2-40B4-BE49-F238E27FC236}">
                <a16:creationId xmlns:a16="http://schemas.microsoft.com/office/drawing/2014/main" id="{CE636E5F-F1DE-42EC-A703-422B51168261}"/>
              </a:ext>
            </a:extLst>
          </p:cNvPr>
          <p:cNvSpPr>
            <a:spLocks noGrp="1"/>
          </p:cNvSpPr>
          <p:nvPr/>
        </p:nvSpPr>
        <p:spPr>
          <a:xfrm>
            <a:off x="609600" y="2038350"/>
            <a:ext cx="619125"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01</a:t>
            </a:r>
          </a:p>
        </p:txBody>
      </p:sp>
      <p:sp>
        <p:nvSpPr>
          <p:cNvPr id="4" name="Understanding gaps">
            <a:extLst>
              <a:ext uri="{FF2B5EF4-FFF2-40B4-BE49-F238E27FC236}">
                <a16:creationId xmlns:a16="http://schemas.microsoft.com/office/drawing/2014/main" id="{D8E13FDB-D336-466C-A0B2-AFE231FE7234}"/>
              </a:ext>
            </a:extLst>
          </p:cNvPr>
          <p:cNvSpPr>
            <a:spLocks noGrp="1"/>
          </p:cNvSpPr>
          <p:nvPr/>
        </p:nvSpPr>
        <p:spPr>
          <a:xfrm>
            <a:off x="1409700" y="1971675"/>
            <a:ext cx="3667125" cy="590550"/>
          </a:xfrm>
          <a:prstGeom prst="rect">
            <a:avLst/>
          </a:prstGeom>
          <a:noFill/>
          <a:ln w="0">
            <a:noFill/>
          </a:ln>
        </p:spPr>
        <p:txBody>
          <a:bodyPr wrap="square" lIns="0" tIns="0" rIns="0" bIns="0">
            <a:noAutofit/>
          </a:bodyPr>
          <a:lstStyle/>
          <a:p>
            <a:pPr>
              <a:defRPr sz="2400" b="1">
                <a:solidFill>
                  <a:srgbClr val="F3F1E9"/>
                </a:solidFill>
                <a:latin typeface="Avenir Next"/>
                <a:ea typeface="Avenir Next"/>
                <a:cs typeface="Avenir Next"/>
              </a:defRPr>
            </a:pPr>
            <a:r>
              <a:rPr sz="2400" b="1">
                <a:solidFill>
                  <a:srgbClr val="F3F1E9"/>
                </a:solidFill>
                <a:latin typeface="Avenir Next"/>
                <a:ea typeface="Avenir Next"/>
                <a:cs typeface="Avenir Next"/>
              </a:rPr>
              <a:t>Understanding gaps</a:t>
            </a:r>
          </a:p>
        </p:txBody>
      </p:sp>
      <p:sp>
        <p:nvSpPr>
          <p:cNvPr id="5" name="You may struggle to change code you cannot explain">
            <a:extLst>
              <a:ext uri="{FF2B5EF4-FFF2-40B4-BE49-F238E27FC236}">
                <a16:creationId xmlns:a16="http://schemas.microsoft.com/office/drawing/2014/main" id="{C4CE8A08-7DB7-4BDA-8966-A1621694D2C1}"/>
              </a:ext>
            </a:extLst>
          </p:cNvPr>
          <p:cNvSpPr>
            <a:spLocks noGrp="1"/>
          </p:cNvSpPr>
          <p:nvPr/>
        </p:nvSpPr>
        <p:spPr>
          <a:xfrm>
            <a:off x="5457825" y="2009775"/>
            <a:ext cx="5905500" cy="76200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You may struggle to change code you cannot explain.</a:t>
            </a:r>
          </a:p>
        </p:txBody>
      </p:sp>
      <p:sp>
        <p:nvSpPr>
          <p:cNvPr id="6" name="02">
            <a:extLst>
              <a:ext uri="{FF2B5EF4-FFF2-40B4-BE49-F238E27FC236}">
                <a16:creationId xmlns:a16="http://schemas.microsoft.com/office/drawing/2014/main" id="{2409B9B1-FF18-4DB4-ADA5-B6A8F07001AA}"/>
              </a:ext>
            </a:extLst>
          </p:cNvPr>
          <p:cNvSpPr>
            <a:spLocks noGrp="1"/>
          </p:cNvSpPr>
          <p:nvPr/>
        </p:nvSpPr>
        <p:spPr>
          <a:xfrm>
            <a:off x="609600" y="3009900"/>
            <a:ext cx="619125"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02</a:t>
            </a:r>
          </a:p>
        </p:txBody>
      </p:sp>
      <p:sp>
        <p:nvSpPr>
          <p:cNvPr id="7" name="Debugging loops">
            <a:extLst>
              <a:ext uri="{FF2B5EF4-FFF2-40B4-BE49-F238E27FC236}">
                <a16:creationId xmlns:a16="http://schemas.microsoft.com/office/drawing/2014/main" id="{BB554163-CF56-4F26-A040-FAA948E1E7E8}"/>
              </a:ext>
            </a:extLst>
          </p:cNvPr>
          <p:cNvSpPr>
            <a:spLocks noGrp="1"/>
          </p:cNvSpPr>
          <p:nvPr/>
        </p:nvSpPr>
        <p:spPr>
          <a:xfrm>
            <a:off x="1409700" y="2943225"/>
            <a:ext cx="3667125" cy="590550"/>
          </a:xfrm>
          <a:prstGeom prst="rect">
            <a:avLst/>
          </a:prstGeom>
          <a:noFill/>
          <a:ln w="0">
            <a:noFill/>
          </a:ln>
        </p:spPr>
        <p:txBody>
          <a:bodyPr wrap="square" lIns="0" tIns="0" rIns="0" bIns="0">
            <a:noAutofit/>
          </a:bodyPr>
          <a:lstStyle/>
          <a:p>
            <a:pPr>
              <a:defRPr sz="2400" b="1">
                <a:solidFill>
                  <a:srgbClr val="F3F1E9"/>
                </a:solidFill>
                <a:latin typeface="Avenir Next"/>
                <a:ea typeface="Avenir Next"/>
                <a:cs typeface="Avenir Next"/>
              </a:defRPr>
            </a:pPr>
            <a:r>
              <a:rPr sz="2400" b="1">
                <a:solidFill>
                  <a:srgbClr val="F3F1E9"/>
                </a:solidFill>
                <a:latin typeface="Avenir Next"/>
                <a:ea typeface="Avenir Next"/>
                <a:cs typeface="Avenir Next"/>
              </a:rPr>
              <a:t>Debugging loops</a:t>
            </a:r>
          </a:p>
        </p:txBody>
      </p:sp>
      <p:sp>
        <p:nvSpPr>
          <p:cNvPr id="8" name="Repeated guesses can introduce new failures.">
            <a:extLst>
              <a:ext uri="{FF2B5EF4-FFF2-40B4-BE49-F238E27FC236}">
                <a16:creationId xmlns:a16="http://schemas.microsoft.com/office/drawing/2014/main" id="{3A169584-5D29-4316-8C1A-FD7F50D0DA4E}"/>
              </a:ext>
            </a:extLst>
          </p:cNvPr>
          <p:cNvSpPr>
            <a:spLocks noGrp="1"/>
          </p:cNvSpPr>
          <p:nvPr/>
        </p:nvSpPr>
        <p:spPr>
          <a:xfrm>
            <a:off x="5457825" y="2981325"/>
            <a:ext cx="5905500" cy="76200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Repeated guesses can introduce new failures.</a:t>
            </a:r>
          </a:p>
        </p:txBody>
      </p:sp>
      <p:sp>
        <p:nvSpPr>
          <p:cNvPr id="9" name="03">
            <a:extLst>
              <a:ext uri="{FF2B5EF4-FFF2-40B4-BE49-F238E27FC236}">
                <a16:creationId xmlns:a16="http://schemas.microsoft.com/office/drawing/2014/main" id="{4D0308DC-FC9E-47BD-8927-C540FB3E27E3}"/>
              </a:ext>
            </a:extLst>
          </p:cNvPr>
          <p:cNvSpPr>
            <a:spLocks noGrp="1"/>
          </p:cNvSpPr>
          <p:nvPr/>
        </p:nvSpPr>
        <p:spPr>
          <a:xfrm>
            <a:off x="609600" y="3981450"/>
            <a:ext cx="619125"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03</a:t>
            </a:r>
          </a:p>
        </p:txBody>
      </p:sp>
      <p:sp>
        <p:nvSpPr>
          <p:cNvPr id="10" name="Security mistakes">
            <a:extLst>
              <a:ext uri="{FF2B5EF4-FFF2-40B4-BE49-F238E27FC236}">
                <a16:creationId xmlns:a16="http://schemas.microsoft.com/office/drawing/2014/main" id="{8C03169A-6C66-4488-8067-62A865CC783B}"/>
              </a:ext>
            </a:extLst>
          </p:cNvPr>
          <p:cNvSpPr>
            <a:spLocks noGrp="1"/>
          </p:cNvSpPr>
          <p:nvPr/>
        </p:nvSpPr>
        <p:spPr>
          <a:xfrm>
            <a:off x="1409700" y="3914775"/>
            <a:ext cx="3667125" cy="590550"/>
          </a:xfrm>
          <a:prstGeom prst="rect">
            <a:avLst/>
          </a:prstGeom>
          <a:noFill/>
          <a:ln w="0">
            <a:noFill/>
          </a:ln>
        </p:spPr>
        <p:txBody>
          <a:bodyPr wrap="square" lIns="0" tIns="0" rIns="0" bIns="0">
            <a:noAutofit/>
          </a:bodyPr>
          <a:lstStyle/>
          <a:p>
            <a:pPr>
              <a:defRPr sz="2400" b="1">
                <a:solidFill>
                  <a:srgbClr val="F3F1E9"/>
                </a:solidFill>
                <a:latin typeface="Avenir Next"/>
                <a:ea typeface="Avenir Next"/>
                <a:cs typeface="Avenir Next"/>
              </a:defRPr>
            </a:pPr>
            <a:r>
              <a:rPr sz="2400" b="1">
                <a:solidFill>
                  <a:srgbClr val="F3F1E9"/>
                </a:solidFill>
                <a:latin typeface="Avenir Next"/>
                <a:ea typeface="Avenir Next"/>
                <a:cs typeface="Avenir Next"/>
              </a:rPr>
              <a:t>Security mistakes</a:t>
            </a:r>
          </a:p>
        </p:txBody>
      </p:sp>
      <p:sp>
        <p:nvSpPr>
          <p:cNvPr id="11" name="Check secrets, permissions and untrusted inputs.">
            <a:extLst>
              <a:ext uri="{FF2B5EF4-FFF2-40B4-BE49-F238E27FC236}">
                <a16:creationId xmlns:a16="http://schemas.microsoft.com/office/drawing/2014/main" id="{18BC2229-4935-4278-805E-81C5A9CD3D22}"/>
              </a:ext>
            </a:extLst>
          </p:cNvPr>
          <p:cNvSpPr>
            <a:spLocks noGrp="1"/>
          </p:cNvSpPr>
          <p:nvPr/>
        </p:nvSpPr>
        <p:spPr>
          <a:xfrm>
            <a:off x="5457825" y="3952875"/>
            <a:ext cx="5905500" cy="76200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Check secrets, permissions and untrusted inputs.</a:t>
            </a:r>
          </a:p>
        </p:txBody>
      </p:sp>
      <p:sp>
        <p:nvSpPr>
          <p:cNvPr id="12" name="04">
            <a:extLst>
              <a:ext uri="{FF2B5EF4-FFF2-40B4-BE49-F238E27FC236}">
                <a16:creationId xmlns:a16="http://schemas.microsoft.com/office/drawing/2014/main" id="{DE72B2F4-A5C7-481F-A5B2-37FAB7C119FA}"/>
              </a:ext>
            </a:extLst>
          </p:cNvPr>
          <p:cNvSpPr>
            <a:spLocks noGrp="1"/>
          </p:cNvSpPr>
          <p:nvPr/>
        </p:nvSpPr>
        <p:spPr>
          <a:xfrm>
            <a:off x="609600" y="4953000"/>
            <a:ext cx="619125"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04</a:t>
            </a:r>
          </a:p>
        </p:txBody>
      </p:sp>
      <p:sp>
        <p:nvSpPr>
          <p:cNvPr id="13" name="Rights and attribution">
            <a:extLst>
              <a:ext uri="{FF2B5EF4-FFF2-40B4-BE49-F238E27FC236}">
                <a16:creationId xmlns:a16="http://schemas.microsoft.com/office/drawing/2014/main" id="{A555DD7D-7943-4C93-B080-894DD876AA58}"/>
              </a:ext>
            </a:extLst>
          </p:cNvPr>
          <p:cNvSpPr>
            <a:spLocks noGrp="1"/>
          </p:cNvSpPr>
          <p:nvPr/>
        </p:nvSpPr>
        <p:spPr>
          <a:xfrm>
            <a:off x="1409700" y="4886325"/>
            <a:ext cx="3667125" cy="590550"/>
          </a:xfrm>
          <a:prstGeom prst="rect">
            <a:avLst/>
          </a:prstGeom>
          <a:noFill/>
          <a:ln w="0">
            <a:noFill/>
          </a:ln>
        </p:spPr>
        <p:txBody>
          <a:bodyPr wrap="square" lIns="0" tIns="0" rIns="0" bIns="0">
            <a:noAutofit/>
          </a:bodyPr>
          <a:lstStyle/>
          <a:p>
            <a:pPr>
              <a:defRPr sz="2400" b="1">
                <a:solidFill>
                  <a:srgbClr val="F3F1E9"/>
                </a:solidFill>
                <a:latin typeface="Avenir Next"/>
                <a:ea typeface="Avenir Next"/>
                <a:cs typeface="Avenir Next"/>
              </a:defRPr>
            </a:pPr>
            <a:r>
              <a:rPr sz="2400" b="1">
                <a:solidFill>
                  <a:srgbClr val="F3F1E9"/>
                </a:solidFill>
                <a:latin typeface="Avenir Next"/>
                <a:ea typeface="Avenir Next"/>
                <a:cs typeface="Avenir Next"/>
              </a:rPr>
              <a:t>Rights and attribution</a:t>
            </a:r>
          </a:p>
        </p:txBody>
      </p:sp>
      <p:sp>
        <p:nvSpPr>
          <p:cNvPr id="14" name="Review dependencies, assets and licence obligation">
            <a:extLst>
              <a:ext uri="{FF2B5EF4-FFF2-40B4-BE49-F238E27FC236}">
                <a16:creationId xmlns:a16="http://schemas.microsoft.com/office/drawing/2014/main" id="{F236F9B2-06CA-409F-8D6D-4F3D6590220A}"/>
              </a:ext>
            </a:extLst>
          </p:cNvPr>
          <p:cNvSpPr>
            <a:spLocks noGrp="1"/>
          </p:cNvSpPr>
          <p:nvPr/>
        </p:nvSpPr>
        <p:spPr>
          <a:xfrm>
            <a:off x="5457825" y="4924425"/>
            <a:ext cx="5905500" cy="76200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Review dependencies, assets and licence obligations.</a:t>
            </a:r>
          </a:p>
        </p:txBody>
      </p:sp>
    </p:spTree>
    <p:extLst>
      <p:ext uri="{BB962C8B-B14F-4D97-AF65-F5344CB8AC3E}">
        <p14:creationId xmlns:p14="http://schemas.microsoft.com/office/powerpoint/2010/main" val="1678738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1E9"/>
        </a:solidFill>
        <a:effectLst/>
      </p:bgPr>
    </p:bg>
    <p:spTree>
      <p:nvGrpSpPr>
        <p:cNvPr id="1" name=""/>
        <p:cNvGrpSpPr/>
        <p:nvPr/>
      </p:nvGrpSpPr>
      <p:grpSpPr>
        <a:xfrm>
          <a:off x="0" y="0"/>
          <a:ext cx="0" cy="0"/>
          <a:chOff x="0" y="0"/>
          <a:chExt cx="0" cy="0"/>
        </a:xfrm>
      </p:grpSpPr>
      <p:sp>
        <p:nvSpPr>
          <p:cNvPr id="13" name="15">
            <a:extLst>
              <a:ext uri="{FF2B5EF4-FFF2-40B4-BE49-F238E27FC236}">
                <a16:creationId xmlns:a16="http://schemas.microsoft.com/office/drawing/2014/main" id="{8E4DF6FD-5ADB-4C38-9C41-32E3ADAD5888}"/>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576152"/>
                </a:solidFill>
                <a:latin typeface="JetBrains Mono"/>
                <a:ea typeface="JetBrains Mono"/>
                <a:cs typeface="JetBrains Mono"/>
              </a:defRPr>
            </a:pPr>
            <a:r>
              <a:rPr sz="1275" b="0">
                <a:solidFill>
                  <a:srgbClr val="576152"/>
                </a:solidFill>
                <a:latin typeface="JetBrains Mono"/>
                <a:ea typeface="JetBrains Mono"/>
                <a:cs typeface="JetBrains Mono"/>
              </a:rPr>
              <a:t>15</a:t>
            </a:r>
          </a:p>
        </p:txBody>
      </p:sp>
      <p:sp>
        <p:nvSpPr>
          <p:cNvPr id="2" name="Plausible output can still be wrong">
            <a:extLst>
              <a:ext uri="{FF2B5EF4-FFF2-40B4-BE49-F238E27FC236}">
                <a16:creationId xmlns:a16="http://schemas.microsoft.com/office/drawing/2014/main" id="{1E45F64E-BF72-4E6C-BE73-DD72776D660B}"/>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19211B"/>
                </a:solidFill>
                <a:latin typeface="Avenir Next"/>
                <a:ea typeface="Avenir Next"/>
                <a:cs typeface="Avenir Next"/>
              </a:defRPr>
            </a:pPr>
            <a:r>
              <a:rPr sz="4050" b="1">
                <a:solidFill>
                  <a:srgbClr val="19211B"/>
                </a:solidFill>
                <a:latin typeface="Avenir Next"/>
                <a:ea typeface="Avenir Next"/>
                <a:cs typeface="Avenir Next"/>
              </a:rPr>
              <a:t>Plausible output can still be wrong</a:t>
            </a:r>
          </a:p>
        </p:txBody>
      </p:sp>
      <p:sp>
        <p:nvSpPr>
          <p:cNvPr id="3" name="Invented facts">
            <a:extLst>
              <a:ext uri="{FF2B5EF4-FFF2-40B4-BE49-F238E27FC236}">
                <a16:creationId xmlns:a16="http://schemas.microsoft.com/office/drawing/2014/main" id="{B1FA934D-AE58-4408-9466-BDD03531AF2B}"/>
              </a:ext>
            </a:extLst>
          </p:cNvPr>
          <p:cNvSpPr>
            <a:spLocks noGrp="1"/>
          </p:cNvSpPr>
          <p:nvPr/>
        </p:nvSpPr>
        <p:spPr>
          <a:xfrm>
            <a:off x="609600" y="1981200"/>
            <a:ext cx="4648200" cy="666750"/>
          </a:xfrm>
          <a:prstGeom prst="rect">
            <a:avLst/>
          </a:prstGeom>
          <a:noFill/>
          <a:ln w="0">
            <a:noFill/>
          </a:ln>
        </p:spPr>
        <p:txBody>
          <a:bodyPr wrap="square" lIns="0" tIns="0" rIns="0" bIns="0">
            <a:noAutofit/>
          </a:bodyPr>
          <a:lstStyle/>
          <a:p>
            <a:pPr>
              <a:defRPr sz="2175" b="1">
                <a:solidFill>
                  <a:srgbClr val="19211B"/>
                </a:solidFill>
                <a:latin typeface="Avenir Next"/>
                <a:ea typeface="Avenir Next"/>
                <a:cs typeface="Avenir Next"/>
              </a:defRPr>
            </a:pPr>
            <a:r>
              <a:rPr sz="2175" b="1">
                <a:solidFill>
                  <a:srgbClr val="19211B"/>
                </a:solidFill>
                <a:latin typeface="Avenir Next"/>
                <a:ea typeface="Avenir Next"/>
                <a:cs typeface="Avenir Next"/>
              </a:rPr>
              <a:t>Invented facts</a:t>
            </a:r>
          </a:p>
        </p:txBody>
      </p:sp>
      <p:sp>
        <p:nvSpPr>
          <p:cNvPr id="4" name="Does the API, package or citation exist?">
            <a:extLst>
              <a:ext uri="{FF2B5EF4-FFF2-40B4-BE49-F238E27FC236}">
                <a16:creationId xmlns:a16="http://schemas.microsoft.com/office/drawing/2014/main" id="{57AC158F-DB30-435B-ADF2-ABF699E841E8}"/>
              </a:ext>
            </a:extLst>
          </p:cNvPr>
          <p:cNvSpPr>
            <a:spLocks noGrp="1"/>
          </p:cNvSpPr>
          <p:nvPr/>
        </p:nvSpPr>
        <p:spPr>
          <a:xfrm>
            <a:off x="5591175" y="1981200"/>
            <a:ext cx="5905500" cy="666750"/>
          </a:xfrm>
          <a:prstGeom prst="rect">
            <a:avLst/>
          </a:prstGeom>
          <a:noFill/>
          <a:ln w="0">
            <a:noFill/>
          </a:ln>
        </p:spPr>
        <p:txBody>
          <a:bodyPr wrap="square" lIns="0" tIns="0" rIns="0" bIns="0">
            <a:noAutofit/>
          </a:bodyPr>
          <a:lstStyle/>
          <a:p>
            <a:pPr>
              <a:defRPr sz="1950" b="0">
                <a:solidFill>
                  <a:srgbClr val="576152"/>
                </a:solidFill>
                <a:latin typeface="Avenir Next"/>
                <a:ea typeface="Avenir Next"/>
                <a:cs typeface="Avenir Next"/>
              </a:defRPr>
            </a:pPr>
            <a:r>
              <a:rPr sz="1950" b="0">
                <a:solidFill>
                  <a:srgbClr val="576152"/>
                </a:solidFill>
                <a:latin typeface="Avenir Next"/>
                <a:ea typeface="Avenir Next"/>
                <a:cs typeface="Avenir Next"/>
              </a:rPr>
              <a:t>Does the API, package or citation exist?</a:t>
            </a:r>
          </a:p>
        </p:txBody>
      </p:sp>
      <p:sp>
        <p:nvSpPr>
          <p:cNvPr id="5" name="Contradictions">
            <a:extLst>
              <a:ext uri="{FF2B5EF4-FFF2-40B4-BE49-F238E27FC236}">
                <a16:creationId xmlns:a16="http://schemas.microsoft.com/office/drawing/2014/main" id="{0DD43208-7720-438C-BFAC-DEA1FCB3EEAD}"/>
              </a:ext>
            </a:extLst>
          </p:cNvPr>
          <p:cNvSpPr>
            <a:spLocks noGrp="1"/>
          </p:cNvSpPr>
          <p:nvPr/>
        </p:nvSpPr>
        <p:spPr>
          <a:xfrm>
            <a:off x="609600" y="2809875"/>
            <a:ext cx="4648200" cy="666750"/>
          </a:xfrm>
          <a:prstGeom prst="rect">
            <a:avLst/>
          </a:prstGeom>
          <a:noFill/>
          <a:ln w="0">
            <a:noFill/>
          </a:ln>
        </p:spPr>
        <p:txBody>
          <a:bodyPr wrap="square" lIns="0" tIns="0" rIns="0" bIns="0">
            <a:noAutofit/>
          </a:bodyPr>
          <a:lstStyle/>
          <a:p>
            <a:pPr>
              <a:defRPr sz="2175" b="1">
                <a:solidFill>
                  <a:srgbClr val="19211B"/>
                </a:solidFill>
                <a:latin typeface="Avenir Next"/>
                <a:ea typeface="Avenir Next"/>
                <a:cs typeface="Avenir Next"/>
              </a:defRPr>
            </a:pPr>
            <a:r>
              <a:rPr sz="2175" b="1">
                <a:solidFill>
                  <a:srgbClr val="19211B"/>
                </a:solidFill>
                <a:latin typeface="Avenir Next"/>
                <a:ea typeface="Avenir Next"/>
                <a:cs typeface="Avenir Next"/>
              </a:rPr>
              <a:t>Contradictions</a:t>
            </a:r>
          </a:p>
        </p:txBody>
      </p:sp>
      <p:sp>
        <p:nvSpPr>
          <p:cNvPr id="6" name="Do the code, explanation and requirements agree?">
            <a:extLst>
              <a:ext uri="{FF2B5EF4-FFF2-40B4-BE49-F238E27FC236}">
                <a16:creationId xmlns:a16="http://schemas.microsoft.com/office/drawing/2014/main" id="{43559E61-7253-4AF6-93BB-9148B55795AF}"/>
              </a:ext>
            </a:extLst>
          </p:cNvPr>
          <p:cNvSpPr>
            <a:spLocks noGrp="1"/>
          </p:cNvSpPr>
          <p:nvPr/>
        </p:nvSpPr>
        <p:spPr>
          <a:xfrm>
            <a:off x="5591175" y="2809875"/>
            <a:ext cx="5905500" cy="666750"/>
          </a:xfrm>
          <a:prstGeom prst="rect">
            <a:avLst/>
          </a:prstGeom>
          <a:noFill/>
          <a:ln w="0">
            <a:noFill/>
          </a:ln>
        </p:spPr>
        <p:txBody>
          <a:bodyPr wrap="square" lIns="0" tIns="0" rIns="0" bIns="0">
            <a:noAutofit/>
          </a:bodyPr>
          <a:lstStyle/>
          <a:p>
            <a:pPr>
              <a:defRPr sz="1950" b="0">
                <a:solidFill>
                  <a:srgbClr val="576152"/>
                </a:solidFill>
                <a:latin typeface="Avenir Next"/>
                <a:ea typeface="Avenir Next"/>
                <a:cs typeface="Avenir Next"/>
              </a:defRPr>
            </a:pPr>
            <a:r>
              <a:rPr sz="1950" b="0">
                <a:solidFill>
                  <a:srgbClr val="576152"/>
                </a:solidFill>
                <a:latin typeface="Avenir Next"/>
                <a:ea typeface="Avenir Next"/>
                <a:cs typeface="Avenir Next"/>
              </a:rPr>
              <a:t>Do the code, explanation and requirements agree?</a:t>
            </a:r>
          </a:p>
        </p:txBody>
      </p:sp>
      <p:sp>
        <p:nvSpPr>
          <p:cNvPr id="7" name="Repetition or ambiguity">
            <a:extLst>
              <a:ext uri="{FF2B5EF4-FFF2-40B4-BE49-F238E27FC236}">
                <a16:creationId xmlns:a16="http://schemas.microsoft.com/office/drawing/2014/main" id="{5F34E6EA-3EE7-4DFB-9E94-7CA738B08366}"/>
              </a:ext>
            </a:extLst>
          </p:cNvPr>
          <p:cNvSpPr>
            <a:spLocks noGrp="1"/>
          </p:cNvSpPr>
          <p:nvPr/>
        </p:nvSpPr>
        <p:spPr>
          <a:xfrm>
            <a:off x="609600" y="3638550"/>
            <a:ext cx="4648200" cy="666750"/>
          </a:xfrm>
          <a:prstGeom prst="rect">
            <a:avLst/>
          </a:prstGeom>
          <a:noFill/>
          <a:ln w="0">
            <a:noFill/>
          </a:ln>
        </p:spPr>
        <p:txBody>
          <a:bodyPr wrap="square" lIns="0" tIns="0" rIns="0" bIns="0">
            <a:noAutofit/>
          </a:bodyPr>
          <a:lstStyle/>
          <a:p>
            <a:pPr>
              <a:defRPr sz="2175" b="1">
                <a:solidFill>
                  <a:srgbClr val="19211B"/>
                </a:solidFill>
                <a:latin typeface="Avenir Next"/>
                <a:ea typeface="Avenir Next"/>
                <a:cs typeface="Avenir Next"/>
              </a:defRPr>
            </a:pPr>
            <a:r>
              <a:rPr sz="2175" b="1">
                <a:solidFill>
                  <a:srgbClr val="19211B"/>
                </a:solidFill>
                <a:latin typeface="Avenir Next"/>
                <a:ea typeface="Avenir Next"/>
                <a:cs typeface="Avenir Next"/>
              </a:rPr>
              <a:t>Repetition or ambiguity</a:t>
            </a:r>
          </a:p>
        </p:txBody>
      </p:sp>
      <p:sp>
        <p:nvSpPr>
          <p:cNvPr id="8" name="Does it repeat work or leave behaviour unclear?">
            <a:extLst>
              <a:ext uri="{FF2B5EF4-FFF2-40B4-BE49-F238E27FC236}">
                <a16:creationId xmlns:a16="http://schemas.microsoft.com/office/drawing/2014/main" id="{BD1E2FDE-A659-4FFB-9168-B021C65593EE}"/>
              </a:ext>
            </a:extLst>
          </p:cNvPr>
          <p:cNvSpPr>
            <a:spLocks noGrp="1"/>
          </p:cNvSpPr>
          <p:nvPr/>
        </p:nvSpPr>
        <p:spPr>
          <a:xfrm>
            <a:off x="5591175" y="3638550"/>
            <a:ext cx="5905500" cy="666750"/>
          </a:xfrm>
          <a:prstGeom prst="rect">
            <a:avLst/>
          </a:prstGeom>
          <a:noFill/>
          <a:ln w="0">
            <a:noFill/>
          </a:ln>
        </p:spPr>
        <p:txBody>
          <a:bodyPr wrap="square" lIns="0" tIns="0" rIns="0" bIns="0">
            <a:noAutofit/>
          </a:bodyPr>
          <a:lstStyle/>
          <a:p>
            <a:pPr>
              <a:defRPr sz="1950" b="0">
                <a:solidFill>
                  <a:srgbClr val="576152"/>
                </a:solidFill>
                <a:latin typeface="Avenir Next"/>
                <a:ea typeface="Avenir Next"/>
                <a:cs typeface="Avenir Next"/>
              </a:defRPr>
            </a:pPr>
            <a:r>
              <a:rPr sz="1950" b="0">
                <a:solidFill>
                  <a:srgbClr val="576152"/>
                </a:solidFill>
                <a:latin typeface="Avenir Next"/>
                <a:ea typeface="Avenir Next"/>
                <a:cs typeface="Avenir Next"/>
              </a:rPr>
              <a:t>Does it repeat work or leave behaviour unclear?</a:t>
            </a:r>
          </a:p>
        </p:txBody>
      </p:sp>
      <p:sp>
        <p:nvSpPr>
          <p:cNvPr id="9" name="Bias and stereotyping">
            <a:extLst>
              <a:ext uri="{FF2B5EF4-FFF2-40B4-BE49-F238E27FC236}">
                <a16:creationId xmlns:a16="http://schemas.microsoft.com/office/drawing/2014/main" id="{A6863340-B3D0-4FF5-8F75-1EEB1B5FD097}"/>
              </a:ext>
            </a:extLst>
          </p:cNvPr>
          <p:cNvSpPr>
            <a:spLocks noGrp="1"/>
          </p:cNvSpPr>
          <p:nvPr/>
        </p:nvSpPr>
        <p:spPr>
          <a:xfrm>
            <a:off x="609600" y="4467225"/>
            <a:ext cx="4648200" cy="666750"/>
          </a:xfrm>
          <a:prstGeom prst="rect">
            <a:avLst/>
          </a:prstGeom>
          <a:noFill/>
          <a:ln w="0">
            <a:noFill/>
          </a:ln>
        </p:spPr>
        <p:txBody>
          <a:bodyPr wrap="square" lIns="0" tIns="0" rIns="0" bIns="0">
            <a:noAutofit/>
          </a:bodyPr>
          <a:lstStyle/>
          <a:p>
            <a:pPr>
              <a:defRPr sz="2175" b="1">
                <a:solidFill>
                  <a:srgbClr val="19211B"/>
                </a:solidFill>
                <a:latin typeface="Avenir Next"/>
                <a:ea typeface="Avenir Next"/>
                <a:cs typeface="Avenir Next"/>
              </a:defRPr>
            </a:pPr>
            <a:r>
              <a:rPr sz="2175" b="1">
                <a:solidFill>
                  <a:srgbClr val="19211B"/>
                </a:solidFill>
                <a:latin typeface="Avenir Next"/>
                <a:ea typeface="Avenir Next"/>
                <a:cs typeface="Avenir Next"/>
              </a:rPr>
              <a:t>Bias and stereotyping</a:t>
            </a:r>
          </a:p>
        </p:txBody>
      </p:sp>
      <p:sp>
        <p:nvSpPr>
          <p:cNvPr id="10" name="Who could the wording or assumptions exclude?">
            <a:extLst>
              <a:ext uri="{FF2B5EF4-FFF2-40B4-BE49-F238E27FC236}">
                <a16:creationId xmlns:a16="http://schemas.microsoft.com/office/drawing/2014/main" id="{8B4F240B-3128-4C7A-8C43-5501CCF02FFC}"/>
              </a:ext>
            </a:extLst>
          </p:cNvPr>
          <p:cNvSpPr>
            <a:spLocks noGrp="1"/>
          </p:cNvSpPr>
          <p:nvPr/>
        </p:nvSpPr>
        <p:spPr>
          <a:xfrm>
            <a:off x="5591175" y="4467225"/>
            <a:ext cx="5905500" cy="666750"/>
          </a:xfrm>
          <a:prstGeom prst="rect">
            <a:avLst/>
          </a:prstGeom>
          <a:noFill/>
          <a:ln w="0">
            <a:noFill/>
          </a:ln>
        </p:spPr>
        <p:txBody>
          <a:bodyPr wrap="square" lIns="0" tIns="0" rIns="0" bIns="0">
            <a:noAutofit/>
          </a:bodyPr>
          <a:lstStyle/>
          <a:p>
            <a:pPr>
              <a:defRPr sz="1950" b="0">
                <a:solidFill>
                  <a:srgbClr val="576152"/>
                </a:solidFill>
                <a:latin typeface="Avenir Next"/>
                <a:ea typeface="Avenir Next"/>
                <a:cs typeface="Avenir Next"/>
              </a:defRPr>
            </a:pPr>
            <a:r>
              <a:rPr sz="1950" b="0">
                <a:solidFill>
                  <a:srgbClr val="576152"/>
                </a:solidFill>
                <a:latin typeface="Avenir Next"/>
                <a:ea typeface="Avenir Next"/>
                <a:cs typeface="Avenir Next"/>
              </a:rPr>
              <a:t>Who could the wording or assumptions exclude?</a:t>
            </a:r>
          </a:p>
        </p:txBody>
      </p:sp>
      <p:sp>
        <p:nvSpPr>
          <p:cNvPr id="11" name="Overgeneralisation or toxicity">
            <a:extLst>
              <a:ext uri="{FF2B5EF4-FFF2-40B4-BE49-F238E27FC236}">
                <a16:creationId xmlns:a16="http://schemas.microsoft.com/office/drawing/2014/main" id="{E52D7454-D49A-4290-8F23-6DBE55BB67B9}"/>
              </a:ext>
            </a:extLst>
          </p:cNvPr>
          <p:cNvSpPr>
            <a:spLocks noGrp="1"/>
          </p:cNvSpPr>
          <p:nvPr/>
        </p:nvSpPr>
        <p:spPr>
          <a:xfrm>
            <a:off x="609600" y="5295900"/>
            <a:ext cx="4648200" cy="666750"/>
          </a:xfrm>
          <a:prstGeom prst="rect">
            <a:avLst/>
          </a:prstGeom>
          <a:noFill/>
          <a:ln w="0">
            <a:noFill/>
          </a:ln>
        </p:spPr>
        <p:txBody>
          <a:bodyPr wrap="square" lIns="0" tIns="0" rIns="0" bIns="0">
            <a:noAutofit/>
          </a:bodyPr>
          <a:lstStyle/>
          <a:p>
            <a:pPr>
              <a:defRPr sz="2175" b="1">
                <a:solidFill>
                  <a:srgbClr val="19211B"/>
                </a:solidFill>
                <a:latin typeface="Avenir Next"/>
                <a:ea typeface="Avenir Next"/>
                <a:cs typeface="Avenir Next"/>
              </a:defRPr>
            </a:pPr>
            <a:r>
              <a:rPr sz="2175" b="1">
                <a:solidFill>
                  <a:srgbClr val="19211B"/>
                </a:solidFill>
                <a:latin typeface="Avenir Next"/>
                <a:ea typeface="Avenir Next"/>
                <a:cs typeface="Avenir Next"/>
              </a:rPr>
              <a:t>Overgeneralisation or toxicity</a:t>
            </a:r>
          </a:p>
        </p:txBody>
      </p:sp>
      <p:sp>
        <p:nvSpPr>
          <p:cNvPr id="12" name="Does it make unjustified claims or harmful stateme">
            <a:extLst>
              <a:ext uri="{FF2B5EF4-FFF2-40B4-BE49-F238E27FC236}">
                <a16:creationId xmlns:a16="http://schemas.microsoft.com/office/drawing/2014/main" id="{D1921DFA-0336-411B-99EA-8A1E61B5249B}"/>
              </a:ext>
            </a:extLst>
          </p:cNvPr>
          <p:cNvSpPr>
            <a:spLocks noGrp="1"/>
          </p:cNvSpPr>
          <p:nvPr/>
        </p:nvSpPr>
        <p:spPr>
          <a:xfrm>
            <a:off x="5591175" y="5295900"/>
            <a:ext cx="5905500" cy="666750"/>
          </a:xfrm>
          <a:prstGeom prst="rect">
            <a:avLst/>
          </a:prstGeom>
          <a:noFill/>
          <a:ln w="0">
            <a:noFill/>
          </a:ln>
        </p:spPr>
        <p:txBody>
          <a:bodyPr wrap="square" lIns="0" tIns="0" rIns="0" bIns="0">
            <a:noAutofit/>
          </a:bodyPr>
          <a:lstStyle/>
          <a:p>
            <a:pPr>
              <a:defRPr sz="1950" b="0">
                <a:solidFill>
                  <a:srgbClr val="576152"/>
                </a:solidFill>
                <a:latin typeface="Avenir Next"/>
                <a:ea typeface="Avenir Next"/>
                <a:cs typeface="Avenir Next"/>
              </a:defRPr>
            </a:pPr>
            <a:r>
              <a:rPr sz="1950" b="0">
                <a:solidFill>
                  <a:srgbClr val="576152"/>
                </a:solidFill>
                <a:latin typeface="Avenir Next"/>
                <a:ea typeface="Avenir Next"/>
                <a:cs typeface="Avenir Next"/>
              </a:rPr>
              <a:t>Does it make unjustified claims or harmful statements?</a:t>
            </a:r>
          </a:p>
        </p:txBody>
      </p:sp>
    </p:spTree>
    <p:extLst>
      <p:ext uri="{BB962C8B-B14F-4D97-AF65-F5344CB8AC3E}">
        <p14:creationId xmlns:p14="http://schemas.microsoft.com/office/powerpoint/2010/main" val="101514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51716"/>
        </a:solidFill>
        <a:effectLst/>
      </p:bgPr>
    </p:bg>
    <p:spTree>
      <p:nvGrpSpPr>
        <p:cNvPr id="1" name=""/>
        <p:cNvGrpSpPr/>
        <p:nvPr/>
      </p:nvGrpSpPr>
      <p:grpSpPr>
        <a:xfrm>
          <a:off x="0" y="0"/>
          <a:ext cx="0" cy="0"/>
          <a:chOff x="0" y="0"/>
          <a:chExt cx="0" cy="0"/>
        </a:xfrm>
      </p:grpSpPr>
      <p:sp>
        <p:nvSpPr>
          <p:cNvPr id="13" name="16">
            <a:extLst>
              <a:ext uri="{FF2B5EF4-FFF2-40B4-BE49-F238E27FC236}">
                <a16:creationId xmlns:a16="http://schemas.microsoft.com/office/drawing/2014/main" id="{361A8FEF-7AF7-4846-829D-2D147C1A7C30}"/>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A9B0A7"/>
                </a:solidFill>
                <a:latin typeface="JetBrains Mono"/>
                <a:ea typeface="JetBrains Mono"/>
                <a:cs typeface="JetBrains Mono"/>
              </a:defRPr>
            </a:pPr>
            <a:r>
              <a:rPr sz="1275" b="0">
                <a:solidFill>
                  <a:srgbClr val="A9B0A7"/>
                </a:solidFill>
                <a:latin typeface="JetBrains Mono"/>
                <a:ea typeface="JetBrains Mono"/>
                <a:cs typeface="JetBrains Mono"/>
              </a:rPr>
              <a:t>16</a:t>
            </a:r>
          </a:p>
        </p:txBody>
      </p:sp>
      <p:sp>
        <p:nvSpPr>
          <p:cNvPr id="2" name="What AI makes easier">
            <a:extLst>
              <a:ext uri="{FF2B5EF4-FFF2-40B4-BE49-F238E27FC236}">
                <a16:creationId xmlns:a16="http://schemas.microsoft.com/office/drawing/2014/main" id="{CB07A420-F710-4936-928A-35E042984AA0}"/>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F3F1E9"/>
                </a:solidFill>
                <a:latin typeface="Avenir Next"/>
                <a:ea typeface="Avenir Next"/>
                <a:cs typeface="Avenir Next"/>
              </a:defRPr>
            </a:pPr>
            <a:r>
              <a:rPr sz="4050" b="1">
                <a:solidFill>
                  <a:srgbClr val="F3F1E9"/>
                </a:solidFill>
                <a:latin typeface="Avenir Next"/>
                <a:ea typeface="Avenir Next"/>
                <a:cs typeface="Avenir Next"/>
              </a:rPr>
              <a:t>What AI makes easier</a:t>
            </a:r>
          </a:p>
        </p:txBody>
      </p:sp>
      <p:sp>
        <p:nvSpPr>
          <p:cNvPr id="3" name="01">
            <a:extLst>
              <a:ext uri="{FF2B5EF4-FFF2-40B4-BE49-F238E27FC236}">
                <a16:creationId xmlns:a16="http://schemas.microsoft.com/office/drawing/2014/main" id="{20617205-5A27-499C-85D4-82EB9C35B918}"/>
              </a:ext>
            </a:extLst>
          </p:cNvPr>
          <p:cNvSpPr>
            <a:spLocks noGrp="1"/>
          </p:cNvSpPr>
          <p:nvPr/>
        </p:nvSpPr>
        <p:spPr>
          <a:xfrm>
            <a:off x="609600" y="2095500"/>
            <a:ext cx="3416300"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01</a:t>
            </a:r>
          </a:p>
        </p:txBody>
      </p:sp>
      <p:sp>
        <p:nvSpPr>
          <p:cNvPr id="4" name="Starting">
            <a:extLst>
              <a:ext uri="{FF2B5EF4-FFF2-40B4-BE49-F238E27FC236}">
                <a16:creationId xmlns:a16="http://schemas.microsoft.com/office/drawing/2014/main" id="{500CFAFF-3A21-48E2-83EB-2D25111198EE}"/>
              </a:ext>
            </a:extLst>
          </p:cNvPr>
          <p:cNvSpPr>
            <a:spLocks noGrp="1"/>
          </p:cNvSpPr>
          <p:nvPr/>
        </p:nvSpPr>
        <p:spPr>
          <a:xfrm>
            <a:off x="609600" y="2571750"/>
            <a:ext cx="3321050" cy="1047750"/>
          </a:xfrm>
          <a:prstGeom prst="rect">
            <a:avLst/>
          </a:prstGeom>
          <a:noFill/>
          <a:ln w="0">
            <a:noFill/>
          </a:ln>
        </p:spPr>
        <p:txBody>
          <a:bodyPr wrap="square" lIns="0" tIns="0" rIns="0" bIns="0">
            <a:noAutofit/>
          </a:bodyPr>
          <a:lstStyle/>
          <a:p>
            <a:pPr>
              <a:defRPr sz="2850" b="1">
                <a:solidFill>
                  <a:srgbClr val="F3F1E9"/>
                </a:solidFill>
                <a:latin typeface="Avenir Next"/>
                <a:ea typeface="Avenir Next"/>
                <a:cs typeface="Avenir Next"/>
              </a:defRPr>
            </a:pPr>
            <a:r>
              <a:rPr sz="2850" b="1">
                <a:solidFill>
                  <a:srgbClr val="F3F1E9"/>
                </a:solidFill>
                <a:latin typeface="Avenir Next"/>
                <a:ea typeface="Avenir Next"/>
                <a:cs typeface="Avenir Next"/>
              </a:rPr>
              <a:t>Starting</a:t>
            </a:r>
          </a:p>
        </p:txBody>
      </p:sp>
      <p:sp>
        <p:nvSpPr>
          <p:cNvPr id="5" name="Turn a plain-language idea into something you can ">
            <a:extLst>
              <a:ext uri="{FF2B5EF4-FFF2-40B4-BE49-F238E27FC236}">
                <a16:creationId xmlns:a16="http://schemas.microsoft.com/office/drawing/2014/main" id="{8BEB8034-8ADB-4B88-B88C-A6E051E1FCAC}"/>
              </a:ext>
            </a:extLst>
          </p:cNvPr>
          <p:cNvSpPr>
            <a:spLocks noGrp="1"/>
          </p:cNvSpPr>
          <p:nvPr/>
        </p:nvSpPr>
        <p:spPr>
          <a:xfrm>
            <a:off x="609600" y="3790950"/>
            <a:ext cx="3321050" cy="165735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Turn a plain-language idea into something you can try.</a:t>
            </a:r>
          </a:p>
        </p:txBody>
      </p:sp>
      <p:sp>
        <p:nvSpPr>
          <p:cNvPr id="6" name="02">
            <a:extLst>
              <a:ext uri="{FF2B5EF4-FFF2-40B4-BE49-F238E27FC236}">
                <a16:creationId xmlns:a16="http://schemas.microsoft.com/office/drawing/2014/main" id="{3BAF5E75-76AC-43F7-B1F8-E9F58BE6E456}"/>
              </a:ext>
            </a:extLst>
          </p:cNvPr>
          <p:cNvSpPr>
            <a:spLocks noGrp="1"/>
          </p:cNvSpPr>
          <p:nvPr/>
        </p:nvSpPr>
        <p:spPr>
          <a:xfrm>
            <a:off x="4216400" y="2095500"/>
            <a:ext cx="3416300"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02</a:t>
            </a:r>
          </a:p>
        </p:txBody>
      </p:sp>
      <p:sp>
        <p:nvSpPr>
          <p:cNvPr id="7" name="Routine work">
            <a:extLst>
              <a:ext uri="{FF2B5EF4-FFF2-40B4-BE49-F238E27FC236}">
                <a16:creationId xmlns:a16="http://schemas.microsoft.com/office/drawing/2014/main" id="{452E5F95-BFB0-4A6E-B872-076B502F1249}"/>
              </a:ext>
            </a:extLst>
          </p:cNvPr>
          <p:cNvSpPr>
            <a:spLocks noGrp="1"/>
          </p:cNvSpPr>
          <p:nvPr/>
        </p:nvSpPr>
        <p:spPr>
          <a:xfrm>
            <a:off x="4216400" y="2571750"/>
            <a:ext cx="3321050" cy="1047750"/>
          </a:xfrm>
          <a:prstGeom prst="rect">
            <a:avLst/>
          </a:prstGeom>
          <a:noFill/>
          <a:ln w="0">
            <a:noFill/>
          </a:ln>
        </p:spPr>
        <p:txBody>
          <a:bodyPr wrap="square" lIns="0" tIns="0" rIns="0" bIns="0">
            <a:noAutofit/>
          </a:bodyPr>
          <a:lstStyle/>
          <a:p>
            <a:pPr>
              <a:defRPr sz="2850" b="1">
                <a:solidFill>
                  <a:srgbClr val="F3F1E9"/>
                </a:solidFill>
                <a:latin typeface="Avenir Next"/>
                <a:ea typeface="Avenir Next"/>
                <a:cs typeface="Avenir Next"/>
              </a:defRPr>
            </a:pPr>
            <a:r>
              <a:rPr sz="2850" b="1">
                <a:solidFill>
                  <a:srgbClr val="F3F1E9"/>
                </a:solidFill>
                <a:latin typeface="Avenir Next"/>
                <a:ea typeface="Avenir Next"/>
                <a:cs typeface="Avenir Next"/>
              </a:rPr>
              <a:t>Routine work</a:t>
            </a:r>
          </a:p>
        </p:txBody>
      </p:sp>
      <p:sp>
        <p:nvSpPr>
          <p:cNvPr id="8" name="Draft repeated code and spend time on the difficul">
            <a:extLst>
              <a:ext uri="{FF2B5EF4-FFF2-40B4-BE49-F238E27FC236}">
                <a16:creationId xmlns:a16="http://schemas.microsoft.com/office/drawing/2014/main" id="{12348B15-9C69-46F7-80A6-B3957C92615B}"/>
              </a:ext>
            </a:extLst>
          </p:cNvPr>
          <p:cNvSpPr>
            <a:spLocks noGrp="1"/>
          </p:cNvSpPr>
          <p:nvPr/>
        </p:nvSpPr>
        <p:spPr>
          <a:xfrm>
            <a:off x="4216400" y="3790950"/>
            <a:ext cx="3321050" cy="165735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Draft repeated code and spend time on the difficult decisions.</a:t>
            </a:r>
          </a:p>
        </p:txBody>
      </p:sp>
      <p:sp>
        <p:nvSpPr>
          <p:cNvPr id="9" name="03">
            <a:extLst>
              <a:ext uri="{FF2B5EF4-FFF2-40B4-BE49-F238E27FC236}">
                <a16:creationId xmlns:a16="http://schemas.microsoft.com/office/drawing/2014/main" id="{3E8A085F-CA96-4499-B0EA-B9B11A5340B2}"/>
              </a:ext>
            </a:extLst>
          </p:cNvPr>
          <p:cNvSpPr>
            <a:spLocks noGrp="1"/>
          </p:cNvSpPr>
          <p:nvPr/>
        </p:nvSpPr>
        <p:spPr>
          <a:xfrm>
            <a:off x="7823200" y="2095500"/>
            <a:ext cx="3416300"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03</a:t>
            </a:r>
          </a:p>
        </p:txBody>
      </p:sp>
      <p:sp>
        <p:nvSpPr>
          <p:cNvPr id="10" name="Exploration">
            <a:extLst>
              <a:ext uri="{FF2B5EF4-FFF2-40B4-BE49-F238E27FC236}">
                <a16:creationId xmlns:a16="http://schemas.microsoft.com/office/drawing/2014/main" id="{B3F1CE0E-C613-46C1-BB4C-F336CECCC5E3}"/>
              </a:ext>
            </a:extLst>
          </p:cNvPr>
          <p:cNvSpPr>
            <a:spLocks noGrp="1"/>
          </p:cNvSpPr>
          <p:nvPr/>
        </p:nvSpPr>
        <p:spPr>
          <a:xfrm>
            <a:off x="7823200" y="2571750"/>
            <a:ext cx="3321050" cy="1047750"/>
          </a:xfrm>
          <a:prstGeom prst="rect">
            <a:avLst/>
          </a:prstGeom>
          <a:noFill/>
          <a:ln w="0">
            <a:noFill/>
          </a:ln>
        </p:spPr>
        <p:txBody>
          <a:bodyPr wrap="square" lIns="0" tIns="0" rIns="0" bIns="0">
            <a:noAutofit/>
          </a:bodyPr>
          <a:lstStyle/>
          <a:p>
            <a:pPr>
              <a:defRPr sz="2850" b="1">
                <a:solidFill>
                  <a:srgbClr val="F3F1E9"/>
                </a:solidFill>
                <a:latin typeface="Avenir Next"/>
                <a:ea typeface="Avenir Next"/>
                <a:cs typeface="Avenir Next"/>
              </a:defRPr>
            </a:pPr>
            <a:r>
              <a:rPr sz="2850" b="1">
                <a:solidFill>
                  <a:srgbClr val="F3F1E9"/>
                </a:solidFill>
                <a:latin typeface="Avenir Next"/>
                <a:ea typeface="Avenir Next"/>
                <a:cs typeface="Avenir Next"/>
              </a:rPr>
              <a:t>Exploration</a:t>
            </a:r>
          </a:p>
        </p:txBody>
      </p:sp>
      <p:sp>
        <p:nvSpPr>
          <p:cNvPr id="11" name="Try alternate layouts or interactions before commi">
            <a:extLst>
              <a:ext uri="{FF2B5EF4-FFF2-40B4-BE49-F238E27FC236}">
                <a16:creationId xmlns:a16="http://schemas.microsoft.com/office/drawing/2014/main" id="{17F4DEDA-81E9-43A9-ADCB-1EB2188CD0A3}"/>
              </a:ext>
            </a:extLst>
          </p:cNvPr>
          <p:cNvSpPr>
            <a:spLocks noGrp="1"/>
          </p:cNvSpPr>
          <p:nvPr/>
        </p:nvSpPr>
        <p:spPr>
          <a:xfrm>
            <a:off x="7823200" y="3790950"/>
            <a:ext cx="3321050" cy="165735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Try alternate layouts or interactions before committing.</a:t>
            </a:r>
          </a:p>
        </p:txBody>
      </p:sp>
      <p:sp>
        <p:nvSpPr>
          <p:cNvPr id="12" name="The benefit depends on how well you can judge the ">
            <a:extLst>
              <a:ext uri="{FF2B5EF4-FFF2-40B4-BE49-F238E27FC236}">
                <a16:creationId xmlns:a16="http://schemas.microsoft.com/office/drawing/2014/main" id="{51721525-5EC9-4442-BE73-FF120E60F359}"/>
              </a:ext>
            </a:extLst>
          </p:cNvPr>
          <p:cNvSpPr>
            <a:spLocks noGrp="1"/>
          </p:cNvSpPr>
          <p:nvPr/>
        </p:nvSpPr>
        <p:spPr>
          <a:xfrm>
            <a:off x="609600" y="5629275"/>
            <a:ext cx="10858500" cy="523875"/>
          </a:xfrm>
          <a:prstGeom prst="rect">
            <a:avLst/>
          </a:prstGeom>
          <a:noFill/>
          <a:ln w="0">
            <a:noFill/>
          </a:ln>
        </p:spPr>
        <p:txBody>
          <a:bodyPr wrap="square" lIns="0" tIns="0" rIns="0" bIns="0">
            <a:noAutofit/>
          </a:bodyPr>
          <a:lstStyle/>
          <a:p>
            <a:pPr>
              <a:defRPr sz="2175" b="1">
                <a:solidFill>
                  <a:srgbClr val="D2F85A"/>
                </a:solidFill>
                <a:latin typeface="Avenir Next"/>
                <a:ea typeface="Avenir Next"/>
                <a:cs typeface="Avenir Next"/>
              </a:defRPr>
            </a:pPr>
            <a:r>
              <a:rPr sz="2175" b="1">
                <a:solidFill>
                  <a:srgbClr val="D2F85A"/>
                </a:solidFill>
                <a:latin typeface="Avenir Next"/>
                <a:ea typeface="Avenir Next"/>
                <a:cs typeface="Avenir Next"/>
              </a:rPr>
              <a:t>The benefit depends on how well you can judge the output.</a:t>
            </a:r>
          </a:p>
        </p:txBody>
      </p:sp>
    </p:spTree>
    <p:extLst>
      <p:ext uri="{BB962C8B-B14F-4D97-AF65-F5344CB8AC3E}">
        <p14:creationId xmlns:p14="http://schemas.microsoft.com/office/powerpoint/2010/main" val="650106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51716"/>
        </a:solidFill>
        <a:effectLst/>
      </p:bgPr>
    </p:bg>
    <p:spTree>
      <p:nvGrpSpPr>
        <p:cNvPr id="1" name=""/>
        <p:cNvGrpSpPr/>
        <p:nvPr/>
      </p:nvGrpSpPr>
      <p:grpSpPr>
        <a:xfrm>
          <a:off x="0" y="0"/>
          <a:ext cx="0" cy="0"/>
          <a:chOff x="0" y="0"/>
          <a:chExt cx="0" cy="0"/>
        </a:xfrm>
      </p:grpSpPr>
      <p:sp>
        <p:nvSpPr>
          <p:cNvPr id="6" name="17">
            <a:extLst>
              <a:ext uri="{FF2B5EF4-FFF2-40B4-BE49-F238E27FC236}">
                <a16:creationId xmlns:a16="http://schemas.microsoft.com/office/drawing/2014/main" id="{4D562665-0582-4F4F-A51F-49EA7AF4AFD7}"/>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A9B0A7"/>
                </a:solidFill>
                <a:latin typeface="JetBrains Mono"/>
                <a:ea typeface="JetBrains Mono"/>
                <a:cs typeface="JetBrains Mono"/>
              </a:defRPr>
            </a:pPr>
            <a:r>
              <a:rPr sz="1275" b="0">
                <a:solidFill>
                  <a:srgbClr val="A9B0A7"/>
                </a:solidFill>
                <a:latin typeface="JetBrains Mono"/>
                <a:ea typeface="JetBrains Mono"/>
                <a:cs typeface="JetBrains Mono"/>
              </a:rPr>
              <a:t>17</a:t>
            </a:r>
          </a:p>
        </p:txBody>
      </p:sp>
      <p:pic>
        <p:nvPicPr>
          <p:cNvPr id="7" name="Picture 6"/>
          <p:cNvPicPr>
            <a:picLocks noChangeAspect="1"/>
          </p:cNvPicPr>
          <p:nvPr/>
        </p:nvPicPr>
        <p:blipFill>
          <a:blip r:embed="rId3"/>
          <a:srcRect t="27" b="27"/>
          <a:stretch>
            <a:fillRect/>
          </a:stretch>
        </p:blipFill>
        <p:spPr>
          <a:xfrm>
            <a:off x="0" y="0"/>
            <a:ext cx="12192000" cy="6858000"/>
          </a:xfrm>
          <a:prstGeom prst="rect">
            <a:avLst/>
          </a:prstGeom>
        </p:spPr>
      </p:pic>
      <p:sp>
        <p:nvSpPr>
          <p:cNvPr id="3" name="THE ENGINEERING PART">
            <a:extLst>
              <a:ext uri="{FF2B5EF4-FFF2-40B4-BE49-F238E27FC236}">
                <a16:creationId xmlns:a16="http://schemas.microsoft.com/office/drawing/2014/main" id="{DF6B7EFA-259F-4092-97B9-903C3FE98139}"/>
              </a:ext>
            </a:extLst>
          </p:cNvPr>
          <p:cNvSpPr>
            <a:spLocks noGrp="1"/>
          </p:cNvSpPr>
          <p:nvPr/>
        </p:nvSpPr>
        <p:spPr>
          <a:xfrm>
            <a:off x="609600" y="571500"/>
            <a:ext cx="6762750"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THE ENGINEERING PART</a:t>
            </a:r>
          </a:p>
        </p:txBody>
      </p:sp>
      <p:sp>
        <p:nvSpPr>
          <p:cNvPr id="4" name="Vibe&#10;engineering">
            <a:extLst>
              <a:ext uri="{FF2B5EF4-FFF2-40B4-BE49-F238E27FC236}">
                <a16:creationId xmlns:a16="http://schemas.microsoft.com/office/drawing/2014/main" id="{F1F2D977-6CE3-47F2-897E-C871097089F7}"/>
              </a:ext>
            </a:extLst>
          </p:cNvPr>
          <p:cNvSpPr>
            <a:spLocks noGrp="1"/>
          </p:cNvSpPr>
          <p:nvPr/>
        </p:nvSpPr>
        <p:spPr>
          <a:xfrm>
            <a:off x="609600" y="1647825"/>
            <a:ext cx="8334375" cy="2266950"/>
          </a:xfrm>
          <a:prstGeom prst="rect">
            <a:avLst/>
          </a:prstGeom>
          <a:noFill/>
          <a:ln w="0">
            <a:noFill/>
          </a:ln>
        </p:spPr>
        <p:txBody>
          <a:bodyPr wrap="square" lIns="0" tIns="0" rIns="0" bIns="0">
            <a:noAutofit/>
          </a:bodyPr>
          <a:lstStyle/>
          <a:p>
            <a:pPr>
              <a:defRPr sz="6450" b="1">
                <a:solidFill>
                  <a:srgbClr val="F3F1E9"/>
                </a:solidFill>
                <a:latin typeface="Avenir Next"/>
                <a:ea typeface="Avenir Next"/>
                <a:cs typeface="Avenir Next"/>
              </a:defRPr>
            </a:pPr>
            <a:r>
              <a:rPr sz="6450" b="1">
                <a:solidFill>
                  <a:srgbClr val="F3F1E9"/>
                </a:solidFill>
                <a:latin typeface="Avenir Next"/>
                <a:ea typeface="Avenir Next"/>
                <a:cs typeface="Avenir Next"/>
              </a:rPr>
              <a:t>Vibe</a:t>
            </a:r>
          </a:p>
          <a:p>
            <a:pPr>
              <a:defRPr sz="6450" b="1">
                <a:solidFill>
                  <a:srgbClr val="F3F1E9"/>
                </a:solidFill>
                <a:latin typeface="Avenir Next"/>
                <a:ea typeface="Avenir Next"/>
                <a:cs typeface="Avenir Next"/>
              </a:defRPr>
            </a:pPr>
            <a:r>
              <a:rPr sz="6450" b="1">
                <a:solidFill>
                  <a:srgbClr val="F3F1E9"/>
                </a:solidFill>
                <a:latin typeface="Avenir Next"/>
                <a:ea typeface="Avenir Next"/>
                <a:cs typeface="Avenir Next"/>
              </a:rPr>
              <a:t>engineering</a:t>
            </a:r>
          </a:p>
        </p:txBody>
      </p:sp>
      <p:sp>
        <p:nvSpPr>
          <p:cNvPr id="5" name="AI-assisted delivery,&#10;with evidence and ownership.">
            <a:extLst>
              <a:ext uri="{FF2B5EF4-FFF2-40B4-BE49-F238E27FC236}">
                <a16:creationId xmlns:a16="http://schemas.microsoft.com/office/drawing/2014/main" id="{F9524493-A8D6-48FC-9349-E6C6E4F7D53B}"/>
              </a:ext>
            </a:extLst>
          </p:cNvPr>
          <p:cNvSpPr>
            <a:spLocks noGrp="1"/>
          </p:cNvSpPr>
          <p:nvPr/>
        </p:nvSpPr>
        <p:spPr>
          <a:xfrm>
            <a:off x="628650" y="4514850"/>
            <a:ext cx="7334250" cy="1200150"/>
          </a:xfrm>
          <a:prstGeom prst="rect">
            <a:avLst/>
          </a:prstGeom>
          <a:noFill/>
          <a:ln w="0">
            <a:noFill/>
          </a:ln>
        </p:spPr>
        <p:txBody>
          <a:bodyPr wrap="square" lIns="0" tIns="0" rIns="0" bIns="0">
            <a:noAutofit/>
          </a:bodyPr>
          <a:lstStyle/>
          <a:p>
            <a:pPr>
              <a:defRPr sz="2850" b="0">
                <a:solidFill>
                  <a:srgbClr val="D2F85A"/>
                </a:solidFill>
                <a:latin typeface="Avenir Next"/>
                <a:ea typeface="Avenir Next"/>
                <a:cs typeface="Avenir Next"/>
              </a:defRPr>
            </a:pPr>
            <a:r>
              <a:rPr sz="2850" b="0">
                <a:solidFill>
                  <a:srgbClr val="D2F85A"/>
                </a:solidFill>
                <a:latin typeface="Avenir Next"/>
                <a:ea typeface="Avenir Next"/>
                <a:cs typeface="Avenir Next"/>
              </a:rPr>
              <a:t>AI-assisted delivery,</a:t>
            </a:r>
          </a:p>
          <a:p>
            <a:pPr>
              <a:defRPr sz="2850" b="0">
                <a:solidFill>
                  <a:srgbClr val="D2F85A"/>
                </a:solidFill>
                <a:latin typeface="Avenir Next"/>
                <a:ea typeface="Avenir Next"/>
                <a:cs typeface="Avenir Next"/>
              </a:defRPr>
            </a:pPr>
            <a:r>
              <a:rPr sz="2850" b="0">
                <a:solidFill>
                  <a:srgbClr val="D2F85A"/>
                </a:solidFill>
                <a:latin typeface="Avenir Next"/>
                <a:ea typeface="Avenir Next"/>
                <a:cs typeface="Avenir Next"/>
              </a:rPr>
              <a:t>with evidence and ownership.</a:t>
            </a:r>
          </a:p>
        </p:txBody>
      </p:sp>
    </p:spTree>
    <p:extLst>
      <p:ext uri="{BB962C8B-B14F-4D97-AF65-F5344CB8AC3E}">
        <p14:creationId xmlns:p14="http://schemas.microsoft.com/office/powerpoint/2010/main" val="1877663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1E9"/>
        </a:solidFill>
        <a:effectLst/>
      </p:bgPr>
    </p:bg>
    <p:spTree>
      <p:nvGrpSpPr>
        <p:cNvPr id="1" name=""/>
        <p:cNvGrpSpPr/>
        <p:nvPr/>
      </p:nvGrpSpPr>
      <p:grpSpPr>
        <a:xfrm>
          <a:off x="0" y="0"/>
          <a:ext cx="0" cy="0"/>
          <a:chOff x="0" y="0"/>
          <a:chExt cx="0" cy="0"/>
        </a:xfrm>
      </p:grpSpPr>
      <p:sp>
        <p:nvSpPr>
          <p:cNvPr id="4" name="18">
            <a:extLst>
              <a:ext uri="{FF2B5EF4-FFF2-40B4-BE49-F238E27FC236}">
                <a16:creationId xmlns:a16="http://schemas.microsoft.com/office/drawing/2014/main" id="{2D40BAA3-411C-4E9B-BF20-BD65B77AEE9B}"/>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576152"/>
                </a:solidFill>
                <a:latin typeface="JetBrains Mono"/>
                <a:ea typeface="JetBrains Mono"/>
                <a:cs typeface="JetBrains Mono"/>
              </a:defRPr>
            </a:pPr>
            <a:r>
              <a:rPr sz="1275" b="0">
                <a:solidFill>
                  <a:srgbClr val="576152"/>
                </a:solidFill>
                <a:latin typeface="JetBrains Mono"/>
                <a:ea typeface="JetBrains Mono"/>
                <a:cs typeface="JetBrains Mono"/>
              </a:rPr>
              <a:t>18</a:t>
            </a:r>
          </a:p>
        </p:txBody>
      </p:sp>
      <p:sp>
        <p:nvSpPr>
          <p:cNvPr id="2" name="Exploration and accountable delivery">
            <a:extLst>
              <a:ext uri="{FF2B5EF4-FFF2-40B4-BE49-F238E27FC236}">
                <a16:creationId xmlns:a16="http://schemas.microsoft.com/office/drawing/2014/main" id="{38147377-727C-4120-849E-72A843F9A4E6}"/>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19211B"/>
                </a:solidFill>
                <a:latin typeface="Avenir Next"/>
                <a:ea typeface="Avenir Next"/>
                <a:cs typeface="Avenir Next"/>
              </a:defRPr>
            </a:pPr>
            <a:r>
              <a:rPr sz="4050" b="1">
                <a:solidFill>
                  <a:srgbClr val="19211B"/>
                </a:solidFill>
                <a:latin typeface="Avenir Next"/>
                <a:ea typeface="Avenir Next"/>
                <a:cs typeface="Avenir Next"/>
              </a:rPr>
              <a:t>Exploration and accountable delivery</a:t>
            </a:r>
          </a:p>
        </p:txBody>
      </p:sp>
      <p:graphicFrame>
        <p:nvGraphicFramePr>
          <p:cNvPr id="6" name="Table 5"/>
          <p:cNvGraphicFramePr/>
          <p:nvPr/>
        </p:nvGraphicFramePr>
        <p:xfrm>
          <a:off x="609600" y="1838325"/>
          <a:ext cx="10972800" cy="3914778"/>
        </p:xfrm>
        <a:graphic>
          <a:graphicData uri="http://schemas.openxmlformats.org/drawingml/2006/table">
            <a:tbl>
              <a:tblPr/>
              <a:tblGrid>
                <a:gridCol w="2114550">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714875">
                  <a:extLst>
                    <a:ext uri="{9D8B030D-6E8A-4147-A177-3AD203B41FA5}">
                      <a16:colId xmlns:a16="http://schemas.microsoft.com/office/drawing/2014/main" val="20002"/>
                    </a:ext>
                  </a:extLst>
                </a:gridCol>
              </a:tblGrid>
              <a:tr h="652463">
                <a:tc>
                  <a:txBody>
                    <a:bodyPr/>
                    <a:lstStyle/>
                    <a:p>
                      <a:r>
                        <a:rPr sz="1875" b="1">
                          <a:solidFill>
                            <a:srgbClr val="F3F1E9"/>
                          </a:solidFill>
                          <a:latin typeface="Avenir Next"/>
                          <a:ea typeface="Avenir Next"/>
                          <a:cs typeface="Avenir Next"/>
                        </a:rPr>
                        <a:t>Dimension</a:t>
                      </a:r>
                    </a:p>
                  </a:txBody>
                  <a:tcPr>
                    <a:solidFill>
                      <a:srgbClr val="19211B"/>
                    </a:solidFill>
                  </a:tcPr>
                </a:tc>
                <a:tc>
                  <a:txBody>
                    <a:bodyPr/>
                    <a:lstStyle/>
                    <a:p>
                      <a:r>
                        <a:rPr sz="1875" b="1">
                          <a:solidFill>
                            <a:srgbClr val="F3F1E9"/>
                          </a:solidFill>
                          <a:latin typeface="Avenir Next"/>
                          <a:ea typeface="Avenir Next"/>
                          <a:cs typeface="Avenir Next"/>
                        </a:rPr>
                        <a:t>Vibe coding</a:t>
                      </a:r>
                    </a:p>
                  </a:txBody>
                  <a:tcPr>
                    <a:solidFill>
                      <a:srgbClr val="19211B"/>
                    </a:solidFill>
                  </a:tcPr>
                </a:tc>
                <a:tc>
                  <a:txBody>
                    <a:bodyPr/>
                    <a:lstStyle/>
                    <a:p>
                      <a:r>
                        <a:rPr sz="1875" b="1">
                          <a:solidFill>
                            <a:srgbClr val="F3F1E9"/>
                          </a:solidFill>
                          <a:latin typeface="Avenir Next"/>
                          <a:ea typeface="Avenir Next"/>
                          <a:cs typeface="Avenir Next"/>
                        </a:rPr>
                        <a:t>Vibe engineering</a:t>
                      </a:r>
                    </a:p>
                  </a:txBody>
                  <a:tcPr>
                    <a:solidFill>
                      <a:srgbClr val="19211B"/>
                    </a:solidFill>
                  </a:tcPr>
                </a:tc>
                <a:extLst>
                  <a:ext uri="{0D108BD9-81ED-4DB2-BD59-A6C34878D82A}">
                    <a16:rowId xmlns:a16="http://schemas.microsoft.com/office/drawing/2014/main" val="10000"/>
                  </a:ext>
                </a:extLst>
              </a:tr>
              <a:tr h="652463">
                <a:tc>
                  <a:txBody>
                    <a:bodyPr/>
                    <a:lstStyle/>
                    <a:p>
                      <a:r>
                        <a:rPr sz="1875" b="1">
                          <a:solidFill>
                            <a:srgbClr val="19211B"/>
                          </a:solidFill>
                          <a:latin typeface="Avenir Next"/>
                          <a:ea typeface="Avenir Next"/>
                          <a:cs typeface="Avenir Next"/>
                        </a:rPr>
                        <a:t>Focus</a:t>
                      </a:r>
                    </a:p>
                  </a:txBody>
                  <a:tcPr>
                    <a:solidFill>
                      <a:srgbClr val="E5E7DC"/>
                    </a:solidFill>
                  </a:tcPr>
                </a:tc>
                <a:tc>
                  <a:txBody>
                    <a:bodyPr/>
                    <a:lstStyle/>
                    <a:p>
                      <a:r>
                        <a:rPr sz="1875" b="0">
                          <a:solidFill>
                            <a:srgbClr val="19211B"/>
                          </a:solidFill>
                          <a:latin typeface="Avenir Next"/>
                          <a:ea typeface="Avenir Next"/>
                          <a:cs typeface="Avenir Next"/>
                        </a:rPr>
                        <a:t>Explore a working idea</a:t>
                      </a:r>
                    </a:p>
                  </a:txBody>
                  <a:tcPr>
                    <a:solidFill>
                      <a:srgbClr val="E5E7DC"/>
                    </a:solidFill>
                  </a:tcPr>
                </a:tc>
                <a:tc>
                  <a:txBody>
                    <a:bodyPr/>
                    <a:lstStyle/>
                    <a:p>
                      <a:r>
                        <a:rPr sz="1875" b="0">
                          <a:solidFill>
                            <a:srgbClr val="19211B"/>
                          </a:solidFill>
                          <a:latin typeface="Avenir Next"/>
                          <a:ea typeface="Avenir Next"/>
                          <a:cs typeface="Avenir Next"/>
                        </a:rPr>
                        <a:t>Deliver maintainable software</a:t>
                      </a:r>
                    </a:p>
                  </a:txBody>
                  <a:tcPr>
                    <a:solidFill>
                      <a:srgbClr val="E5E7DC"/>
                    </a:solidFill>
                  </a:tcPr>
                </a:tc>
                <a:extLst>
                  <a:ext uri="{0D108BD9-81ED-4DB2-BD59-A6C34878D82A}">
                    <a16:rowId xmlns:a16="http://schemas.microsoft.com/office/drawing/2014/main" val="10001"/>
                  </a:ext>
                </a:extLst>
              </a:tr>
              <a:tr h="652463">
                <a:tc>
                  <a:txBody>
                    <a:bodyPr/>
                    <a:lstStyle/>
                    <a:p>
                      <a:r>
                        <a:rPr sz="1875" b="1">
                          <a:solidFill>
                            <a:srgbClr val="19211B"/>
                          </a:solidFill>
                          <a:latin typeface="Avenir Next"/>
                          <a:ea typeface="Avenir Next"/>
                          <a:cs typeface="Avenir Next"/>
                        </a:rPr>
                        <a:t>AI’s role</a:t>
                      </a:r>
                    </a:p>
                  </a:txBody>
                  <a:tcPr>
                    <a:solidFill>
                      <a:srgbClr val="F3F1E9"/>
                    </a:solidFill>
                  </a:tcPr>
                </a:tc>
                <a:tc>
                  <a:txBody>
                    <a:bodyPr/>
                    <a:lstStyle/>
                    <a:p>
                      <a:r>
                        <a:rPr sz="1875" b="0">
                          <a:solidFill>
                            <a:srgbClr val="19211B"/>
                          </a:solidFill>
                          <a:latin typeface="Avenir Next"/>
                          <a:ea typeface="Avenir Next"/>
                          <a:cs typeface="Avenir Next"/>
                        </a:rPr>
                        <a:t>Generate a draft</a:t>
                      </a:r>
                    </a:p>
                  </a:txBody>
                  <a:tcPr>
                    <a:solidFill>
                      <a:srgbClr val="F3F1E9"/>
                    </a:solidFill>
                  </a:tcPr>
                </a:tc>
                <a:tc>
                  <a:txBody>
                    <a:bodyPr/>
                    <a:lstStyle/>
                    <a:p>
                      <a:r>
                        <a:rPr sz="1875" b="0">
                          <a:solidFill>
                            <a:srgbClr val="19211B"/>
                          </a:solidFill>
                          <a:latin typeface="Avenir Next"/>
                          <a:ea typeface="Avenir Next"/>
                          <a:cs typeface="Avenir Next"/>
                        </a:rPr>
                        <a:t>Work within a defined task</a:t>
                      </a:r>
                    </a:p>
                  </a:txBody>
                  <a:tcPr>
                    <a:solidFill>
                      <a:srgbClr val="F3F1E9"/>
                    </a:solidFill>
                  </a:tcPr>
                </a:tc>
                <a:extLst>
                  <a:ext uri="{0D108BD9-81ED-4DB2-BD59-A6C34878D82A}">
                    <a16:rowId xmlns:a16="http://schemas.microsoft.com/office/drawing/2014/main" val="10002"/>
                  </a:ext>
                </a:extLst>
              </a:tr>
              <a:tr h="652463">
                <a:tc>
                  <a:txBody>
                    <a:bodyPr/>
                    <a:lstStyle/>
                    <a:p>
                      <a:r>
                        <a:rPr sz="1875" b="1">
                          <a:solidFill>
                            <a:srgbClr val="19211B"/>
                          </a:solidFill>
                          <a:latin typeface="Avenir Next"/>
                          <a:ea typeface="Avenir Next"/>
                          <a:cs typeface="Avenir Next"/>
                        </a:rPr>
                        <a:t>Workflow</a:t>
                      </a:r>
                    </a:p>
                  </a:txBody>
                  <a:tcPr>
                    <a:solidFill>
                      <a:srgbClr val="E5E7DC"/>
                    </a:solidFill>
                  </a:tcPr>
                </a:tc>
                <a:tc>
                  <a:txBody>
                    <a:bodyPr/>
                    <a:lstStyle/>
                    <a:p>
                      <a:r>
                        <a:rPr sz="1875" b="0">
                          <a:solidFill>
                            <a:srgbClr val="19211B"/>
                          </a:solidFill>
                          <a:latin typeface="Avenir Next"/>
                          <a:ea typeface="Avenir Next"/>
                          <a:cs typeface="Avenir Next"/>
                        </a:rPr>
                        <a:t>Prompt and refine</a:t>
                      </a:r>
                    </a:p>
                  </a:txBody>
                  <a:tcPr>
                    <a:solidFill>
                      <a:srgbClr val="E5E7DC"/>
                    </a:solidFill>
                  </a:tcPr>
                </a:tc>
                <a:tc>
                  <a:txBody>
                    <a:bodyPr/>
                    <a:lstStyle/>
                    <a:p>
                      <a:r>
                        <a:rPr sz="1875" b="0">
                          <a:solidFill>
                            <a:srgbClr val="19211B"/>
                          </a:solidFill>
                          <a:latin typeface="Avenir Next"/>
                          <a:ea typeface="Avenir Next"/>
                          <a:cs typeface="Avenir Next"/>
                        </a:rPr>
                        <a:t>Specify, build, review, verify</a:t>
                      </a:r>
                    </a:p>
                  </a:txBody>
                  <a:tcPr>
                    <a:solidFill>
                      <a:srgbClr val="E5E7DC"/>
                    </a:solidFill>
                  </a:tcPr>
                </a:tc>
                <a:extLst>
                  <a:ext uri="{0D108BD9-81ED-4DB2-BD59-A6C34878D82A}">
                    <a16:rowId xmlns:a16="http://schemas.microsoft.com/office/drawing/2014/main" val="10003"/>
                  </a:ext>
                </a:extLst>
              </a:tr>
              <a:tr h="652463">
                <a:tc>
                  <a:txBody>
                    <a:bodyPr/>
                    <a:lstStyle/>
                    <a:p>
                      <a:r>
                        <a:rPr sz="1875" b="1">
                          <a:solidFill>
                            <a:srgbClr val="19211B"/>
                          </a:solidFill>
                          <a:latin typeface="Avenir Next"/>
                          <a:ea typeface="Avenir Next"/>
                          <a:cs typeface="Avenir Next"/>
                        </a:rPr>
                        <a:t>Quality</a:t>
                      </a:r>
                    </a:p>
                  </a:txBody>
                  <a:tcPr>
                    <a:solidFill>
                      <a:srgbClr val="F3F1E9"/>
                    </a:solidFill>
                  </a:tcPr>
                </a:tc>
                <a:tc>
                  <a:txBody>
                    <a:bodyPr/>
                    <a:lstStyle/>
                    <a:p>
                      <a:r>
                        <a:rPr sz="1875" b="0">
                          <a:solidFill>
                            <a:srgbClr val="19211B"/>
                          </a:solidFill>
                          <a:latin typeface="Avenir Next"/>
                          <a:ea typeface="Avenir Next"/>
                          <a:cs typeface="Avenir Next"/>
                        </a:rPr>
                        <a:t>Looks right when tried</a:t>
                      </a:r>
                    </a:p>
                  </a:txBody>
                  <a:tcPr>
                    <a:solidFill>
                      <a:srgbClr val="F3F1E9"/>
                    </a:solidFill>
                  </a:tcPr>
                </a:tc>
                <a:tc>
                  <a:txBody>
                    <a:bodyPr/>
                    <a:lstStyle/>
                    <a:p>
                      <a:r>
                        <a:rPr sz="1875" b="0">
                          <a:solidFill>
                            <a:srgbClr val="19211B"/>
                          </a:solidFill>
                          <a:latin typeface="Avenir Next"/>
                          <a:ea typeface="Avenir Next"/>
                          <a:cs typeface="Avenir Next"/>
                        </a:rPr>
                        <a:t>Checks show required behaviour</a:t>
                      </a:r>
                    </a:p>
                  </a:txBody>
                  <a:tcPr>
                    <a:solidFill>
                      <a:srgbClr val="F3F1E9"/>
                    </a:solidFill>
                  </a:tcPr>
                </a:tc>
                <a:extLst>
                  <a:ext uri="{0D108BD9-81ED-4DB2-BD59-A6C34878D82A}">
                    <a16:rowId xmlns:a16="http://schemas.microsoft.com/office/drawing/2014/main" val="10004"/>
                  </a:ext>
                </a:extLst>
              </a:tr>
              <a:tr h="652463">
                <a:tc>
                  <a:txBody>
                    <a:bodyPr/>
                    <a:lstStyle/>
                    <a:p>
                      <a:r>
                        <a:rPr sz="1875" b="1">
                          <a:solidFill>
                            <a:srgbClr val="19211B"/>
                          </a:solidFill>
                          <a:latin typeface="Avenir Next"/>
                          <a:ea typeface="Avenir Next"/>
                          <a:cs typeface="Avenir Next"/>
                        </a:rPr>
                        <a:t>Context</a:t>
                      </a:r>
                    </a:p>
                  </a:txBody>
                  <a:tcPr>
                    <a:solidFill>
                      <a:srgbClr val="E5E7DC"/>
                    </a:solidFill>
                  </a:tcPr>
                </a:tc>
                <a:tc>
                  <a:txBody>
                    <a:bodyPr/>
                    <a:lstStyle/>
                    <a:p>
                      <a:r>
                        <a:rPr sz="1875" b="0">
                          <a:solidFill>
                            <a:srgbClr val="19211B"/>
                          </a:solidFill>
                          <a:latin typeface="Avenir Next"/>
                          <a:ea typeface="Avenir Next"/>
                          <a:cs typeface="Avenir Next"/>
                        </a:rPr>
                        <a:t>Mostly in the conversation</a:t>
                      </a:r>
                    </a:p>
                  </a:txBody>
                  <a:tcPr>
                    <a:solidFill>
                      <a:srgbClr val="E5E7DC"/>
                    </a:solidFill>
                  </a:tcPr>
                </a:tc>
                <a:tc>
                  <a:txBody>
                    <a:bodyPr/>
                    <a:lstStyle/>
                    <a:p>
                      <a:r>
                        <a:rPr sz="1875" b="0">
                          <a:solidFill>
                            <a:srgbClr val="19211B"/>
                          </a:solidFill>
                          <a:latin typeface="Avenir Next"/>
                          <a:ea typeface="Avenir Next"/>
                          <a:cs typeface="Avenir Next"/>
                        </a:rPr>
                        <a:t>Decisions stay with the project</a:t>
                      </a:r>
                    </a:p>
                  </a:txBody>
                  <a:tcPr>
                    <a:solidFill>
                      <a:srgbClr val="E5E7DC"/>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35830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51716"/>
        </a:solidFill>
        <a:effectLst/>
      </p:bgPr>
    </p:bg>
    <p:spTree>
      <p:nvGrpSpPr>
        <p:cNvPr id="1" name=""/>
        <p:cNvGrpSpPr/>
        <p:nvPr/>
      </p:nvGrpSpPr>
      <p:grpSpPr>
        <a:xfrm>
          <a:off x="0" y="0"/>
          <a:ext cx="0" cy="0"/>
          <a:chOff x="0" y="0"/>
          <a:chExt cx="0" cy="0"/>
        </a:xfrm>
      </p:grpSpPr>
      <p:sp>
        <p:nvSpPr>
          <p:cNvPr id="18" name="19">
            <a:extLst>
              <a:ext uri="{FF2B5EF4-FFF2-40B4-BE49-F238E27FC236}">
                <a16:creationId xmlns:a16="http://schemas.microsoft.com/office/drawing/2014/main" id="{174DC2DA-CFCF-4A03-A152-A3441FB03544}"/>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A9B0A7"/>
                </a:solidFill>
                <a:latin typeface="JetBrains Mono"/>
                <a:ea typeface="JetBrains Mono"/>
                <a:cs typeface="JetBrains Mono"/>
              </a:defRPr>
            </a:pPr>
            <a:r>
              <a:rPr sz="1275" b="0">
                <a:solidFill>
                  <a:srgbClr val="A9B0A7"/>
                </a:solidFill>
                <a:latin typeface="JetBrains Mono"/>
                <a:ea typeface="JetBrains Mono"/>
                <a:cs typeface="JetBrains Mono"/>
              </a:rPr>
              <a:t>19</a:t>
            </a:r>
          </a:p>
        </p:txBody>
      </p:sp>
      <p:sp>
        <p:nvSpPr>
          <p:cNvPr id="2" name="Core engineering principles">
            <a:extLst>
              <a:ext uri="{FF2B5EF4-FFF2-40B4-BE49-F238E27FC236}">
                <a16:creationId xmlns:a16="http://schemas.microsoft.com/office/drawing/2014/main" id="{48D216AF-1906-4C39-A534-0C7360DD8D7E}"/>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F3F1E9"/>
                </a:solidFill>
                <a:latin typeface="Avenir Next"/>
                <a:ea typeface="Avenir Next"/>
                <a:cs typeface="Avenir Next"/>
              </a:defRPr>
            </a:pPr>
            <a:r>
              <a:rPr sz="4050" b="1">
                <a:solidFill>
                  <a:srgbClr val="F3F1E9"/>
                </a:solidFill>
                <a:latin typeface="Avenir Next"/>
                <a:ea typeface="Avenir Next"/>
                <a:cs typeface="Avenir Next"/>
              </a:rPr>
              <a:t>Core engineering principles</a:t>
            </a:r>
          </a:p>
        </p:txBody>
      </p:sp>
      <p:sp>
        <p:nvSpPr>
          <p:cNvPr id="3" name="01">
            <a:extLst>
              <a:ext uri="{FF2B5EF4-FFF2-40B4-BE49-F238E27FC236}">
                <a16:creationId xmlns:a16="http://schemas.microsoft.com/office/drawing/2014/main" id="{BCCC523D-88B2-4E54-836D-3FB93BBDE596}"/>
              </a:ext>
            </a:extLst>
          </p:cNvPr>
          <p:cNvSpPr>
            <a:spLocks noGrp="1"/>
          </p:cNvSpPr>
          <p:nvPr/>
        </p:nvSpPr>
        <p:spPr>
          <a:xfrm>
            <a:off x="609600" y="1895475"/>
            <a:ext cx="619125"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01</a:t>
            </a:r>
          </a:p>
        </p:txBody>
      </p:sp>
      <p:sp>
        <p:nvSpPr>
          <p:cNvPr id="4" name="Defined responsibilities">
            <a:extLst>
              <a:ext uri="{FF2B5EF4-FFF2-40B4-BE49-F238E27FC236}">
                <a16:creationId xmlns:a16="http://schemas.microsoft.com/office/drawing/2014/main" id="{C58FF309-7BC2-40B4-83C0-A7A209995343}"/>
              </a:ext>
            </a:extLst>
          </p:cNvPr>
          <p:cNvSpPr>
            <a:spLocks noGrp="1"/>
          </p:cNvSpPr>
          <p:nvPr/>
        </p:nvSpPr>
        <p:spPr>
          <a:xfrm>
            <a:off x="1409700" y="1828800"/>
            <a:ext cx="3667125" cy="590550"/>
          </a:xfrm>
          <a:prstGeom prst="rect">
            <a:avLst/>
          </a:prstGeom>
          <a:noFill/>
          <a:ln w="0">
            <a:noFill/>
          </a:ln>
        </p:spPr>
        <p:txBody>
          <a:bodyPr wrap="square" lIns="0" tIns="0" rIns="0" bIns="0">
            <a:noAutofit/>
          </a:bodyPr>
          <a:lstStyle/>
          <a:p>
            <a:pPr>
              <a:defRPr sz="2400" b="1">
                <a:solidFill>
                  <a:srgbClr val="F3F1E9"/>
                </a:solidFill>
                <a:latin typeface="Avenir Next"/>
                <a:ea typeface="Avenir Next"/>
                <a:cs typeface="Avenir Next"/>
              </a:defRPr>
            </a:pPr>
            <a:r>
              <a:rPr sz="2400" b="1">
                <a:solidFill>
                  <a:srgbClr val="F3F1E9"/>
                </a:solidFill>
                <a:latin typeface="Avenir Next"/>
                <a:ea typeface="Avenir Next"/>
                <a:cs typeface="Avenir Next"/>
              </a:rPr>
              <a:t>Defined responsibilities</a:t>
            </a:r>
          </a:p>
        </p:txBody>
      </p:sp>
      <p:sp>
        <p:nvSpPr>
          <p:cNvPr id="5" name="Give the agent a bounded task and relevant context">
            <a:extLst>
              <a:ext uri="{FF2B5EF4-FFF2-40B4-BE49-F238E27FC236}">
                <a16:creationId xmlns:a16="http://schemas.microsoft.com/office/drawing/2014/main" id="{F99D71D7-6FE1-4451-8170-CE9857F9180A}"/>
              </a:ext>
            </a:extLst>
          </p:cNvPr>
          <p:cNvSpPr>
            <a:spLocks noGrp="1"/>
          </p:cNvSpPr>
          <p:nvPr/>
        </p:nvSpPr>
        <p:spPr>
          <a:xfrm>
            <a:off x="5457825" y="1866900"/>
            <a:ext cx="5905500" cy="76200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Give the agent a bounded task and relevant context.</a:t>
            </a:r>
          </a:p>
        </p:txBody>
      </p:sp>
      <p:sp>
        <p:nvSpPr>
          <p:cNvPr id="6" name="02">
            <a:extLst>
              <a:ext uri="{FF2B5EF4-FFF2-40B4-BE49-F238E27FC236}">
                <a16:creationId xmlns:a16="http://schemas.microsoft.com/office/drawing/2014/main" id="{3697511F-4353-471C-8DA1-D8CE0F63B972}"/>
              </a:ext>
            </a:extLst>
          </p:cNvPr>
          <p:cNvSpPr>
            <a:spLocks noGrp="1"/>
          </p:cNvSpPr>
          <p:nvPr/>
        </p:nvSpPr>
        <p:spPr>
          <a:xfrm>
            <a:off x="609600" y="2733675"/>
            <a:ext cx="619125"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02</a:t>
            </a:r>
          </a:p>
        </p:txBody>
      </p:sp>
      <p:sp>
        <p:nvSpPr>
          <p:cNvPr id="7" name="Verification">
            <a:extLst>
              <a:ext uri="{FF2B5EF4-FFF2-40B4-BE49-F238E27FC236}">
                <a16:creationId xmlns:a16="http://schemas.microsoft.com/office/drawing/2014/main" id="{514AF8F1-A341-41A2-8503-B924A1B14EC4}"/>
              </a:ext>
            </a:extLst>
          </p:cNvPr>
          <p:cNvSpPr>
            <a:spLocks noGrp="1"/>
          </p:cNvSpPr>
          <p:nvPr/>
        </p:nvSpPr>
        <p:spPr>
          <a:xfrm>
            <a:off x="1409700" y="2667000"/>
            <a:ext cx="3667125" cy="590550"/>
          </a:xfrm>
          <a:prstGeom prst="rect">
            <a:avLst/>
          </a:prstGeom>
          <a:noFill/>
          <a:ln w="0">
            <a:noFill/>
          </a:ln>
        </p:spPr>
        <p:txBody>
          <a:bodyPr wrap="square" lIns="0" tIns="0" rIns="0" bIns="0">
            <a:noAutofit/>
          </a:bodyPr>
          <a:lstStyle/>
          <a:p>
            <a:pPr>
              <a:defRPr sz="2400" b="1">
                <a:solidFill>
                  <a:srgbClr val="F3F1E9"/>
                </a:solidFill>
                <a:latin typeface="Avenir Next"/>
                <a:ea typeface="Avenir Next"/>
                <a:cs typeface="Avenir Next"/>
              </a:defRPr>
            </a:pPr>
            <a:r>
              <a:rPr sz="2400" b="1">
                <a:solidFill>
                  <a:srgbClr val="F3F1E9"/>
                </a:solidFill>
                <a:latin typeface="Avenir Next"/>
                <a:ea typeface="Avenir Next"/>
                <a:cs typeface="Avenir Next"/>
              </a:rPr>
              <a:t>Verification</a:t>
            </a:r>
          </a:p>
        </p:txBody>
      </p:sp>
      <p:sp>
        <p:nvSpPr>
          <p:cNvPr id="8" name="Check outcomes with tests and a real preview.">
            <a:extLst>
              <a:ext uri="{FF2B5EF4-FFF2-40B4-BE49-F238E27FC236}">
                <a16:creationId xmlns:a16="http://schemas.microsoft.com/office/drawing/2014/main" id="{3F103365-9F16-451E-BC8F-751E2288D0F0}"/>
              </a:ext>
            </a:extLst>
          </p:cNvPr>
          <p:cNvSpPr>
            <a:spLocks noGrp="1"/>
          </p:cNvSpPr>
          <p:nvPr/>
        </p:nvSpPr>
        <p:spPr>
          <a:xfrm>
            <a:off x="5457825" y="2705100"/>
            <a:ext cx="5905500" cy="76200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Check outcomes with tests and a real preview.</a:t>
            </a:r>
          </a:p>
        </p:txBody>
      </p:sp>
      <p:sp>
        <p:nvSpPr>
          <p:cNvPr id="9" name="03">
            <a:extLst>
              <a:ext uri="{FF2B5EF4-FFF2-40B4-BE49-F238E27FC236}">
                <a16:creationId xmlns:a16="http://schemas.microsoft.com/office/drawing/2014/main" id="{AD4B78EB-8C70-426E-8DA9-71974F526AAA}"/>
              </a:ext>
            </a:extLst>
          </p:cNvPr>
          <p:cNvSpPr>
            <a:spLocks noGrp="1"/>
          </p:cNvSpPr>
          <p:nvPr/>
        </p:nvSpPr>
        <p:spPr>
          <a:xfrm>
            <a:off x="609600" y="3571875"/>
            <a:ext cx="619125"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03</a:t>
            </a:r>
          </a:p>
        </p:txBody>
      </p:sp>
      <p:sp>
        <p:nvSpPr>
          <p:cNvPr id="10" name="Repeatable workflow">
            <a:extLst>
              <a:ext uri="{FF2B5EF4-FFF2-40B4-BE49-F238E27FC236}">
                <a16:creationId xmlns:a16="http://schemas.microsoft.com/office/drawing/2014/main" id="{F529732E-1B1D-4389-9A21-B07115C3246C}"/>
              </a:ext>
            </a:extLst>
          </p:cNvPr>
          <p:cNvSpPr>
            <a:spLocks noGrp="1"/>
          </p:cNvSpPr>
          <p:nvPr/>
        </p:nvSpPr>
        <p:spPr>
          <a:xfrm>
            <a:off x="1409700" y="3505200"/>
            <a:ext cx="3667125" cy="590550"/>
          </a:xfrm>
          <a:prstGeom prst="rect">
            <a:avLst/>
          </a:prstGeom>
          <a:noFill/>
          <a:ln w="0">
            <a:noFill/>
          </a:ln>
        </p:spPr>
        <p:txBody>
          <a:bodyPr wrap="square" lIns="0" tIns="0" rIns="0" bIns="0">
            <a:noAutofit/>
          </a:bodyPr>
          <a:lstStyle/>
          <a:p>
            <a:pPr>
              <a:defRPr sz="2400" b="1">
                <a:solidFill>
                  <a:srgbClr val="F3F1E9"/>
                </a:solidFill>
                <a:latin typeface="Avenir Next"/>
                <a:ea typeface="Avenir Next"/>
                <a:cs typeface="Avenir Next"/>
              </a:defRPr>
            </a:pPr>
            <a:r>
              <a:rPr sz="2400" b="1">
                <a:solidFill>
                  <a:srgbClr val="F3F1E9"/>
                </a:solidFill>
                <a:latin typeface="Avenir Next"/>
                <a:ea typeface="Avenir Next"/>
                <a:cs typeface="Avenir Next"/>
              </a:rPr>
              <a:t>Repeatable workflow</a:t>
            </a:r>
          </a:p>
        </p:txBody>
      </p:sp>
      <p:sp>
        <p:nvSpPr>
          <p:cNvPr id="11" name="Use a consistent path from brief to review.">
            <a:extLst>
              <a:ext uri="{FF2B5EF4-FFF2-40B4-BE49-F238E27FC236}">
                <a16:creationId xmlns:a16="http://schemas.microsoft.com/office/drawing/2014/main" id="{D4696DFD-FF9A-44A7-A137-7749671E9940}"/>
              </a:ext>
            </a:extLst>
          </p:cNvPr>
          <p:cNvSpPr>
            <a:spLocks noGrp="1"/>
          </p:cNvSpPr>
          <p:nvPr/>
        </p:nvSpPr>
        <p:spPr>
          <a:xfrm>
            <a:off x="5457825" y="3543300"/>
            <a:ext cx="5905500" cy="76200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Use a consistent path from brief to review.</a:t>
            </a:r>
          </a:p>
        </p:txBody>
      </p:sp>
      <p:sp>
        <p:nvSpPr>
          <p:cNvPr id="12" name="04">
            <a:extLst>
              <a:ext uri="{FF2B5EF4-FFF2-40B4-BE49-F238E27FC236}">
                <a16:creationId xmlns:a16="http://schemas.microsoft.com/office/drawing/2014/main" id="{618E05CF-39FE-428B-B4F8-476BA61B168F}"/>
              </a:ext>
            </a:extLst>
          </p:cNvPr>
          <p:cNvSpPr>
            <a:spLocks noGrp="1"/>
          </p:cNvSpPr>
          <p:nvPr/>
        </p:nvSpPr>
        <p:spPr>
          <a:xfrm>
            <a:off x="609600" y="4410075"/>
            <a:ext cx="619125"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04</a:t>
            </a:r>
          </a:p>
        </p:txBody>
      </p:sp>
      <p:sp>
        <p:nvSpPr>
          <p:cNvPr id="13" name="Persistent knowledge">
            <a:extLst>
              <a:ext uri="{FF2B5EF4-FFF2-40B4-BE49-F238E27FC236}">
                <a16:creationId xmlns:a16="http://schemas.microsoft.com/office/drawing/2014/main" id="{3323902A-796E-4A5D-A26B-CB6E45078B72}"/>
              </a:ext>
            </a:extLst>
          </p:cNvPr>
          <p:cNvSpPr>
            <a:spLocks noGrp="1"/>
          </p:cNvSpPr>
          <p:nvPr/>
        </p:nvSpPr>
        <p:spPr>
          <a:xfrm>
            <a:off x="1409700" y="4343400"/>
            <a:ext cx="3667125" cy="590550"/>
          </a:xfrm>
          <a:prstGeom prst="rect">
            <a:avLst/>
          </a:prstGeom>
          <a:noFill/>
          <a:ln w="0">
            <a:noFill/>
          </a:ln>
        </p:spPr>
        <p:txBody>
          <a:bodyPr wrap="square" lIns="0" tIns="0" rIns="0" bIns="0">
            <a:noAutofit/>
          </a:bodyPr>
          <a:lstStyle/>
          <a:p>
            <a:pPr>
              <a:defRPr sz="2400" b="1">
                <a:solidFill>
                  <a:srgbClr val="F3F1E9"/>
                </a:solidFill>
                <a:latin typeface="Avenir Next"/>
                <a:ea typeface="Avenir Next"/>
                <a:cs typeface="Avenir Next"/>
              </a:defRPr>
            </a:pPr>
            <a:r>
              <a:rPr sz="2400" b="1">
                <a:solidFill>
                  <a:srgbClr val="F3F1E9"/>
                </a:solidFill>
                <a:latin typeface="Avenir Next"/>
                <a:ea typeface="Avenir Next"/>
                <a:cs typeface="Avenir Next"/>
              </a:rPr>
              <a:t>Persistent knowledge</a:t>
            </a:r>
          </a:p>
        </p:txBody>
      </p:sp>
      <p:sp>
        <p:nvSpPr>
          <p:cNvPr id="14" name="Record decisions and setup beside the code.">
            <a:extLst>
              <a:ext uri="{FF2B5EF4-FFF2-40B4-BE49-F238E27FC236}">
                <a16:creationId xmlns:a16="http://schemas.microsoft.com/office/drawing/2014/main" id="{D0E0068A-FBF3-4484-878D-773830935DD5}"/>
              </a:ext>
            </a:extLst>
          </p:cNvPr>
          <p:cNvSpPr>
            <a:spLocks noGrp="1"/>
          </p:cNvSpPr>
          <p:nvPr/>
        </p:nvSpPr>
        <p:spPr>
          <a:xfrm>
            <a:off x="5457825" y="4381500"/>
            <a:ext cx="5905500" cy="76200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Record decisions and setup beside the code.</a:t>
            </a:r>
          </a:p>
        </p:txBody>
      </p:sp>
      <p:sp>
        <p:nvSpPr>
          <p:cNvPr id="15" name="05">
            <a:extLst>
              <a:ext uri="{FF2B5EF4-FFF2-40B4-BE49-F238E27FC236}">
                <a16:creationId xmlns:a16="http://schemas.microsoft.com/office/drawing/2014/main" id="{B95F2AE9-CB30-4331-9CCA-FEBF465C7172}"/>
              </a:ext>
            </a:extLst>
          </p:cNvPr>
          <p:cNvSpPr>
            <a:spLocks noGrp="1"/>
          </p:cNvSpPr>
          <p:nvPr/>
        </p:nvSpPr>
        <p:spPr>
          <a:xfrm>
            <a:off x="609600" y="5248275"/>
            <a:ext cx="619125"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05</a:t>
            </a:r>
          </a:p>
        </p:txBody>
      </p:sp>
      <p:sp>
        <p:nvSpPr>
          <p:cNvPr id="16" name="Human direction">
            <a:extLst>
              <a:ext uri="{FF2B5EF4-FFF2-40B4-BE49-F238E27FC236}">
                <a16:creationId xmlns:a16="http://schemas.microsoft.com/office/drawing/2014/main" id="{FEC70C5F-AC09-4557-84E9-2B965E92A44C}"/>
              </a:ext>
            </a:extLst>
          </p:cNvPr>
          <p:cNvSpPr>
            <a:spLocks noGrp="1"/>
          </p:cNvSpPr>
          <p:nvPr/>
        </p:nvSpPr>
        <p:spPr>
          <a:xfrm>
            <a:off x="1409700" y="5181600"/>
            <a:ext cx="3667125" cy="590550"/>
          </a:xfrm>
          <a:prstGeom prst="rect">
            <a:avLst/>
          </a:prstGeom>
          <a:noFill/>
          <a:ln w="0">
            <a:noFill/>
          </a:ln>
        </p:spPr>
        <p:txBody>
          <a:bodyPr wrap="square" lIns="0" tIns="0" rIns="0" bIns="0">
            <a:noAutofit/>
          </a:bodyPr>
          <a:lstStyle/>
          <a:p>
            <a:pPr>
              <a:defRPr sz="2400" b="1">
                <a:solidFill>
                  <a:srgbClr val="F3F1E9"/>
                </a:solidFill>
                <a:latin typeface="Avenir Next"/>
                <a:ea typeface="Avenir Next"/>
                <a:cs typeface="Avenir Next"/>
              </a:defRPr>
            </a:pPr>
            <a:r>
              <a:rPr sz="2400" b="1">
                <a:solidFill>
                  <a:srgbClr val="F3F1E9"/>
                </a:solidFill>
                <a:latin typeface="Avenir Next"/>
                <a:ea typeface="Avenir Next"/>
                <a:cs typeface="Avenir Next"/>
              </a:rPr>
              <a:t>Human direction</a:t>
            </a:r>
          </a:p>
        </p:txBody>
      </p:sp>
      <p:sp>
        <p:nvSpPr>
          <p:cNvPr id="17" name="Own the trade-offs and the release decision.">
            <a:extLst>
              <a:ext uri="{FF2B5EF4-FFF2-40B4-BE49-F238E27FC236}">
                <a16:creationId xmlns:a16="http://schemas.microsoft.com/office/drawing/2014/main" id="{1AB3C8F0-0BFC-43C0-A15E-A7411D8B1933}"/>
              </a:ext>
            </a:extLst>
          </p:cNvPr>
          <p:cNvSpPr>
            <a:spLocks noGrp="1"/>
          </p:cNvSpPr>
          <p:nvPr/>
        </p:nvSpPr>
        <p:spPr>
          <a:xfrm>
            <a:off x="5457825" y="5219700"/>
            <a:ext cx="5905500" cy="76200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Own the trade-offs and the release decision.</a:t>
            </a:r>
          </a:p>
        </p:txBody>
      </p:sp>
    </p:spTree>
    <p:extLst>
      <p:ext uri="{BB962C8B-B14F-4D97-AF65-F5344CB8AC3E}">
        <p14:creationId xmlns:p14="http://schemas.microsoft.com/office/powerpoint/2010/main" val="224389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1E9"/>
        </a:solidFill>
        <a:effectLst/>
      </p:bgPr>
    </p:bg>
    <p:spTree>
      <p:nvGrpSpPr>
        <p:cNvPr id="1" name=""/>
        <p:cNvGrpSpPr/>
        <p:nvPr/>
      </p:nvGrpSpPr>
      <p:grpSpPr>
        <a:xfrm>
          <a:off x="0" y="0"/>
          <a:ext cx="0" cy="0"/>
          <a:chOff x="0" y="0"/>
          <a:chExt cx="0" cy="0"/>
        </a:xfrm>
      </p:grpSpPr>
      <p:sp>
        <p:nvSpPr>
          <p:cNvPr id="18" name="20">
            <a:extLst>
              <a:ext uri="{FF2B5EF4-FFF2-40B4-BE49-F238E27FC236}">
                <a16:creationId xmlns:a16="http://schemas.microsoft.com/office/drawing/2014/main" id="{F3E8BD8E-F352-4500-9312-D0628A51C8BE}"/>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576152"/>
                </a:solidFill>
                <a:latin typeface="JetBrains Mono"/>
                <a:ea typeface="JetBrains Mono"/>
                <a:cs typeface="JetBrains Mono"/>
              </a:defRPr>
            </a:pPr>
            <a:r>
              <a:rPr sz="1275" b="0">
                <a:solidFill>
                  <a:srgbClr val="576152"/>
                </a:solidFill>
                <a:latin typeface="JetBrains Mono"/>
                <a:ea typeface="JetBrains Mono"/>
                <a:cs typeface="JetBrains Mono"/>
              </a:rPr>
              <a:t>20</a:t>
            </a:r>
          </a:p>
        </p:txBody>
      </p:sp>
      <p:sp>
        <p:nvSpPr>
          <p:cNvPr id="2" name="The delivery workflow">
            <a:extLst>
              <a:ext uri="{FF2B5EF4-FFF2-40B4-BE49-F238E27FC236}">
                <a16:creationId xmlns:a16="http://schemas.microsoft.com/office/drawing/2014/main" id="{14EF4CCF-0F90-48A2-B877-75A36A3DA79B}"/>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19211B"/>
                </a:solidFill>
                <a:latin typeface="Avenir Next"/>
                <a:ea typeface="Avenir Next"/>
                <a:cs typeface="Avenir Next"/>
              </a:defRPr>
            </a:pPr>
            <a:r>
              <a:rPr sz="4050" b="1">
                <a:solidFill>
                  <a:srgbClr val="19211B"/>
                </a:solidFill>
                <a:latin typeface="Avenir Next"/>
                <a:ea typeface="Avenir Next"/>
                <a:cs typeface="Avenir Next"/>
              </a:rPr>
              <a:t>The delivery workflow</a:t>
            </a:r>
          </a:p>
        </p:txBody>
      </p:sp>
      <p:sp>
        <p:nvSpPr>
          <p:cNvPr id="3" name="01">
            <a:extLst>
              <a:ext uri="{FF2B5EF4-FFF2-40B4-BE49-F238E27FC236}">
                <a16:creationId xmlns:a16="http://schemas.microsoft.com/office/drawing/2014/main" id="{DF34D198-85B7-4E5F-95D7-3762322238B3}"/>
              </a:ext>
            </a:extLst>
          </p:cNvPr>
          <p:cNvSpPr>
            <a:spLocks noGrp="1"/>
          </p:cNvSpPr>
          <p:nvPr/>
        </p:nvSpPr>
        <p:spPr>
          <a:xfrm>
            <a:off x="609600" y="1962150"/>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01</a:t>
            </a:r>
          </a:p>
        </p:txBody>
      </p:sp>
      <p:sp>
        <p:nvSpPr>
          <p:cNvPr id="4" name="A clear specification">
            <a:extLst>
              <a:ext uri="{FF2B5EF4-FFF2-40B4-BE49-F238E27FC236}">
                <a16:creationId xmlns:a16="http://schemas.microsoft.com/office/drawing/2014/main" id="{0ECA1DC3-8822-4C14-BFD1-C4DD83785662}"/>
              </a:ext>
            </a:extLst>
          </p:cNvPr>
          <p:cNvSpPr>
            <a:spLocks noGrp="1"/>
          </p:cNvSpPr>
          <p:nvPr/>
        </p:nvSpPr>
        <p:spPr>
          <a:xfrm>
            <a:off x="1409700" y="1895475"/>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A clear specification</a:t>
            </a:r>
          </a:p>
        </p:txBody>
      </p:sp>
      <p:sp>
        <p:nvSpPr>
          <p:cNvPr id="5" name="Human defines the problem and acceptance checks.">
            <a:extLst>
              <a:ext uri="{FF2B5EF4-FFF2-40B4-BE49-F238E27FC236}">
                <a16:creationId xmlns:a16="http://schemas.microsoft.com/office/drawing/2014/main" id="{A340340C-8A23-46C8-A192-177A662DCB62}"/>
              </a:ext>
            </a:extLst>
          </p:cNvPr>
          <p:cNvSpPr>
            <a:spLocks noGrp="1"/>
          </p:cNvSpPr>
          <p:nvPr/>
        </p:nvSpPr>
        <p:spPr>
          <a:xfrm>
            <a:off x="5457825" y="1933575"/>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Human defines the problem and acceptance checks.</a:t>
            </a:r>
          </a:p>
        </p:txBody>
      </p:sp>
      <p:sp>
        <p:nvSpPr>
          <p:cNvPr id="6" name="02">
            <a:extLst>
              <a:ext uri="{FF2B5EF4-FFF2-40B4-BE49-F238E27FC236}">
                <a16:creationId xmlns:a16="http://schemas.microsoft.com/office/drawing/2014/main" id="{4E870C51-B827-48C6-BEEA-F72C9EDF5305}"/>
              </a:ext>
            </a:extLst>
          </p:cNvPr>
          <p:cNvSpPr>
            <a:spLocks noGrp="1"/>
          </p:cNvSpPr>
          <p:nvPr/>
        </p:nvSpPr>
        <p:spPr>
          <a:xfrm>
            <a:off x="609600" y="2809875"/>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02</a:t>
            </a:r>
          </a:p>
        </p:txBody>
      </p:sp>
      <p:sp>
        <p:nvSpPr>
          <p:cNvPr id="7" name="An implementation">
            <a:extLst>
              <a:ext uri="{FF2B5EF4-FFF2-40B4-BE49-F238E27FC236}">
                <a16:creationId xmlns:a16="http://schemas.microsoft.com/office/drawing/2014/main" id="{1EDB431A-38CC-4FBD-877F-3D33B6E8DC00}"/>
              </a:ext>
            </a:extLst>
          </p:cNvPr>
          <p:cNvSpPr>
            <a:spLocks noGrp="1"/>
          </p:cNvSpPr>
          <p:nvPr/>
        </p:nvSpPr>
        <p:spPr>
          <a:xfrm>
            <a:off x="1409700" y="2743200"/>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An implementation</a:t>
            </a:r>
          </a:p>
        </p:txBody>
      </p:sp>
      <p:sp>
        <p:nvSpPr>
          <p:cNvPr id="8" name="Agent drafts the code and relevant tests.">
            <a:extLst>
              <a:ext uri="{FF2B5EF4-FFF2-40B4-BE49-F238E27FC236}">
                <a16:creationId xmlns:a16="http://schemas.microsoft.com/office/drawing/2014/main" id="{051E137F-5987-4FED-84FE-A0B7B971A49C}"/>
              </a:ext>
            </a:extLst>
          </p:cNvPr>
          <p:cNvSpPr>
            <a:spLocks noGrp="1"/>
          </p:cNvSpPr>
          <p:nvPr/>
        </p:nvSpPr>
        <p:spPr>
          <a:xfrm>
            <a:off x="5457825" y="2781300"/>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Agent drafts the code and relevant tests.</a:t>
            </a:r>
          </a:p>
        </p:txBody>
      </p:sp>
      <p:sp>
        <p:nvSpPr>
          <p:cNvPr id="9" name="03">
            <a:extLst>
              <a:ext uri="{FF2B5EF4-FFF2-40B4-BE49-F238E27FC236}">
                <a16:creationId xmlns:a16="http://schemas.microsoft.com/office/drawing/2014/main" id="{4C4B549B-8605-48D1-A1F4-7746279ED625}"/>
              </a:ext>
            </a:extLst>
          </p:cNvPr>
          <p:cNvSpPr>
            <a:spLocks noGrp="1"/>
          </p:cNvSpPr>
          <p:nvPr/>
        </p:nvSpPr>
        <p:spPr>
          <a:xfrm>
            <a:off x="609600" y="3657600"/>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03</a:t>
            </a:r>
          </a:p>
        </p:txBody>
      </p:sp>
      <p:sp>
        <p:nvSpPr>
          <p:cNvPr id="10" name="A review">
            <a:extLst>
              <a:ext uri="{FF2B5EF4-FFF2-40B4-BE49-F238E27FC236}">
                <a16:creationId xmlns:a16="http://schemas.microsoft.com/office/drawing/2014/main" id="{D4B7D075-0830-48D9-B2DB-455C07D996B7}"/>
              </a:ext>
            </a:extLst>
          </p:cNvPr>
          <p:cNvSpPr>
            <a:spLocks noGrp="1"/>
          </p:cNvSpPr>
          <p:nvPr/>
        </p:nvSpPr>
        <p:spPr>
          <a:xfrm>
            <a:off x="1409700" y="3590925"/>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A review</a:t>
            </a:r>
          </a:p>
        </p:txBody>
      </p:sp>
      <p:sp>
        <p:nvSpPr>
          <p:cNvPr id="11" name="Human examines the design and changed behaviour.">
            <a:extLst>
              <a:ext uri="{FF2B5EF4-FFF2-40B4-BE49-F238E27FC236}">
                <a16:creationId xmlns:a16="http://schemas.microsoft.com/office/drawing/2014/main" id="{41A4BE38-BD15-4291-8B4A-57AE6B3016A5}"/>
              </a:ext>
            </a:extLst>
          </p:cNvPr>
          <p:cNvSpPr>
            <a:spLocks noGrp="1"/>
          </p:cNvSpPr>
          <p:nvPr/>
        </p:nvSpPr>
        <p:spPr>
          <a:xfrm>
            <a:off x="5457825" y="3629025"/>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Human examines the design and changed behaviour.</a:t>
            </a:r>
          </a:p>
        </p:txBody>
      </p:sp>
      <p:sp>
        <p:nvSpPr>
          <p:cNvPr id="12" name="04">
            <a:extLst>
              <a:ext uri="{FF2B5EF4-FFF2-40B4-BE49-F238E27FC236}">
                <a16:creationId xmlns:a16="http://schemas.microsoft.com/office/drawing/2014/main" id="{93FF0B22-FC89-4B90-B593-2869A7E83F6C}"/>
              </a:ext>
            </a:extLst>
          </p:cNvPr>
          <p:cNvSpPr>
            <a:spLocks noGrp="1"/>
          </p:cNvSpPr>
          <p:nvPr/>
        </p:nvSpPr>
        <p:spPr>
          <a:xfrm>
            <a:off x="609600" y="4505325"/>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04</a:t>
            </a:r>
          </a:p>
        </p:txBody>
      </p:sp>
      <p:sp>
        <p:nvSpPr>
          <p:cNvPr id="13" name="Evidence">
            <a:extLst>
              <a:ext uri="{FF2B5EF4-FFF2-40B4-BE49-F238E27FC236}">
                <a16:creationId xmlns:a16="http://schemas.microsoft.com/office/drawing/2014/main" id="{982C15D6-00AF-4942-AF88-AF5098AB964A}"/>
              </a:ext>
            </a:extLst>
          </p:cNvPr>
          <p:cNvSpPr>
            <a:spLocks noGrp="1"/>
          </p:cNvSpPr>
          <p:nvPr/>
        </p:nvSpPr>
        <p:spPr>
          <a:xfrm>
            <a:off x="1409700" y="4438650"/>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Evidence</a:t>
            </a:r>
          </a:p>
        </p:txBody>
      </p:sp>
      <p:sp>
        <p:nvSpPr>
          <p:cNvPr id="14" name="Tests and a preview expose regressions or gaps.">
            <a:extLst>
              <a:ext uri="{FF2B5EF4-FFF2-40B4-BE49-F238E27FC236}">
                <a16:creationId xmlns:a16="http://schemas.microsoft.com/office/drawing/2014/main" id="{D4988311-6E15-4D3A-852F-C7AF8F16D539}"/>
              </a:ext>
            </a:extLst>
          </p:cNvPr>
          <p:cNvSpPr>
            <a:spLocks noGrp="1"/>
          </p:cNvSpPr>
          <p:nvPr/>
        </p:nvSpPr>
        <p:spPr>
          <a:xfrm>
            <a:off x="5457825" y="4476750"/>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Tests and a preview expose regressions or gaps.</a:t>
            </a:r>
          </a:p>
        </p:txBody>
      </p:sp>
      <p:sp>
        <p:nvSpPr>
          <p:cNvPr id="15" name="05">
            <a:extLst>
              <a:ext uri="{FF2B5EF4-FFF2-40B4-BE49-F238E27FC236}">
                <a16:creationId xmlns:a16="http://schemas.microsoft.com/office/drawing/2014/main" id="{2528286E-78D2-4DD4-AB93-84058FB36E8F}"/>
              </a:ext>
            </a:extLst>
          </p:cNvPr>
          <p:cNvSpPr>
            <a:spLocks noGrp="1"/>
          </p:cNvSpPr>
          <p:nvPr/>
        </p:nvSpPr>
        <p:spPr>
          <a:xfrm>
            <a:off x="609600" y="5353050"/>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05</a:t>
            </a:r>
          </a:p>
        </p:txBody>
      </p:sp>
      <p:sp>
        <p:nvSpPr>
          <p:cNvPr id="16" name="A recorded decision">
            <a:extLst>
              <a:ext uri="{FF2B5EF4-FFF2-40B4-BE49-F238E27FC236}">
                <a16:creationId xmlns:a16="http://schemas.microsoft.com/office/drawing/2014/main" id="{C589EB71-4A49-4820-81DF-E8A73EE33662}"/>
              </a:ext>
            </a:extLst>
          </p:cNvPr>
          <p:cNvSpPr>
            <a:spLocks noGrp="1"/>
          </p:cNvSpPr>
          <p:nvPr/>
        </p:nvSpPr>
        <p:spPr>
          <a:xfrm>
            <a:off x="1409700" y="5286375"/>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A recorded decision</a:t>
            </a:r>
          </a:p>
        </p:txBody>
      </p:sp>
      <p:sp>
        <p:nvSpPr>
          <p:cNvPr id="17" name="Save the code, rationale and operating notes.">
            <a:extLst>
              <a:ext uri="{FF2B5EF4-FFF2-40B4-BE49-F238E27FC236}">
                <a16:creationId xmlns:a16="http://schemas.microsoft.com/office/drawing/2014/main" id="{8210C234-6832-4D2D-A9CC-CAC97943ED35}"/>
              </a:ext>
            </a:extLst>
          </p:cNvPr>
          <p:cNvSpPr>
            <a:spLocks noGrp="1"/>
          </p:cNvSpPr>
          <p:nvPr/>
        </p:nvSpPr>
        <p:spPr>
          <a:xfrm>
            <a:off x="5457825" y="5324475"/>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Save the code, rationale and operating notes.</a:t>
            </a:r>
          </a:p>
        </p:txBody>
      </p:sp>
    </p:spTree>
    <p:extLst>
      <p:ext uri="{BB962C8B-B14F-4D97-AF65-F5344CB8AC3E}">
        <p14:creationId xmlns:p14="http://schemas.microsoft.com/office/powerpoint/2010/main" val="1701971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51716"/>
        </a:solidFill>
        <a:effectLst/>
      </p:bgPr>
    </p:bg>
    <p:spTree>
      <p:nvGrpSpPr>
        <p:cNvPr id="1" name=""/>
        <p:cNvGrpSpPr/>
        <p:nvPr/>
      </p:nvGrpSpPr>
      <p:grpSpPr>
        <a:xfrm>
          <a:off x="0" y="0"/>
          <a:ext cx="0" cy="0"/>
          <a:chOff x="0" y="0"/>
          <a:chExt cx="0" cy="0"/>
        </a:xfrm>
      </p:grpSpPr>
      <p:sp>
        <p:nvSpPr>
          <p:cNvPr id="15" name="21">
            <a:extLst>
              <a:ext uri="{FF2B5EF4-FFF2-40B4-BE49-F238E27FC236}">
                <a16:creationId xmlns:a16="http://schemas.microsoft.com/office/drawing/2014/main" id="{41B6DCEF-13A8-457F-AF59-5D46EFA548C5}"/>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A9B0A7"/>
                </a:solidFill>
                <a:latin typeface="JetBrains Mono"/>
                <a:ea typeface="JetBrains Mono"/>
                <a:cs typeface="JetBrains Mono"/>
              </a:defRPr>
            </a:pPr>
            <a:r>
              <a:rPr sz="1275" b="0">
                <a:solidFill>
                  <a:srgbClr val="A9B0A7"/>
                </a:solidFill>
                <a:latin typeface="JetBrains Mono"/>
                <a:ea typeface="JetBrains Mono"/>
                <a:cs typeface="JetBrains Mono"/>
              </a:rPr>
              <a:t>21</a:t>
            </a:r>
          </a:p>
        </p:txBody>
      </p:sp>
      <p:sp>
        <p:nvSpPr>
          <p:cNvPr id="2" name="The tools around the agent">
            <a:extLst>
              <a:ext uri="{FF2B5EF4-FFF2-40B4-BE49-F238E27FC236}">
                <a16:creationId xmlns:a16="http://schemas.microsoft.com/office/drawing/2014/main" id="{13FA23C3-164A-4B16-A3F2-A66DE43C0154}"/>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F3F1E9"/>
                </a:solidFill>
                <a:latin typeface="Avenir Next"/>
                <a:ea typeface="Avenir Next"/>
                <a:cs typeface="Avenir Next"/>
              </a:defRPr>
            </a:pPr>
            <a:r>
              <a:rPr sz="4050" b="1">
                <a:solidFill>
                  <a:srgbClr val="F3F1E9"/>
                </a:solidFill>
                <a:latin typeface="Avenir Next"/>
                <a:ea typeface="Avenir Next"/>
                <a:cs typeface="Avenir Next"/>
              </a:rPr>
              <a:t>The tools around the agent</a:t>
            </a:r>
          </a:p>
        </p:txBody>
      </p:sp>
      <p:sp>
        <p:nvSpPr>
          <p:cNvPr id="3" name="01">
            <a:extLst>
              <a:ext uri="{FF2B5EF4-FFF2-40B4-BE49-F238E27FC236}">
                <a16:creationId xmlns:a16="http://schemas.microsoft.com/office/drawing/2014/main" id="{8A4431EE-C095-4B96-8D43-A1B775649987}"/>
              </a:ext>
            </a:extLst>
          </p:cNvPr>
          <p:cNvSpPr>
            <a:spLocks noGrp="1"/>
          </p:cNvSpPr>
          <p:nvPr/>
        </p:nvSpPr>
        <p:spPr>
          <a:xfrm>
            <a:off x="609600" y="2047875"/>
            <a:ext cx="619125"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01</a:t>
            </a:r>
          </a:p>
        </p:txBody>
      </p:sp>
      <p:sp>
        <p:nvSpPr>
          <p:cNvPr id="4" name="Code and commands">
            <a:extLst>
              <a:ext uri="{FF2B5EF4-FFF2-40B4-BE49-F238E27FC236}">
                <a16:creationId xmlns:a16="http://schemas.microsoft.com/office/drawing/2014/main" id="{8C3B564E-DF75-4F1F-8022-BA8071625F72}"/>
              </a:ext>
            </a:extLst>
          </p:cNvPr>
          <p:cNvSpPr>
            <a:spLocks noGrp="1"/>
          </p:cNvSpPr>
          <p:nvPr/>
        </p:nvSpPr>
        <p:spPr>
          <a:xfrm>
            <a:off x="1409700" y="1981200"/>
            <a:ext cx="3667125" cy="590550"/>
          </a:xfrm>
          <a:prstGeom prst="rect">
            <a:avLst/>
          </a:prstGeom>
          <a:noFill/>
          <a:ln w="0">
            <a:noFill/>
          </a:ln>
        </p:spPr>
        <p:txBody>
          <a:bodyPr wrap="square" lIns="0" tIns="0" rIns="0" bIns="0">
            <a:noAutofit/>
          </a:bodyPr>
          <a:lstStyle/>
          <a:p>
            <a:pPr>
              <a:defRPr sz="2400" b="1">
                <a:solidFill>
                  <a:srgbClr val="F3F1E9"/>
                </a:solidFill>
                <a:latin typeface="Avenir Next"/>
                <a:ea typeface="Avenir Next"/>
                <a:cs typeface="Avenir Next"/>
              </a:defRPr>
            </a:pPr>
            <a:r>
              <a:rPr sz="2400" b="1">
                <a:solidFill>
                  <a:srgbClr val="F3F1E9"/>
                </a:solidFill>
                <a:latin typeface="Avenir Next"/>
                <a:ea typeface="Avenir Next"/>
                <a:cs typeface="Avenir Next"/>
              </a:rPr>
              <a:t>Code and commands</a:t>
            </a:r>
          </a:p>
        </p:txBody>
      </p:sp>
      <p:sp>
        <p:nvSpPr>
          <p:cNvPr id="5" name="A coding agent works in the project environment.">
            <a:extLst>
              <a:ext uri="{FF2B5EF4-FFF2-40B4-BE49-F238E27FC236}">
                <a16:creationId xmlns:a16="http://schemas.microsoft.com/office/drawing/2014/main" id="{A8F8490C-AE4D-4D2C-9183-8C0F849680DB}"/>
              </a:ext>
            </a:extLst>
          </p:cNvPr>
          <p:cNvSpPr>
            <a:spLocks noGrp="1"/>
          </p:cNvSpPr>
          <p:nvPr/>
        </p:nvSpPr>
        <p:spPr>
          <a:xfrm>
            <a:off x="5457825" y="2019300"/>
            <a:ext cx="5905500" cy="76200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A coding agent works in the project environment.</a:t>
            </a:r>
          </a:p>
        </p:txBody>
      </p:sp>
      <p:sp>
        <p:nvSpPr>
          <p:cNvPr id="6" name="02">
            <a:extLst>
              <a:ext uri="{FF2B5EF4-FFF2-40B4-BE49-F238E27FC236}">
                <a16:creationId xmlns:a16="http://schemas.microsoft.com/office/drawing/2014/main" id="{F86D2D8B-0E9F-4644-A2BE-6685B297C5C0}"/>
              </a:ext>
            </a:extLst>
          </p:cNvPr>
          <p:cNvSpPr>
            <a:spLocks noGrp="1"/>
          </p:cNvSpPr>
          <p:nvPr/>
        </p:nvSpPr>
        <p:spPr>
          <a:xfrm>
            <a:off x="609600" y="3019425"/>
            <a:ext cx="619125"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02</a:t>
            </a:r>
          </a:p>
        </p:txBody>
      </p:sp>
      <p:sp>
        <p:nvSpPr>
          <p:cNvPr id="7" name="Tests and automation">
            <a:extLst>
              <a:ext uri="{FF2B5EF4-FFF2-40B4-BE49-F238E27FC236}">
                <a16:creationId xmlns:a16="http://schemas.microsoft.com/office/drawing/2014/main" id="{13C0A857-3A88-4364-B016-F5BE4E28559F}"/>
              </a:ext>
            </a:extLst>
          </p:cNvPr>
          <p:cNvSpPr>
            <a:spLocks noGrp="1"/>
          </p:cNvSpPr>
          <p:nvPr/>
        </p:nvSpPr>
        <p:spPr>
          <a:xfrm>
            <a:off x="1409700" y="2952750"/>
            <a:ext cx="3667125" cy="590550"/>
          </a:xfrm>
          <a:prstGeom prst="rect">
            <a:avLst/>
          </a:prstGeom>
          <a:noFill/>
          <a:ln w="0">
            <a:noFill/>
          </a:ln>
        </p:spPr>
        <p:txBody>
          <a:bodyPr wrap="square" lIns="0" tIns="0" rIns="0" bIns="0">
            <a:noAutofit/>
          </a:bodyPr>
          <a:lstStyle/>
          <a:p>
            <a:pPr>
              <a:defRPr sz="2400" b="1">
                <a:solidFill>
                  <a:srgbClr val="F3F1E9"/>
                </a:solidFill>
                <a:latin typeface="Avenir Next"/>
                <a:ea typeface="Avenir Next"/>
                <a:cs typeface="Avenir Next"/>
              </a:defRPr>
            </a:pPr>
            <a:r>
              <a:rPr sz="2400" b="1">
                <a:solidFill>
                  <a:srgbClr val="F3F1E9"/>
                </a:solidFill>
                <a:latin typeface="Avenir Next"/>
                <a:ea typeface="Avenir Next"/>
                <a:cs typeface="Avenir Next"/>
              </a:rPr>
              <a:t>Tests and automation</a:t>
            </a:r>
          </a:p>
        </p:txBody>
      </p:sp>
      <p:sp>
        <p:nvSpPr>
          <p:cNvPr id="8" name="The project’s tests and CI report what passed.">
            <a:extLst>
              <a:ext uri="{FF2B5EF4-FFF2-40B4-BE49-F238E27FC236}">
                <a16:creationId xmlns:a16="http://schemas.microsoft.com/office/drawing/2014/main" id="{963AFC1D-4801-4251-953A-93B195E6F5D3}"/>
              </a:ext>
            </a:extLst>
          </p:cNvPr>
          <p:cNvSpPr>
            <a:spLocks noGrp="1"/>
          </p:cNvSpPr>
          <p:nvPr/>
        </p:nvSpPr>
        <p:spPr>
          <a:xfrm>
            <a:off x="5457825" y="2990850"/>
            <a:ext cx="5905500" cy="76200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The project’s tests and CI report what passed.</a:t>
            </a:r>
          </a:p>
        </p:txBody>
      </p:sp>
      <p:sp>
        <p:nvSpPr>
          <p:cNvPr id="9" name="03">
            <a:extLst>
              <a:ext uri="{FF2B5EF4-FFF2-40B4-BE49-F238E27FC236}">
                <a16:creationId xmlns:a16="http://schemas.microsoft.com/office/drawing/2014/main" id="{445B5E79-41DE-4BA6-945F-7D8A3F01B0E5}"/>
              </a:ext>
            </a:extLst>
          </p:cNvPr>
          <p:cNvSpPr>
            <a:spLocks noGrp="1"/>
          </p:cNvSpPr>
          <p:nvPr/>
        </p:nvSpPr>
        <p:spPr>
          <a:xfrm>
            <a:off x="609600" y="3990975"/>
            <a:ext cx="619125"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03</a:t>
            </a:r>
          </a:p>
        </p:txBody>
      </p:sp>
      <p:sp>
        <p:nvSpPr>
          <p:cNvPr id="10" name="Version control">
            <a:extLst>
              <a:ext uri="{FF2B5EF4-FFF2-40B4-BE49-F238E27FC236}">
                <a16:creationId xmlns:a16="http://schemas.microsoft.com/office/drawing/2014/main" id="{1F77E79B-5C81-4036-A45D-3DD59AA857A6}"/>
              </a:ext>
            </a:extLst>
          </p:cNvPr>
          <p:cNvSpPr>
            <a:spLocks noGrp="1"/>
          </p:cNvSpPr>
          <p:nvPr/>
        </p:nvSpPr>
        <p:spPr>
          <a:xfrm>
            <a:off x="1409700" y="3924300"/>
            <a:ext cx="3667125" cy="590550"/>
          </a:xfrm>
          <a:prstGeom prst="rect">
            <a:avLst/>
          </a:prstGeom>
          <a:noFill/>
          <a:ln w="0">
            <a:noFill/>
          </a:ln>
        </p:spPr>
        <p:txBody>
          <a:bodyPr wrap="square" lIns="0" tIns="0" rIns="0" bIns="0">
            <a:noAutofit/>
          </a:bodyPr>
          <a:lstStyle/>
          <a:p>
            <a:pPr>
              <a:defRPr sz="2400" b="1">
                <a:solidFill>
                  <a:srgbClr val="F3F1E9"/>
                </a:solidFill>
                <a:latin typeface="Avenir Next"/>
                <a:ea typeface="Avenir Next"/>
                <a:cs typeface="Avenir Next"/>
              </a:defRPr>
            </a:pPr>
            <a:r>
              <a:rPr sz="2400" b="1">
                <a:solidFill>
                  <a:srgbClr val="F3F1E9"/>
                </a:solidFill>
                <a:latin typeface="Avenir Next"/>
                <a:ea typeface="Avenir Next"/>
                <a:cs typeface="Avenir Next"/>
              </a:rPr>
              <a:t>Version control</a:t>
            </a:r>
          </a:p>
        </p:txBody>
      </p:sp>
      <p:sp>
        <p:nvSpPr>
          <p:cNvPr id="11" name="A diff shows exactly what changed.">
            <a:extLst>
              <a:ext uri="{FF2B5EF4-FFF2-40B4-BE49-F238E27FC236}">
                <a16:creationId xmlns:a16="http://schemas.microsoft.com/office/drawing/2014/main" id="{D8E30EDF-B8AB-4FF9-987A-581A98159F10}"/>
              </a:ext>
            </a:extLst>
          </p:cNvPr>
          <p:cNvSpPr>
            <a:spLocks noGrp="1"/>
          </p:cNvSpPr>
          <p:nvPr/>
        </p:nvSpPr>
        <p:spPr>
          <a:xfrm>
            <a:off x="5457825" y="3962400"/>
            <a:ext cx="5905500" cy="76200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A diff shows exactly what changed.</a:t>
            </a:r>
          </a:p>
        </p:txBody>
      </p:sp>
      <p:sp>
        <p:nvSpPr>
          <p:cNvPr id="12" name="04">
            <a:extLst>
              <a:ext uri="{FF2B5EF4-FFF2-40B4-BE49-F238E27FC236}">
                <a16:creationId xmlns:a16="http://schemas.microsoft.com/office/drawing/2014/main" id="{24799B2B-392C-4BC1-9F90-B0448FBDB7BD}"/>
              </a:ext>
            </a:extLst>
          </p:cNvPr>
          <p:cNvSpPr>
            <a:spLocks noGrp="1"/>
          </p:cNvSpPr>
          <p:nvPr/>
        </p:nvSpPr>
        <p:spPr>
          <a:xfrm>
            <a:off x="609600" y="4962525"/>
            <a:ext cx="619125"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04</a:t>
            </a:r>
          </a:p>
        </p:txBody>
      </p:sp>
      <p:sp>
        <p:nvSpPr>
          <p:cNvPr id="13" name="Durable context">
            <a:extLst>
              <a:ext uri="{FF2B5EF4-FFF2-40B4-BE49-F238E27FC236}">
                <a16:creationId xmlns:a16="http://schemas.microsoft.com/office/drawing/2014/main" id="{AB1297FE-FF9F-4312-BAB5-A354BD6BF61E}"/>
              </a:ext>
            </a:extLst>
          </p:cNvPr>
          <p:cNvSpPr>
            <a:spLocks noGrp="1"/>
          </p:cNvSpPr>
          <p:nvPr/>
        </p:nvSpPr>
        <p:spPr>
          <a:xfrm>
            <a:off x="1409700" y="4895850"/>
            <a:ext cx="3667125" cy="590550"/>
          </a:xfrm>
          <a:prstGeom prst="rect">
            <a:avLst/>
          </a:prstGeom>
          <a:noFill/>
          <a:ln w="0">
            <a:noFill/>
          </a:ln>
        </p:spPr>
        <p:txBody>
          <a:bodyPr wrap="square" lIns="0" tIns="0" rIns="0" bIns="0">
            <a:noAutofit/>
          </a:bodyPr>
          <a:lstStyle/>
          <a:p>
            <a:pPr>
              <a:defRPr sz="2400" b="1">
                <a:solidFill>
                  <a:srgbClr val="F3F1E9"/>
                </a:solidFill>
                <a:latin typeface="Avenir Next"/>
                <a:ea typeface="Avenir Next"/>
                <a:cs typeface="Avenir Next"/>
              </a:defRPr>
            </a:pPr>
            <a:r>
              <a:rPr sz="2400" b="1">
                <a:solidFill>
                  <a:srgbClr val="F3F1E9"/>
                </a:solidFill>
                <a:latin typeface="Avenir Next"/>
                <a:ea typeface="Avenir Next"/>
                <a:cs typeface="Avenir Next"/>
              </a:rPr>
              <a:t>Durable context</a:t>
            </a:r>
          </a:p>
        </p:txBody>
      </p:sp>
      <p:sp>
        <p:nvSpPr>
          <p:cNvPr id="14" name="README, decisions and project instructions.">
            <a:extLst>
              <a:ext uri="{FF2B5EF4-FFF2-40B4-BE49-F238E27FC236}">
                <a16:creationId xmlns:a16="http://schemas.microsoft.com/office/drawing/2014/main" id="{0958DDA3-18C2-42AD-83AE-4E02B9A110C2}"/>
              </a:ext>
            </a:extLst>
          </p:cNvPr>
          <p:cNvSpPr>
            <a:spLocks noGrp="1"/>
          </p:cNvSpPr>
          <p:nvPr/>
        </p:nvSpPr>
        <p:spPr>
          <a:xfrm>
            <a:off x="5457825" y="4933950"/>
            <a:ext cx="5905500" cy="762000"/>
          </a:xfrm>
          <a:prstGeom prst="rect">
            <a:avLst/>
          </a:prstGeom>
          <a:noFill/>
          <a:ln w="0">
            <a:noFill/>
          </a:ln>
        </p:spPr>
        <p:txBody>
          <a:bodyPr wrap="square" lIns="0" tIns="0" rIns="0" bIns="0">
            <a:noAutofit/>
          </a:bodyPr>
          <a:lstStyle/>
          <a:p>
            <a:pPr>
              <a:defRPr sz="2025" b="0">
                <a:solidFill>
                  <a:srgbClr val="A9B0A7"/>
                </a:solidFill>
                <a:latin typeface="Avenir Next"/>
                <a:ea typeface="Avenir Next"/>
                <a:cs typeface="Avenir Next"/>
              </a:defRPr>
            </a:pPr>
            <a:r>
              <a:rPr sz="2025" b="0">
                <a:solidFill>
                  <a:srgbClr val="A9B0A7"/>
                </a:solidFill>
                <a:latin typeface="Avenir Next"/>
                <a:ea typeface="Avenir Next"/>
                <a:cs typeface="Avenir Next"/>
              </a:rPr>
              <a:t>README, decisions and project instructions.</a:t>
            </a:r>
          </a:p>
        </p:txBody>
      </p:sp>
    </p:spTree>
    <p:extLst>
      <p:ext uri="{BB962C8B-B14F-4D97-AF65-F5344CB8AC3E}">
        <p14:creationId xmlns:p14="http://schemas.microsoft.com/office/powerpoint/2010/main" val="292394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F1E9"/>
        </a:solidFill>
        <a:effectLst/>
      </p:bgPr>
    </p:bg>
    <p:spTree>
      <p:nvGrpSpPr>
        <p:cNvPr id="1" name=""/>
        <p:cNvGrpSpPr/>
        <p:nvPr/>
      </p:nvGrpSpPr>
      <p:grpSpPr>
        <a:xfrm>
          <a:off x="0" y="0"/>
          <a:ext cx="0" cy="0"/>
          <a:chOff x="0" y="0"/>
          <a:chExt cx="0" cy="0"/>
        </a:xfrm>
      </p:grpSpPr>
      <p:sp>
        <p:nvSpPr>
          <p:cNvPr id="13" name="22">
            <a:extLst>
              <a:ext uri="{FF2B5EF4-FFF2-40B4-BE49-F238E27FC236}">
                <a16:creationId xmlns:a16="http://schemas.microsoft.com/office/drawing/2014/main" id="{4AB69411-D4CF-4DF8-8794-ACAB812E3D4E}"/>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576152"/>
                </a:solidFill>
                <a:latin typeface="JetBrains Mono"/>
                <a:ea typeface="JetBrains Mono"/>
                <a:cs typeface="JetBrains Mono"/>
              </a:defRPr>
            </a:pPr>
            <a:r>
              <a:rPr sz="1275" b="0">
                <a:solidFill>
                  <a:srgbClr val="576152"/>
                </a:solidFill>
                <a:latin typeface="JetBrains Mono"/>
                <a:ea typeface="JetBrains Mono"/>
                <a:cs typeface="JetBrains Mono"/>
              </a:rPr>
              <a:t>22</a:t>
            </a:r>
          </a:p>
        </p:txBody>
      </p:sp>
      <p:sp>
        <p:nvSpPr>
          <p:cNvPr id="2" name="What changes for a team">
            <a:extLst>
              <a:ext uri="{FF2B5EF4-FFF2-40B4-BE49-F238E27FC236}">
                <a16:creationId xmlns:a16="http://schemas.microsoft.com/office/drawing/2014/main" id="{5145EE53-C97E-48B2-A345-23CEF1334998}"/>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19211B"/>
                </a:solidFill>
                <a:latin typeface="Avenir Next"/>
                <a:ea typeface="Avenir Next"/>
                <a:cs typeface="Avenir Next"/>
              </a:defRPr>
            </a:pPr>
            <a:r>
              <a:rPr sz="4050" b="1">
                <a:solidFill>
                  <a:srgbClr val="19211B"/>
                </a:solidFill>
                <a:latin typeface="Avenir Next"/>
                <a:ea typeface="Avenir Next"/>
                <a:cs typeface="Avenir Next"/>
              </a:rPr>
              <a:t>What changes for a team</a:t>
            </a:r>
          </a:p>
        </p:txBody>
      </p:sp>
      <p:sp>
        <p:nvSpPr>
          <p:cNvPr id="3" name="01">
            <a:extLst>
              <a:ext uri="{FF2B5EF4-FFF2-40B4-BE49-F238E27FC236}">
                <a16:creationId xmlns:a16="http://schemas.microsoft.com/office/drawing/2014/main" id="{7D19B67F-41E0-4707-8EAC-B76233A69EAC}"/>
              </a:ext>
            </a:extLst>
          </p:cNvPr>
          <p:cNvSpPr>
            <a:spLocks noGrp="1"/>
          </p:cNvSpPr>
          <p:nvPr/>
        </p:nvSpPr>
        <p:spPr>
          <a:xfrm>
            <a:off x="609600" y="2095500"/>
            <a:ext cx="3416300"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01</a:t>
            </a:r>
          </a:p>
        </p:txBody>
      </p:sp>
      <p:sp>
        <p:nvSpPr>
          <p:cNvPr id="4" name="More direction">
            <a:extLst>
              <a:ext uri="{FF2B5EF4-FFF2-40B4-BE49-F238E27FC236}">
                <a16:creationId xmlns:a16="http://schemas.microsoft.com/office/drawing/2014/main" id="{C27EF8E3-AE5B-41EB-B3BE-6CFA2B23700E}"/>
              </a:ext>
            </a:extLst>
          </p:cNvPr>
          <p:cNvSpPr>
            <a:spLocks noGrp="1"/>
          </p:cNvSpPr>
          <p:nvPr/>
        </p:nvSpPr>
        <p:spPr>
          <a:xfrm>
            <a:off x="609600" y="2571750"/>
            <a:ext cx="3321050" cy="1047750"/>
          </a:xfrm>
          <a:prstGeom prst="rect">
            <a:avLst/>
          </a:prstGeom>
          <a:noFill/>
          <a:ln w="0">
            <a:noFill/>
          </a:ln>
        </p:spPr>
        <p:txBody>
          <a:bodyPr wrap="square" lIns="0" tIns="0" rIns="0" bIns="0">
            <a:noAutofit/>
          </a:bodyPr>
          <a:lstStyle/>
          <a:p>
            <a:pPr>
              <a:defRPr sz="2850" b="1">
                <a:solidFill>
                  <a:srgbClr val="19211B"/>
                </a:solidFill>
                <a:latin typeface="Avenir Next"/>
                <a:ea typeface="Avenir Next"/>
                <a:cs typeface="Avenir Next"/>
              </a:defRPr>
            </a:pPr>
            <a:r>
              <a:rPr sz="2850" b="1">
                <a:solidFill>
                  <a:srgbClr val="19211B"/>
                </a:solidFill>
                <a:latin typeface="Avenir Next"/>
                <a:ea typeface="Avenir Next"/>
                <a:cs typeface="Avenir Next"/>
              </a:rPr>
              <a:t>More direction</a:t>
            </a:r>
          </a:p>
        </p:txBody>
      </p:sp>
      <p:sp>
        <p:nvSpPr>
          <p:cNvPr id="5" name="People define the problem, constraints and system ">
            <a:extLst>
              <a:ext uri="{FF2B5EF4-FFF2-40B4-BE49-F238E27FC236}">
                <a16:creationId xmlns:a16="http://schemas.microsoft.com/office/drawing/2014/main" id="{A9FBD7DB-314C-49A3-92A6-15565944F075}"/>
              </a:ext>
            </a:extLst>
          </p:cNvPr>
          <p:cNvSpPr>
            <a:spLocks noGrp="1"/>
          </p:cNvSpPr>
          <p:nvPr/>
        </p:nvSpPr>
        <p:spPr>
          <a:xfrm>
            <a:off x="609600" y="3790950"/>
            <a:ext cx="3321050" cy="165735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People define the problem, constraints and system design.</a:t>
            </a:r>
          </a:p>
        </p:txBody>
      </p:sp>
      <p:sp>
        <p:nvSpPr>
          <p:cNvPr id="6" name="02">
            <a:extLst>
              <a:ext uri="{FF2B5EF4-FFF2-40B4-BE49-F238E27FC236}">
                <a16:creationId xmlns:a16="http://schemas.microsoft.com/office/drawing/2014/main" id="{A00A29AF-C196-4A63-A9C9-88C182DE3869}"/>
              </a:ext>
            </a:extLst>
          </p:cNvPr>
          <p:cNvSpPr>
            <a:spLocks noGrp="1"/>
          </p:cNvSpPr>
          <p:nvPr/>
        </p:nvSpPr>
        <p:spPr>
          <a:xfrm>
            <a:off x="4216400" y="2095500"/>
            <a:ext cx="3416300"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02</a:t>
            </a:r>
          </a:p>
        </p:txBody>
      </p:sp>
      <p:sp>
        <p:nvSpPr>
          <p:cNvPr id="7" name="More review">
            <a:extLst>
              <a:ext uri="{FF2B5EF4-FFF2-40B4-BE49-F238E27FC236}">
                <a16:creationId xmlns:a16="http://schemas.microsoft.com/office/drawing/2014/main" id="{66ACD48D-4983-4D6F-84E7-C861C306E96E}"/>
              </a:ext>
            </a:extLst>
          </p:cNvPr>
          <p:cNvSpPr>
            <a:spLocks noGrp="1"/>
          </p:cNvSpPr>
          <p:nvPr/>
        </p:nvSpPr>
        <p:spPr>
          <a:xfrm>
            <a:off x="4216400" y="2571750"/>
            <a:ext cx="3321050" cy="1047750"/>
          </a:xfrm>
          <a:prstGeom prst="rect">
            <a:avLst/>
          </a:prstGeom>
          <a:noFill/>
          <a:ln w="0">
            <a:noFill/>
          </a:ln>
        </p:spPr>
        <p:txBody>
          <a:bodyPr wrap="square" lIns="0" tIns="0" rIns="0" bIns="0">
            <a:noAutofit/>
          </a:bodyPr>
          <a:lstStyle/>
          <a:p>
            <a:pPr>
              <a:defRPr sz="2850" b="1">
                <a:solidFill>
                  <a:srgbClr val="19211B"/>
                </a:solidFill>
                <a:latin typeface="Avenir Next"/>
                <a:ea typeface="Avenir Next"/>
                <a:cs typeface="Avenir Next"/>
              </a:defRPr>
            </a:pPr>
            <a:r>
              <a:rPr sz="2850" b="1">
                <a:solidFill>
                  <a:srgbClr val="19211B"/>
                </a:solidFill>
                <a:latin typeface="Avenir Next"/>
                <a:ea typeface="Avenir Next"/>
                <a:cs typeface="Avenir Next"/>
              </a:rPr>
              <a:t>More review</a:t>
            </a:r>
          </a:p>
        </p:txBody>
      </p:sp>
      <p:sp>
        <p:nvSpPr>
          <p:cNvPr id="8" name="Someone owns correctness, security and maintainabi">
            <a:extLst>
              <a:ext uri="{FF2B5EF4-FFF2-40B4-BE49-F238E27FC236}">
                <a16:creationId xmlns:a16="http://schemas.microsoft.com/office/drawing/2014/main" id="{DBC9252E-2DE7-4AAE-98A2-A70E2EB8C414}"/>
              </a:ext>
            </a:extLst>
          </p:cNvPr>
          <p:cNvSpPr>
            <a:spLocks noGrp="1"/>
          </p:cNvSpPr>
          <p:nvPr/>
        </p:nvSpPr>
        <p:spPr>
          <a:xfrm>
            <a:off x="4216400" y="3790950"/>
            <a:ext cx="3321050" cy="165735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Someone owns correctness, security and maintainability.</a:t>
            </a:r>
          </a:p>
        </p:txBody>
      </p:sp>
      <p:sp>
        <p:nvSpPr>
          <p:cNvPr id="9" name="03">
            <a:extLst>
              <a:ext uri="{FF2B5EF4-FFF2-40B4-BE49-F238E27FC236}">
                <a16:creationId xmlns:a16="http://schemas.microsoft.com/office/drawing/2014/main" id="{D12F8F5C-328B-4CB5-887A-EF5EC0CF2449}"/>
              </a:ext>
            </a:extLst>
          </p:cNvPr>
          <p:cNvSpPr>
            <a:spLocks noGrp="1"/>
          </p:cNvSpPr>
          <p:nvPr/>
        </p:nvSpPr>
        <p:spPr>
          <a:xfrm>
            <a:off x="7823200" y="2095500"/>
            <a:ext cx="3416300"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03</a:t>
            </a:r>
          </a:p>
        </p:txBody>
      </p:sp>
      <p:sp>
        <p:nvSpPr>
          <p:cNvPr id="10" name="Shared context">
            <a:extLst>
              <a:ext uri="{FF2B5EF4-FFF2-40B4-BE49-F238E27FC236}">
                <a16:creationId xmlns:a16="http://schemas.microsoft.com/office/drawing/2014/main" id="{6C5B639D-9647-46EF-92A9-C6EB6D7D8EB6}"/>
              </a:ext>
            </a:extLst>
          </p:cNvPr>
          <p:cNvSpPr>
            <a:spLocks noGrp="1"/>
          </p:cNvSpPr>
          <p:nvPr/>
        </p:nvSpPr>
        <p:spPr>
          <a:xfrm>
            <a:off x="7823200" y="2571750"/>
            <a:ext cx="3321050" cy="1047750"/>
          </a:xfrm>
          <a:prstGeom prst="rect">
            <a:avLst/>
          </a:prstGeom>
          <a:noFill/>
          <a:ln w="0">
            <a:noFill/>
          </a:ln>
        </p:spPr>
        <p:txBody>
          <a:bodyPr wrap="square" lIns="0" tIns="0" rIns="0" bIns="0">
            <a:noAutofit/>
          </a:bodyPr>
          <a:lstStyle/>
          <a:p>
            <a:pPr>
              <a:defRPr sz="2850" b="1">
                <a:solidFill>
                  <a:srgbClr val="19211B"/>
                </a:solidFill>
                <a:latin typeface="Avenir Next"/>
                <a:ea typeface="Avenir Next"/>
                <a:cs typeface="Avenir Next"/>
              </a:defRPr>
            </a:pPr>
            <a:r>
              <a:rPr sz="2850" b="1">
                <a:solidFill>
                  <a:srgbClr val="19211B"/>
                </a:solidFill>
                <a:latin typeface="Avenir Next"/>
                <a:ea typeface="Avenir Next"/>
                <a:cs typeface="Avenir Next"/>
              </a:rPr>
              <a:t>Shared context</a:t>
            </a:r>
          </a:p>
        </p:txBody>
      </p:sp>
      <p:sp>
        <p:nvSpPr>
          <p:cNvPr id="11" name="The team keeps decisions and operating knowledge a">
            <a:extLst>
              <a:ext uri="{FF2B5EF4-FFF2-40B4-BE49-F238E27FC236}">
                <a16:creationId xmlns:a16="http://schemas.microsoft.com/office/drawing/2014/main" id="{FB692E6C-E3D2-4E1D-A178-3828218AA540}"/>
              </a:ext>
            </a:extLst>
          </p:cNvPr>
          <p:cNvSpPr>
            <a:spLocks noGrp="1"/>
          </p:cNvSpPr>
          <p:nvPr/>
        </p:nvSpPr>
        <p:spPr>
          <a:xfrm>
            <a:off x="7823200" y="3790950"/>
            <a:ext cx="3321050" cy="165735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The team keeps decisions and operating knowledge accessible.</a:t>
            </a:r>
          </a:p>
        </p:txBody>
      </p:sp>
      <p:sp>
        <p:nvSpPr>
          <p:cNvPr id="12" name="A useful team measure: working changes that stay w">
            <a:extLst>
              <a:ext uri="{FF2B5EF4-FFF2-40B4-BE49-F238E27FC236}">
                <a16:creationId xmlns:a16="http://schemas.microsoft.com/office/drawing/2014/main" id="{6E9DA92E-FBA9-4708-AE43-1DE810AC2E17}"/>
              </a:ext>
            </a:extLst>
          </p:cNvPr>
          <p:cNvSpPr>
            <a:spLocks noGrp="1"/>
          </p:cNvSpPr>
          <p:nvPr/>
        </p:nvSpPr>
        <p:spPr>
          <a:xfrm>
            <a:off x="609600" y="5619750"/>
            <a:ext cx="10858500" cy="523875"/>
          </a:xfrm>
          <a:prstGeom prst="rect">
            <a:avLst/>
          </a:prstGeom>
          <a:noFill/>
          <a:ln w="0">
            <a:noFill/>
          </a:ln>
        </p:spPr>
        <p:txBody>
          <a:bodyPr wrap="square" lIns="0" tIns="0" rIns="0" bIns="0">
            <a:noAutofit/>
          </a:bodyPr>
          <a:lstStyle/>
          <a:p>
            <a:pPr>
              <a:defRPr sz="2175" b="1">
                <a:solidFill>
                  <a:srgbClr val="38613C"/>
                </a:solidFill>
                <a:latin typeface="Avenir Next"/>
                <a:ea typeface="Avenir Next"/>
                <a:cs typeface="Avenir Next"/>
              </a:defRPr>
            </a:pPr>
            <a:r>
              <a:rPr sz="2175" b="1">
                <a:solidFill>
                  <a:srgbClr val="38613C"/>
                </a:solidFill>
                <a:latin typeface="Avenir Next"/>
                <a:ea typeface="Avenir Next"/>
                <a:cs typeface="Avenir Next"/>
              </a:rPr>
              <a:t>A useful team measure: working changes that stay working.</a:t>
            </a:r>
          </a:p>
        </p:txBody>
      </p:sp>
    </p:spTree>
    <p:extLst>
      <p:ext uri="{BB962C8B-B14F-4D97-AF65-F5344CB8AC3E}">
        <p14:creationId xmlns:p14="http://schemas.microsoft.com/office/powerpoint/2010/main" val="1150818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51716"/>
        </a:solidFill>
        <a:effectLst/>
      </p:bgPr>
    </p:bg>
    <p:spTree>
      <p:nvGrpSpPr>
        <p:cNvPr id="1" name=""/>
        <p:cNvGrpSpPr/>
        <p:nvPr/>
      </p:nvGrpSpPr>
      <p:grpSpPr>
        <a:xfrm>
          <a:off x="0" y="0"/>
          <a:ext cx="0" cy="0"/>
          <a:chOff x="0" y="0"/>
          <a:chExt cx="0" cy="0"/>
        </a:xfrm>
      </p:grpSpPr>
      <p:sp>
        <p:nvSpPr>
          <p:cNvPr id="9" name="23">
            <a:extLst>
              <a:ext uri="{FF2B5EF4-FFF2-40B4-BE49-F238E27FC236}">
                <a16:creationId xmlns:a16="http://schemas.microsoft.com/office/drawing/2014/main" id="{D93ABDBC-85A0-412F-8695-B52BF57504DD}"/>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A9B0A7"/>
                </a:solidFill>
                <a:latin typeface="JetBrains Mono"/>
                <a:ea typeface="JetBrains Mono"/>
                <a:cs typeface="JetBrains Mono"/>
              </a:defRPr>
            </a:pPr>
            <a:r>
              <a:rPr sz="1275" b="0">
                <a:solidFill>
                  <a:srgbClr val="A9B0A7"/>
                </a:solidFill>
                <a:latin typeface="JetBrains Mono"/>
                <a:ea typeface="JetBrains Mono"/>
                <a:cs typeface="JetBrains Mono"/>
              </a:rPr>
              <a:t>23</a:t>
            </a:r>
          </a:p>
        </p:txBody>
      </p:sp>
      <p:sp>
        <p:nvSpPr>
          <p:cNvPr id="2" name="Workshop: the same app, two prompts">
            <a:extLst>
              <a:ext uri="{FF2B5EF4-FFF2-40B4-BE49-F238E27FC236}">
                <a16:creationId xmlns:a16="http://schemas.microsoft.com/office/drawing/2014/main" id="{4F7C8C7E-8203-462F-876C-B2B1C6502974}"/>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F3F1E9"/>
                </a:solidFill>
                <a:latin typeface="Avenir Next"/>
                <a:ea typeface="Avenir Next"/>
                <a:cs typeface="Avenir Next"/>
              </a:defRPr>
            </a:pPr>
            <a:r>
              <a:rPr sz="4050" b="1">
                <a:solidFill>
                  <a:srgbClr val="F3F1E9"/>
                </a:solidFill>
                <a:latin typeface="Avenir Next"/>
                <a:ea typeface="Avenir Next"/>
                <a:cs typeface="Avenir Next"/>
              </a:rPr>
              <a:t>Workshop: the same app, two prompts</a:t>
            </a:r>
          </a:p>
        </p:txBody>
      </p:sp>
      <p:sp>
        <p:nvSpPr>
          <p:cNvPr id="3" name="BUILD “STILL”, A MEDITATION LANDING PAGE">
            <a:extLst>
              <a:ext uri="{FF2B5EF4-FFF2-40B4-BE49-F238E27FC236}">
                <a16:creationId xmlns:a16="http://schemas.microsoft.com/office/drawing/2014/main" id="{D64E7A15-FE30-4F16-A66A-D7D99B2BFDD6}"/>
              </a:ext>
            </a:extLst>
          </p:cNvPr>
          <p:cNvSpPr>
            <a:spLocks noGrp="1"/>
          </p:cNvSpPr>
          <p:nvPr/>
        </p:nvSpPr>
        <p:spPr>
          <a:xfrm>
            <a:off x="609600" y="1933575"/>
            <a:ext cx="10477500"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BUILD “STILL”, A MEDITATION LANDING PAGE</a:t>
            </a:r>
          </a:p>
        </p:txBody>
      </p:sp>
      <p:sp>
        <p:nvSpPr>
          <p:cNvPr id="4" name="A">
            <a:extLst>
              <a:ext uri="{FF2B5EF4-FFF2-40B4-BE49-F238E27FC236}">
                <a16:creationId xmlns:a16="http://schemas.microsoft.com/office/drawing/2014/main" id="{6AA8CBAC-DE54-4786-B754-C536DC0E8084}"/>
              </a:ext>
            </a:extLst>
          </p:cNvPr>
          <p:cNvSpPr>
            <a:spLocks noGrp="1"/>
          </p:cNvSpPr>
          <p:nvPr/>
        </p:nvSpPr>
        <p:spPr>
          <a:xfrm>
            <a:off x="609600" y="2466975"/>
            <a:ext cx="1809750" cy="1285875"/>
          </a:xfrm>
          <a:prstGeom prst="rect">
            <a:avLst/>
          </a:prstGeom>
          <a:noFill/>
          <a:ln w="0">
            <a:noFill/>
          </a:ln>
        </p:spPr>
        <p:txBody>
          <a:bodyPr wrap="square" lIns="0" tIns="0" rIns="0" bIns="0">
            <a:noAutofit/>
          </a:bodyPr>
          <a:lstStyle/>
          <a:p>
            <a:pPr>
              <a:defRPr sz="7725" b="1">
                <a:solidFill>
                  <a:srgbClr val="D2F85A"/>
                </a:solidFill>
                <a:latin typeface="Avenir Next"/>
                <a:ea typeface="Avenir Next"/>
                <a:cs typeface="Avenir Next"/>
              </a:defRPr>
            </a:pPr>
            <a:r>
              <a:rPr sz="7725" b="1">
                <a:solidFill>
                  <a:srgbClr val="D2F85A"/>
                </a:solidFill>
                <a:latin typeface="Avenir Next"/>
                <a:ea typeface="Avenir Next"/>
                <a:cs typeface="Avenir Next"/>
              </a:rPr>
              <a:t>A</a:t>
            </a:r>
          </a:p>
        </p:txBody>
      </p:sp>
      <p:sp>
        <p:nvSpPr>
          <p:cNvPr id="5" name="Vague prompt">
            <a:extLst>
              <a:ext uri="{FF2B5EF4-FFF2-40B4-BE49-F238E27FC236}">
                <a16:creationId xmlns:a16="http://schemas.microsoft.com/office/drawing/2014/main" id="{74D26C15-876C-4FFE-A7E9-2BD3257E2E4B}"/>
              </a:ext>
            </a:extLst>
          </p:cNvPr>
          <p:cNvSpPr>
            <a:spLocks noGrp="1"/>
          </p:cNvSpPr>
          <p:nvPr/>
        </p:nvSpPr>
        <p:spPr>
          <a:xfrm>
            <a:off x="2286000" y="2705100"/>
            <a:ext cx="8715375" cy="647700"/>
          </a:xfrm>
          <a:prstGeom prst="rect">
            <a:avLst/>
          </a:prstGeom>
          <a:noFill/>
          <a:ln w="0">
            <a:noFill/>
          </a:ln>
        </p:spPr>
        <p:txBody>
          <a:bodyPr wrap="square" lIns="0" tIns="0" rIns="0" bIns="0">
            <a:noAutofit/>
          </a:bodyPr>
          <a:lstStyle/>
          <a:p>
            <a:pPr>
              <a:defRPr sz="3600" b="1">
                <a:solidFill>
                  <a:srgbClr val="F3F1E9"/>
                </a:solidFill>
                <a:latin typeface="Avenir Next"/>
                <a:ea typeface="Avenir Next"/>
                <a:cs typeface="Avenir Next"/>
              </a:defRPr>
            </a:pPr>
            <a:r>
              <a:rPr sz="3600" b="1">
                <a:solidFill>
                  <a:srgbClr val="F3F1E9"/>
                </a:solidFill>
                <a:latin typeface="Avenir Next"/>
                <a:ea typeface="Avenir Next"/>
                <a:cs typeface="Avenir Next"/>
              </a:rPr>
              <a:t>Vague prompt</a:t>
            </a:r>
          </a:p>
        </p:txBody>
      </p:sp>
      <p:sp>
        <p:nvSpPr>
          <p:cNvPr id="6" name="B">
            <a:extLst>
              <a:ext uri="{FF2B5EF4-FFF2-40B4-BE49-F238E27FC236}">
                <a16:creationId xmlns:a16="http://schemas.microsoft.com/office/drawing/2014/main" id="{127EE818-D7A3-47BE-9148-87F9C75A6804}"/>
              </a:ext>
            </a:extLst>
          </p:cNvPr>
          <p:cNvSpPr>
            <a:spLocks noGrp="1"/>
          </p:cNvSpPr>
          <p:nvPr/>
        </p:nvSpPr>
        <p:spPr>
          <a:xfrm>
            <a:off x="609600" y="3924300"/>
            <a:ext cx="1809750" cy="1285875"/>
          </a:xfrm>
          <a:prstGeom prst="rect">
            <a:avLst/>
          </a:prstGeom>
          <a:noFill/>
          <a:ln w="0">
            <a:noFill/>
          </a:ln>
        </p:spPr>
        <p:txBody>
          <a:bodyPr wrap="square" lIns="0" tIns="0" rIns="0" bIns="0">
            <a:noAutofit/>
          </a:bodyPr>
          <a:lstStyle/>
          <a:p>
            <a:pPr>
              <a:defRPr sz="7725" b="1">
                <a:solidFill>
                  <a:srgbClr val="D2F85A"/>
                </a:solidFill>
                <a:latin typeface="Avenir Next"/>
                <a:ea typeface="Avenir Next"/>
                <a:cs typeface="Avenir Next"/>
              </a:defRPr>
            </a:pPr>
            <a:r>
              <a:rPr sz="7725" b="1">
                <a:solidFill>
                  <a:srgbClr val="D2F85A"/>
                </a:solidFill>
                <a:latin typeface="Avenir Next"/>
                <a:ea typeface="Avenir Next"/>
                <a:cs typeface="Avenir Next"/>
              </a:rPr>
              <a:t>B</a:t>
            </a:r>
          </a:p>
        </p:txBody>
      </p:sp>
      <p:sp>
        <p:nvSpPr>
          <p:cNvPr id="7" name="Specific prompt">
            <a:extLst>
              <a:ext uri="{FF2B5EF4-FFF2-40B4-BE49-F238E27FC236}">
                <a16:creationId xmlns:a16="http://schemas.microsoft.com/office/drawing/2014/main" id="{E81EE667-EAE7-47ED-993A-B50AA6F26709}"/>
              </a:ext>
            </a:extLst>
          </p:cNvPr>
          <p:cNvSpPr>
            <a:spLocks noGrp="1"/>
          </p:cNvSpPr>
          <p:nvPr/>
        </p:nvSpPr>
        <p:spPr>
          <a:xfrm>
            <a:off x="2286000" y="4171950"/>
            <a:ext cx="8715375" cy="647700"/>
          </a:xfrm>
          <a:prstGeom prst="rect">
            <a:avLst/>
          </a:prstGeom>
          <a:noFill/>
          <a:ln w="0">
            <a:noFill/>
          </a:ln>
        </p:spPr>
        <p:txBody>
          <a:bodyPr wrap="square" lIns="0" tIns="0" rIns="0" bIns="0">
            <a:noAutofit/>
          </a:bodyPr>
          <a:lstStyle/>
          <a:p>
            <a:pPr>
              <a:defRPr sz="3600" b="1">
                <a:solidFill>
                  <a:srgbClr val="F3F1E9"/>
                </a:solidFill>
                <a:latin typeface="Avenir Next"/>
                <a:ea typeface="Avenir Next"/>
                <a:cs typeface="Avenir Next"/>
              </a:defRPr>
            </a:pPr>
            <a:r>
              <a:rPr sz="3600" b="1">
                <a:solidFill>
                  <a:srgbClr val="F3F1E9"/>
                </a:solidFill>
                <a:latin typeface="Avenir Next"/>
                <a:ea typeface="Avenir Next"/>
                <a:cs typeface="Avenir Next"/>
              </a:rPr>
              <a:t>Specific prompt</a:t>
            </a:r>
          </a:p>
        </p:txBody>
      </p:sp>
      <p:sp>
        <p:nvSpPr>
          <p:cNvPr id="8" name="Same tool. Same model. Fresh projects. Then compar">
            <a:extLst>
              <a:ext uri="{FF2B5EF4-FFF2-40B4-BE49-F238E27FC236}">
                <a16:creationId xmlns:a16="http://schemas.microsoft.com/office/drawing/2014/main" id="{0668C4FA-2172-4EFA-9F99-5B550EBC15A0}"/>
              </a:ext>
            </a:extLst>
          </p:cNvPr>
          <p:cNvSpPr>
            <a:spLocks noGrp="1"/>
          </p:cNvSpPr>
          <p:nvPr/>
        </p:nvSpPr>
        <p:spPr>
          <a:xfrm>
            <a:off x="609600" y="5657850"/>
            <a:ext cx="10858500" cy="457200"/>
          </a:xfrm>
          <a:prstGeom prst="rect">
            <a:avLst/>
          </a:prstGeom>
          <a:noFill/>
          <a:ln w="0">
            <a:noFill/>
          </a:ln>
        </p:spPr>
        <p:txBody>
          <a:bodyPr wrap="square" lIns="0" tIns="0" rIns="0" bIns="0">
            <a:noAutofit/>
          </a:bodyPr>
          <a:lstStyle/>
          <a:p>
            <a:pPr>
              <a:defRPr sz="2100" b="0">
                <a:solidFill>
                  <a:srgbClr val="A9B0A7"/>
                </a:solidFill>
                <a:latin typeface="Avenir Next"/>
                <a:ea typeface="Avenir Next"/>
                <a:cs typeface="Avenir Next"/>
              </a:defRPr>
            </a:pPr>
            <a:r>
              <a:rPr sz="2100" b="0">
                <a:solidFill>
                  <a:srgbClr val="A9B0A7"/>
                </a:solidFill>
                <a:latin typeface="Avenir Next"/>
                <a:ea typeface="Avenir Next"/>
                <a:cs typeface="Avenir Next"/>
              </a:rPr>
              <a:t>Same tool. Same model. Fresh projects. Then compare.</a:t>
            </a:r>
          </a:p>
        </p:txBody>
      </p:sp>
    </p:spTree>
    <p:extLst>
      <p:ext uri="{BB962C8B-B14F-4D97-AF65-F5344CB8AC3E}">
        <p14:creationId xmlns:p14="http://schemas.microsoft.com/office/powerpoint/2010/main" val="1877149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3F1E9"/>
        </a:solidFill>
        <a:effectLst/>
      </p:bgPr>
    </p:bg>
    <p:spTree>
      <p:nvGrpSpPr>
        <p:cNvPr id="1" name=""/>
        <p:cNvGrpSpPr/>
        <p:nvPr/>
      </p:nvGrpSpPr>
      <p:grpSpPr>
        <a:xfrm>
          <a:off x="0" y="0"/>
          <a:ext cx="0" cy="0"/>
          <a:chOff x="0" y="0"/>
          <a:chExt cx="0" cy="0"/>
        </a:xfrm>
      </p:grpSpPr>
      <p:sp>
        <p:nvSpPr>
          <p:cNvPr id="16" name="24">
            <a:extLst>
              <a:ext uri="{FF2B5EF4-FFF2-40B4-BE49-F238E27FC236}">
                <a16:creationId xmlns:a16="http://schemas.microsoft.com/office/drawing/2014/main" id="{A3B25215-8662-4A91-A9F8-E4DF5E75D361}"/>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576152"/>
                </a:solidFill>
                <a:latin typeface="JetBrains Mono"/>
                <a:ea typeface="JetBrains Mono"/>
                <a:cs typeface="JetBrains Mono"/>
              </a:defRPr>
            </a:pPr>
            <a:r>
              <a:rPr sz="1275" b="0">
                <a:solidFill>
                  <a:srgbClr val="576152"/>
                </a:solidFill>
                <a:latin typeface="JetBrains Mono"/>
                <a:ea typeface="JetBrains Mono"/>
                <a:cs typeface="JetBrains Mono"/>
              </a:rPr>
              <a:t>24</a:t>
            </a:r>
          </a:p>
        </p:txBody>
      </p:sp>
      <p:sp>
        <p:nvSpPr>
          <p:cNvPr id="2" name="What counts as done?">
            <a:extLst>
              <a:ext uri="{FF2B5EF4-FFF2-40B4-BE49-F238E27FC236}">
                <a16:creationId xmlns:a16="http://schemas.microsoft.com/office/drawing/2014/main" id="{90F371E0-0BBF-4119-9BFA-5A74239BC8EE}"/>
              </a:ext>
            </a:extLst>
          </p:cNvPr>
          <p:cNvSpPr>
            <a:spLocks noGrp="1"/>
          </p:cNvSpPr>
          <p:nvPr/>
        </p:nvSpPr>
        <p:spPr>
          <a:xfrm>
            <a:off x="609600" y="590550"/>
            <a:ext cx="10934700" cy="1000125"/>
          </a:xfrm>
          <a:prstGeom prst="rect">
            <a:avLst/>
          </a:prstGeom>
          <a:noFill/>
          <a:ln w="0">
            <a:noFill/>
          </a:ln>
        </p:spPr>
        <p:txBody>
          <a:bodyPr wrap="square" lIns="0" tIns="0" rIns="0" bIns="0">
            <a:noAutofit/>
          </a:bodyPr>
          <a:lstStyle/>
          <a:p>
            <a:pPr>
              <a:defRPr sz="4050" b="1">
                <a:solidFill>
                  <a:srgbClr val="19211B"/>
                </a:solidFill>
                <a:latin typeface="Avenir Next"/>
                <a:ea typeface="Avenir Next"/>
                <a:cs typeface="Avenir Next"/>
              </a:defRPr>
            </a:pPr>
            <a:r>
              <a:rPr sz="4050" b="1">
                <a:solidFill>
                  <a:srgbClr val="19211B"/>
                </a:solidFill>
                <a:latin typeface="Avenir Next"/>
                <a:ea typeface="Avenir Next"/>
                <a:cs typeface="Avenir Next"/>
              </a:rPr>
              <a:t>What counts as done?</a:t>
            </a:r>
          </a:p>
        </p:txBody>
      </p:sp>
      <p:sp>
        <p:nvSpPr>
          <p:cNvPr id="3" name="01">
            <a:extLst>
              <a:ext uri="{FF2B5EF4-FFF2-40B4-BE49-F238E27FC236}">
                <a16:creationId xmlns:a16="http://schemas.microsoft.com/office/drawing/2014/main" id="{EA139395-241F-4ED1-9D99-0794D5F39674}"/>
              </a:ext>
            </a:extLst>
          </p:cNvPr>
          <p:cNvSpPr>
            <a:spLocks noGrp="1"/>
          </p:cNvSpPr>
          <p:nvPr/>
        </p:nvSpPr>
        <p:spPr>
          <a:xfrm>
            <a:off x="609600" y="1971675"/>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01</a:t>
            </a:r>
          </a:p>
        </p:txBody>
      </p:sp>
      <p:sp>
        <p:nvSpPr>
          <p:cNvPr id="4" name="The page matches">
            <a:extLst>
              <a:ext uri="{FF2B5EF4-FFF2-40B4-BE49-F238E27FC236}">
                <a16:creationId xmlns:a16="http://schemas.microsoft.com/office/drawing/2014/main" id="{49951481-1B81-44E3-B288-482467065E30}"/>
              </a:ext>
            </a:extLst>
          </p:cNvPr>
          <p:cNvSpPr>
            <a:spLocks noGrp="1"/>
          </p:cNvSpPr>
          <p:nvPr/>
        </p:nvSpPr>
        <p:spPr>
          <a:xfrm>
            <a:off x="1409700" y="1905000"/>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The page matches</a:t>
            </a:r>
          </a:p>
        </p:txBody>
      </p:sp>
      <p:sp>
        <p:nvSpPr>
          <p:cNvPr id="5" name="Student audience, cream and sage, clear session ac">
            <a:extLst>
              <a:ext uri="{FF2B5EF4-FFF2-40B4-BE49-F238E27FC236}">
                <a16:creationId xmlns:a16="http://schemas.microsoft.com/office/drawing/2014/main" id="{A28E5D21-CA3A-4125-BD0E-9E7CDA458584}"/>
              </a:ext>
            </a:extLst>
          </p:cNvPr>
          <p:cNvSpPr>
            <a:spLocks noGrp="1"/>
          </p:cNvSpPr>
          <p:nvPr/>
        </p:nvSpPr>
        <p:spPr>
          <a:xfrm>
            <a:off x="5457825" y="1943100"/>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Student audience, cream and sage, clear session action.</a:t>
            </a:r>
          </a:p>
        </p:txBody>
      </p:sp>
      <p:sp>
        <p:nvSpPr>
          <p:cNvPr id="6" name="02">
            <a:extLst>
              <a:ext uri="{FF2B5EF4-FFF2-40B4-BE49-F238E27FC236}">
                <a16:creationId xmlns:a16="http://schemas.microsoft.com/office/drawing/2014/main" id="{8C112315-44AA-4F92-BAF4-4B0D73704D8C}"/>
              </a:ext>
            </a:extLst>
          </p:cNvPr>
          <p:cNvSpPr>
            <a:spLocks noGrp="1"/>
          </p:cNvSpPr>
          <p:nvPr/>
        </p:nvSpPr>
        <p:spPr>
          <a:xfrm>
            <a:off x="609600" y="2886075"/>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02</a:t>
            </a:r>
          </a:p>
        </p:txBody>
      </p:sp>
      <p:sp>
        <p:nvSpPr>
          <p:cNvPr id="7" name="The actions work">
            <a:extLst>
              <a:ext uri="{FF2B5EF4-FFF2-40B4-BE49-F238E27FC236}">
                <a16:creationId xmlns:a16="http://schemas.microsoft.com/office/drawing/2014/main" id="{1BC4E05D-C1C4-4365-9135-6178D33E40DF}"/>
              </a:ext>
            </a:extLst>
          </p:cNvPr>
          <p:cNvSpPr>
            <a:spLocks noGrp="1"/>
          </p:cNvSpPr>
          <p:nvPr/>
        </p:nvSpPr>
        <p:spPr>
          <a:xfrm>
            <a:off x="1409700" y="2819400"/>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The actions work</a:t>
            </a:r>
          </a:p>
        </p:txBody>
      </p:sp>
      <p:sp>
        <p:nvSpPr>
          <p:cNvPr id="8" name="Both buttons open the breathing exercise.">
            <a:extLst>
              <a:ext uri="{FF2B5EF4-FFF2-40B4-BE49-F238E27FC236}">
                <a16:creationId xmlns:a16="http://schemas.microsoft.com/office/drawing/2014/main" id="{92758657-57C7-4B51-AD70-62F645E4E824}"/>
              </a:ext>
            </a:extLst>
          </p:cNvPr>
          <p:cNvSpPr>
            <a:spLocks noGrp="1"/>
          </p:cNvSpPr>
          <p:nvPr/>
        </p:nvSpPr>
        <p:spPr>
          <a:xfrm>
            <a:off x="5457825" y="2857500"/>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Both buttons open the breathing exercise.</a:t>
            </a:r>
          </a:p>
        </p:txBody>
      </p:sp>
      <p:sp>
        <p:nvSpPr>
          <p:cNvPr id="9" name="03">
            <a:extLst>
              <a:ext uri="{FF2B5EF4-FFF2-40B4-BE49-F238E27FC236}">
                <a16:creationId xmlns:a16="http://schemas.microsoft.com/office/drawing/2014/main" id="{FC3780E8-2C91-45A0-9BA8-0E605117F8CC}"/>
              </a:ext>
            </a:extLst>
          </p:cNvPr>
          <p:cNvSpPr>
            <a:spLocks noGrp="1"/>
          </p:cNvSpPr>
          <p:nvPr/>
        </p:nvSpPr>
        <p:spPr>
          <a:xfrm>
            <a:off x="609600" y="3800475"/>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03</a:t>
            </a:r>
          </a:p>
        </p:txBody>
      </p:sp>
      <p:sp>
        <p:nvSpPr>
          <p:cNvPr id="10" name="Timer behaviour">
            <a:extLst>
              <a:ext uri="{FF2B5EF4-FFF2-40B4-BE49-F238E27FC236}">
                <a16:creationId xmlns:a16="http://schemas.microsoft.com/office/drawing/2014/main" id="{658E3EAC-E2C6-443C-8FFD-5FE3973B5AB0}"/>
              </a:ext>
            </a:extLst>
          </p:cNvPr>
          <p:cNvSpPr>
            <a:spLocks noGrp="1"/>
          </p:cNvSpPr>
          <p:nvPr/>
        </p:nvSpPr>
        <p:spPr>
          <a:xfrm>
            <a:off x="1409700" y="3733800"/>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Timer behaviour</a:t>
            </a:r>
          </a:p>
        </p:txBody>
      </p:sp>
      <p:sp>
        <p:nvSpPr>
          <p:cNvPr id="11" name="Start, pause, reset and completion all work.">
            <a:extLst>
              <a:ext uri="{FF2B5EF4-FFF2-40B4-BE49-F238E27FC236}">
                <a16:creationId xmlns:a16="http://schemas.microsoft.com/office/drawing/2014/main" id="{78167127-F68E-480D-A92E-285E700A8CD5}"/>
              </a:ext>
            </a:extLst>
          </p:cNvPr>
          <p:cNvSpPr>
            <a:spLocks noGrp="1"/>
          </p:cNvSpPr>
          <p:nvPr/>
        </p:nvSpPr>
        <p:spPr>
          <a:xfrm>
            <a:off x="5457825" y="3771900"/>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Start, pause, reset and completion all work.</a:t>
            </a:r>
          </a:p>
        </p:txBody>
      </p:sp>
      <p:sp>
        <p:nvSpPr>
          <p:cNvPr id="12" name="04">
            <a:extLst>
              <a:ext uri="{FF2B5EF4-FFF2-40B4-BE49-F238E27FC236}">
                <a16:creationId xmlns:a16="http://schemas.microsoft.com/office/drawing/2014/main" id="{21FCA8EB-F9BD-48FF-9F9F-543577B7BB5C}"/>
              </a:ext>
            </a:extLst>
          </p:cNvPr>
          <p:cNvSpPr>
            <a:spLocks noGrp="1"/>
          </p:cNvSpPr>
          <p:nvPr/>
        </p:nvSpPr>
        <p:spPr>
          <a:xfrm>
            <a:off x="609600" y="4714875"/>
            <a:ext cx="619125" cy="285750"/>
          </a:xfrm>
          <a:prstGeom prst="rect">
            <a:avLst/>
          </a:prstGeom>
          <a:noFill/>
          <a:ln w="0">
            <a:noFill/>
          </a:ln>
        </p:spPr>
        <p:txBody>
          <a:bodyPr wrap="square" lIns="0" tIns="0" rIns="0" bIns="0">
            <a:noAutofit/>
          </a:bodyPr>
          <a:lstStyle/>
          <a:p>
            <a:pPr>
              <a:defRPr sz="1275" b="1">
                <a:solidFill>
                  <a:srgbClr val="38613C"/>
                </a:solidFill>
                <a:latin typeface="JetBrains Mono"/>
                <a:ea typeface="JetBrains Mono"/>
                <a:cs typeface="JetBrains Mono"/>
              </a:defRPr>
            </a:pPr>
            <a:r>
              <a:rPr sz="1275" b="1">
                <a:solidFill>
                  <a:srgbClr val="38613C"/>
                </a:solidFill>
                <a:latin typeface="JetBrains Mono"/>
                <a:ea typeface="JetBrains Mono"/>
                <a:cs typeface="JetBrains Mono"/>
              </a:rPr>
              <a:t>04</a:t>
            </a:r>
          </a:p>
        </p:txBody>
      </p:sp>
      <p:sp>
        <p:nvSpPr>
          <p:cNvPr id="13" name="People can use it">
            <a:extLst>
              <a:ext uri="{FF2B5EF4-FFF2-40B4-BE49-F238E27FC236}">
                <a16:creationId xmlns:a16="http://schemas.microsoft.com/office/drawing/2014/main" id="{7322798F-CD9A-45D6-9211-8D91EB284BC0}"/>
              </a:ext>
            </a:extLst>
          </p:cNvPr>
          <p:cNvSpPr>
            <a:spLocks noGrp="1"/>
          </p:cNvSpPr>
          <p:nvPr/>
        </p:nvSpPr>
        <p:spPr>
          <a:xfrm>
            <a:off x="1409700" y="4648200"/>
            <a:ext cx="3667125" cy="590550"/>
          </a:xfrm>
          <a:prstGeom prst="rect">
            <a:avLst/>
          </a:prstGeom>
          <a:noFill/>
          <a:ln w="0">
            <a:noFill/>
          </a:ln>
        </p:spPr>
        <p:txBody>
          <a:bodyPr wrap="square" lIns="0" tIns="0" rIns="0" bIns="0">
            <a:noAutofit/>
          </a:bodyPr>
          <a:lstStyle/>
          <a:p>
            <a:pPr>
              <a:defRPr sz="2400" b="1">
                <a:solidFill>
                  <a:srgbClr val="19211B"/>
                </a:solidFill>
                <a:latin typeface="Avenir Next"/>
                <a:ea typeface="Avenir Next"/>
                <a:cs typeface="Avenir Next"/>
              </a:defRPr>
            </a:pPr>
            <a:r>
              <a:rPr sz="2400" b="1">
                <a:solidFill>
                  <a:srgbClr val="19211B"/>
                </a:solidFill>
                <a:latin typeface="Avenir Next"/>
                <a:ea typeface="Avenir Next"/>
                <a:cs typeface="Avenir Next"/>
              </a:rPr>
              <a:t>People can use it</a:t>
            </a:r>
          </a:p>
        </p:txBody>
      </p:sp>
      <p:sp>
        <p:nvSpPr>
          <p:cNvPr id="14" name="Mobile layout, keyboard access and reduced motion.">
            <a:extLst>
              <a:ext uri="{FF2B5EF4-FFF2-40B4-BE49-F238E27FC236}">
                <a16:creationId xmlns:a16="http://schemas.microsoft.com/office/drawing/2014/main" id="{E871ABED-7AE3-4663-82B5-F7D820047F28}"/>
              </a:ext>
            </a:extLst>
          </p:cNvPr>
          <p:cNvSpPr>
            <a:spLocks noGrp="1"/>
          </p:cNvSpPr>
          <p:nvPr/>
        </p:nvSpPr>
        <p:spPr>
          <a:xfrm>
            <a:off x="5457825" y="4686300"/>
            <a:ext cx="5905500" cy="762000"/>
          </a:xfrm>
          <a:prstGeom prst="rect">
            <a:avLst/>
          </a:prstGeom>
          <a:noFill/>
          <a:ln w="0">
            <a:noFill/>
          </a:ln>
        </p:spPr>
        <p:txBody>
          <a:bodyPr wrap="square" lIns="0" tIns="0" rIns="0" bIns="0">
            <a:noAutofit/>
          </a:bodyPr>
          <a:lstStyle/>
          <a:p>
            <a:pPr>
              <a:defRPr sz="2025" b="0">
                <a:solidFill>
                  <a:srgbClr val="576152"/>
                </a:solidFill>
                <a:latin typeface="Avenir Next"/>
                <a:ea typeface="Avenir Next"/>
                <a:cs typeface="Avenir Next"/>
              </a:defRPr>
            </a:pPr>
            <a:r>
              <a:rPr sz="2025" b="0">
                <a:solidFill>
                  <a:srgbClr val="576152"/>
                </a:solidFill>
                <a:latin typeface="Avenir Next"/>
                <a:ea typeface="Avenir Next"/>
                <a:cs typeface="Avenir Next"/>
              </a:rPr>
              <a:t>Mobile layout, keyboard access and reduced motion.</a:t>
            </a:r>
          </a:p>
        </p:txBody>
      </p:sp>
      <p:sp>
        <p:nvSpPr>
          <p:cNvPr id="15" name="What did you specify, and what did the AI decide f">
            <a:extLst>
              <a:ext uri="{FF2B5EF4-FFF2-40B4-BE49-F238E27FC236}">
                <a16:creationId xmlns:a16="http://schemas.microsoft.com/office/drawing/2014/main" id="{5E09D8BE-BCBE-4493-ABA6-E25EA3D44D22}"/>
              </a:ext>
            </a:extLst>
          </p:cNvPr>
          <p:cNvSpPr>
            <a:spLocks noGrp="1"/>
          </p:cNvSpPr>
          <p:nvPr/>
        </p:nvSpPr>
        <p:spPr>
          <a:xfrm>
            <a:off x="609600" y="5734050"/>
            <a:ext cx="10858500" cy="466725"/>
          </a:xfrm>
          <a:prstGeom prst="rect">
            <a:avLst/>
          </a:prstGeom>
          <a:noFill/>
          <a:ln w="0">
            <a:noFill/>
          </a:ln>
        </p:spPr>
        <p:txBody>
          <a:bodyPr wrap="square" lIns="0" tIns="0" rIns="0" bIns="0">
            <a:noAutofit/>
          </a:bodyPr>
          <a:lstStyle/>
          <a:p>
            <a:pPr>
              <a:defRPr sz="2100" b="1">
                <a:solidFill>
                  <a:srgbClr val="38613C"/>
                </a:solidFill>
                <a:latin typeface="Avenir Next"/>
                <a:ea typeface="Avenir Next"/>
                <a:cs typeface="Avenir Next"/>
              </a:defRPr>
            </a:pPr>
            <a:r>
              <a:rPr sz="2100" b="1">
                <a:solidFill>
                  <a:srgbClr val="38613C"/>
                </a:solidFill>
                <a:latin typeface="Avenir Next"/>
                <a:ea typeface="Avenir Next"/>
                <a:cs typeface="Avenir Next"/>
              </a:rPr>
              <a:t>What did you specify, and what did the AI decide for you?</a:t>
            </a:r>
          </a:p>
        </p:txBody>
      </p:sp>
    </p:spTree>
    <p:extLst>
      <p:ext uri="{BB962C8B-B14F-4D97-AF65-F5344CB8AC3E}">
        <p14:creationId xmlns:p14="http://schemas.microsoft.com/office/powerpoint/2010/main" val="856241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51716"/>
        </a:solidFill>
        <a:effectLst/>
      </p:bgPr>
    </p:bg>
    <p:spTree>
      <p:nvGrpSpPr>
        <p:cNvPr id="1" name=""/>
        <p:cNvGrpSpPr/>
        <p:nvPr/>
      </p:nvGrpSpPr>
      <p:grpSpPr>
        <a:xfrm>
          <a:off x="0" y="0"/>
          <a:ext cx="0" cy="0"/>
          <a:chOff x="0" y="0"/>
          <a:chExt cx="0" cy="0"/>
        </a:xfrm>
      </p:grpSpPr>
      <p:sp>
        <p:nvSpPr>
          <p:cNvPr id="7" name="25">
            <a:extLst>
              <a:ext uri="{FF2B5EF4-FFF2-40B4-BE49-F238E27FC236}">
                <a16:creationId xmlns:a16="http://schemas.microsoft.com/office/drawing/2014/main" id="{8BA70624-8D31-4978-B293-72E024519C67}"/>
              </a:ext>
            </a:extLst>
          </p:cNvPr>
          <p:cNvSpPr>
            <a:spLocks noGrp="1"/>
          </p:cNvSpPr>
          <p:nvPr/>
        </p:nvSpPr>
        <p:spPr>
          <a:xfrm>
            <a:off x="11144250" y="6276975"/>
            <a:ext cx="428625" cy="238125"/>
          </a:xfrm>
          <a:prstGeom prst="rect">
            <a:avLst/>
          </a:prstGeom>
          <a:noFill/>
          <a:ln w="0">
            <a:noFill/>
          </a:ln>
        </p:spPr>
        <p:txBody>
          <a:bodyPr wrap="square" lIns="0" tIns="0" rIns="0" bIns="0">
            <a:noAutofit/>
          </a:bodyPr>
          <a:lstStyle/>
          <a:p>
            <a:pPr>
              <a:defRPr sz="1275" b="0">
                <a:solidFill>
                  <a:srgbClr val="A9B0A7"/>
                </a:solidFill>
                <a:latin typeface="JetBrains Mono"/>
                <a:ea typeface="JetBrains Mono"/>
                <a:cs typeface="JetBrains Mono"/>
              </a:defRPr>
            </a:pPr>
            <a:r>
              <a:rPr sz="1275" b="0">
                <a:solidFill>
                  <a:srgbClr val="A9B0A7"/>
                </a:solidFill>
                <a:latin typeface="JetBrains Mono"/>
                <a:ea typeface="JetBrains Mono"/>
                <a:cs typeface="JetBrains Mono"/>
              </a:rPr>
              <a:t>25</a:t>
            </a:r>
          </a:p>
        </p:txBody>
      </p:sp>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sp>
        <p:nvSpPr>
          <p:cNvPr id="3" name="DISCUSSION">
            <a:extLst>
              <a:ext uri="{FF2B5EF4-FFF2-40B4-BE49-F238E27FC236}">
                <a16:creationId xmlns:a16="http://schemas.microsoft.com/office/drawing/2014/main" id="{2E7FCF16-EDFC-4A41-93C7-9BB282F4BBC0}"/>
              </a:ext>
            </a:extLst>
          </p:cNvPr>
          <p:cNvSpPr>
            <a:spLocks noGrp="1"/>
          </p:cNvSpPr>
          <p:nvPr/>
        </p:nvSpPr>
        <p:spPr>
          <a:xfrm>
            <a:off x="609600" y="561975"/>
            <a:ext cx="6667500" cy="285750"/>
          </a:xfrm>
          <a:prstGeom prst="rect">
            <a:avLst/>
          </a:prstGeom>
          <a:noFill/>
          <a:ln w="0">
            <a:noFill/>
          </a:ln>
        </p:spPr>
        <p:txBody>
          <a:bodyPr wrap="square" lIns="0" tIns="0" rIns="0" bIns="0">
            <a:noAutofit/>
          </a:bodyPr>
          <a:lstStyle/>
          <a:p>
            <a:pPr>
              <a:defRPr sz="1275" b="1">
                <a:solidFill>
                  <a:srgbClr val="D2F85A"/>
                </a:solidFill>
                <a:latin typeface="JetBrains Mono"/>
                <a:ea typeface="JetBrains Mono"/>
                <a:cs typeface="JetBrains Mono"/>
              </a:defRPr>
            </a:pPr>
            <a:r>
              <a:rPr sz="1275" b="1">
                <a:solidFill>
                  <a:srgbClr val="D2F85A"/>
                </a:solidFill>
                <a:latin typeface="JetBrains Mono"/>
                <a:ea typeface="JetBrains Mono"/>
                <a:cs typeface="JetBrains Mono"/>
              </a:rPr>
              <a:t>DISCUSSION</a:t>
            </a:r>
          </a:p>
        </p:txBody>
      </p:sp>
      <p:sp>
        <p:nvSpPr>
          <p:cNvPr id="4" name="What would&#10;you build?">
            <a:extLst>
              <a:ext uri="{FF2B5EF4-FFF2-40B4-BE49-F238E27FC236}">
                <a16:creationId xmlns:a16="http://schemas.microsoft.com/office/drawing/2014/main" id="{D527CBC0-9013-4E1D-8831-D9E6DF0612CD}"/>
              </a:ext>
            </a:extLst>
          </p:cNvPr>
          <p:cNvSpPr>
            <a:spLocks noGrp="1"/>
          </p:cNvSpPr>
          <p:nvPr/>
        </p:nvSpPr>
        <p:spPr>
          <a:xfrm>
            <a:off x="609600" y="1790700"/>
            <a:ext cx="8953500" cy="2400300"/>
          </a:xfrm>
          <a:prstGeom prst="rect">
            <a:avLst/>
          </a:prstGeom>
          <a:noFill/>
          <a:ln w="0">
            <a:noFill/>
          </a:ln>
        </p:spPr>
        <p:txBody>
          <a:bodyPr wrap="square" lIns="0" tIns="0" rIns="0" bIns="0">
            <a:noAutofit/>
          </a:bodyPr>
          <a:lstStyle/>
          <a:p>
            <a:pPr>
              <a:defRPr sz="7200" b="1">
                <a:solidFill>
                  <a:srgbClr val="F3F1E9"/>
                </a:solidFill>
                <a:latin typeface="Avenir Next"/>
                <a:ea typeface="Avenir Next"/>
                <a:cs typeface="Avenir Next"/>
              </a:defRPr>
            </a:pPr>
            <a:r>
              <a:rPr sz="7200" b="1">
                <a:solidFill>
                  <a:srgbClr val="F3F1E9"/>
                </a:solidFill>
                <a:latin typeface="Avenir Next"/>
                <a:ea typeface="Avenir Next"/>
                <a:cs typeface="Avenir Next"/>
              </a:rPr>
              <a:t>What would</a:t>
            </a:r>
          </a:p>
          <a:p>
            <a:pPr>
              <a:defRPr sz="7200" b="1">
                <a:solidFill>
                  <a:srgbClr val="F3F1E9"/>
                </a:solidFill>
                <a:latin typeface="Avenir Next"/>
                <a:ea typeface="Avenir Next"/>
                <a:cs typeface="Avenir Next"/>
              </a:defRPr>
            </a:pPr>
            <a:r>
              <a:rPr sz="7200" b="1">
                <a:solidFill>
                  <a:srgbClr val="F3F1E9"/>
                </a:solidFill>
                <a:latin typeface="Avenir Next"/>
                <a:ea typeface="Avenir Next"/>
                <a:cs typeface="Avenir Next"/>
              </a:rPr>
              <a:t>you build?</a:t>
            </a:r>
          </a:p>
        </p:txBody>
      </p:sp>
      <p:sp>
        <p:nvSpPr>
          <p:cNvPr id="5" name="And how would you know it works?">
            <a:extLst>
              <a:ext uri="{FF2B5EF4-FFF2-40B4-BE49-F238E27FC236}">
                <a16:creationId xmlns:a16="http://schemas.microsoft.com/office/drawing/2014/main" id="{E8183E6D-C61B-4A28-867F-F9FECB7B679C}"/>
              </a:ext>
            </a:extLst>
          </p:cNvPr>
          <p:cNvSpPr>
            <a:spLocks noGrp="1"/>
          </p:cNvSpPr>
          <p:nvPr/>
        </p:nvSpPr>
        <p:spPr>
          <a:xfrm>
            <a:off x="628650" y="4648200"/>
            <a:ext cx="8477250" cy="1019175"/>
          </a:xfrm>
          <a:prstGeom prst="rect">
            <a:avLst/>
          </a:prstGeom>
          <a:noFill/>
          <a:ln w="0">
            <a:noFill/>
          </a:ln>
        </p:spPr>
        <p:txBody>
          <a:bodyPr wrap="square" lIns="0" tIns="0" rIns="0" bIns="0">
            <a:noAutofit/>
          </a:bodyPr>
          <a:lstStyle/>
          <a:p>
            <a:pPr>
              <a:defRPr sz="2850" b="0">
                <a:solidFill>
                  <a:srgbClr val="D2F85A"/>
                </a:solidFill>
                <a:latin typeface="Avenir Next"/>
                <a:ea typeface="Avenir Next"/>
                <a:cs typeface="Avenir Next"/>
              </a:defRPr>
            </a:pPr>
            <a:r>
              <a:rPr sz="2850" b="0">
                <a:solidFill>
                  <a:srgbClr val="D2F85A"/>
                </a:solidFill>
                <a:latin typeface="Avenir Next"/>
                <a:ea typeface="Avenir Next"/>
                <a:cs typeface="Avenir Next"/>
              </a:rPr>
              <a:t>And how would you know it works?</a:t>
            </a:r>
          </a:p>
        </p:txBody>
      </p:sp>
      <p:sp>
        <p:nvSpPr>
          <p:cNvPr id="6" name="github.com/Ducksss">
            <a:extLst>
              <a:ext uri="{FF2B5EF4-FFF2-40B4-BE49-F238E27FC236}">
                <a16:creationId xmlns:a16="http://schemas.microsoft.com/office/drawing/2014/main" id="{131301E6-ADC4-4169-A7E7-15EAC0D4BF6A}"/>
              </a:ext>
            </a:extLst>
          </p:cNvPr>
          <p:cNvSpPr>
            <a:spLocks noGrp="1"/>
          </p:cNvSpPr>
          <p:nvPr/>
        </p:nvSpPr>
        <p:spPr>
          <a:xfrm>
            <a:off x="628650" y="5886450"/>
            <a:ext cx="5810250" cy="352425"/>
          </a:xfrm>
          <a:prstGeom prst="rect">
            <a:avLst/>
          </a:prstGeom>
          <a:noFill/>
          <a:ln w="0">
            <a:noFill/>
          </a:ln>
        </p:spPr>
        <p:txBody>
          <a:bodyPr wrap="square" lIns="0" tIns="0" rIns="0" bIns="0">
            <a:noAutofit/>
          </a:bodyPr>
          <a:lstStyle/>
          <a:p>
            <a:pPr>
              <a:defRPr sz="1875" b="0">
                <a:solidFill>
                  <a:srgbClr val="F3F1E9"/>
                </a:solidFill>
                <a:latin typeface="JetBrains Mono"/>
                <a:ea typeface="JetBrains Mono"/>
                <a:cs typeface="JetBrains Mono"/>
              </a:defRPr>
            </a:pPr>
            <a:r>
              <a:rPr sz="1875" b="0">
                <a:solidFill>
                  <a:srgbClr val="F3F1E9"/>
                </a:solidFill>
                <a:latin typeface="JetBrains Mono"/>
                <a:ea typeface="JetBrains Mono"/>
                <a:cs typeface="JetBrains Mono"/>
                <a:hlinkClick r:id="rId4"/>
              </a:rPr>
              <a:t>github.com/Ducksss</a:t>
            </a:r>
          </a:p>
        </p:txBody>
      </p:sp>
    </p:spTree>
    <p:extLst>
      <p:ext uri="{BB962C8B-B14F-4D97-AF65-F5344CB8AC3E}">
        <p14:creationId xmlns:p14="http://schemas.microsoft.com/office/powerpoint/2010/main" val="117525944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3161</Words>
  <Application>Microsoft Macintosh PowerPoint</Application>
  <DocSecurity>0</DocSecurity>
  <PresentationFormat>Widescreen</PresentationFormat>
  <Paragraphs>377</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Avenir Next</vt:lpstr>
      <vt:lpstr>Calibri</vt:lpstr>
      <vt:lpstr>JetBrains Mono</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Chai Pin Zheng</cp:lastModifiedBy>
  <cp:revision>1</cp:revision>
  <dcterms:created xsi:type="dcterms:W3CDTF">2026-09-12T17:32:44Z</dcterms:created>
  <dcterms:modified xsi:type="dcterms:W3CDTF">2026-09-12T18:22:02Z</dcterms:modified>
</cp:coreProperties>
</file>